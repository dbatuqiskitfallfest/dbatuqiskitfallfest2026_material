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322" r:id="rId17"/>
    <p:sldId id="323" r:id="rId18"/>
    <p:sldId id="324" r:id="rId19"/>
    <p:sldId id="325" r:id="rId20"/>
    <p:sldId id="326" r:id="rId21"/>
    <p:sldId id="271" r:id="rId22"/>
    <p:sldId id="310" r:id="rId23"/>
    <p:sldId id="311" r:id="rId24"/>
    <p:sldId id="312" r:id="rId25"/>
    <p:sldId id="313" r:id="rId26"/>
    <p:sldId id="314" r:id="rId27"/>
    <p:sldId id="316" r:id="rId28"/>
    <p:sldId id="318" r:id="rId29"/>
    <p:sldId id="315" r:id="rId30"/>
    <p:sldId id="319" r:id="rId31"/>
    <p:sldId id="320" r:id="rId32"/>
    <p:sldId id="321" r:id="rId33"/>
    <p:sldId id="279" r:id="rId34"/>
    <p:sldId id="301" r:id="rId35"/>
    <p:sldId id="335" r:id="rId36"/>
    <p:sldId id="336" r:id="rId37"/>
    <p:sldId id="337" r:id="rId38"/>
    <p:sldId id="338" r:id="rId39"/>
    <p:sldId id="340" r:id="rId40"/>
    <p:sldId id="341" r:id="rId41"/>
    <p:sldId id="339" r:id="rId42"/>
    <p:sldId id="32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B6174-E4D9-455C-BDE6-19846BB31CA3}" type="datetimeFigureOut">
              <a:rPr lang="en-IN" smtClean="0"/>
              <a:t>27-10-2026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52BDA1-45DD-43BF-B9F1-1E17CCE84E8A}" type="slidenum">
              <a:rPr lang="en-IN" smtClean="0"/>
              <a:t>‹#›</a:t>
            </a:fld>
            <a:endParaRPr lang="en-IN"/>
          </a:p>
        </p:txBody>
      </p:sp>
    </p:spTree>
    <p:extLst>
      <p:ext uri="{BB962C8B-B14F-4D97-AF65-F5344CB8AC3E}">
        <p14:creationId xmlns:p14="http://schemas.microsoft.com/office/powerpoint/2010/main" val="9028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52BDA1-45DD-43BF-B9F1-1E17CCE84E8A}" type="slidenum">
              <a:rPr lang="en-IN" smtClean="0"/>
              <a:t>1</a:t>
            </a:fld>
            <a:endParaRPr lang="en-IN"/>
          </a:p>
        </p:txBody>
      </p:sp>
    </p:spTree>
    <p:extLst>
      <p:ext uri="{BB962C8B-B14F-4D97-AF65-F5344CB8AC3E}">
        <p14:creationId xmlns:p14="http://schemas.microsoft.com/office/powerpoint/2010/main" val="1203063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EF33D-2051-2038-08B1-B25BF6F2E1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9673C2-54C1-7280-FDED-D79063E7C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04E0C6-B1DB-1C9D-3595-EF52AB10B3FE}"/>
              </a:ext>
            </a:extLst>
          </p:cNvPr>
          <p:cNvSpPr>
            <a:spLocks noGrp="1"/>
          </p:cNvSpPr>
          <p:nvPr>
            <p:ph type="dt" sz="half" idx="10"/>
          </p:nvPr>
        </p:nvSpPr>
        <p:spPr/>
        <p:txBody>
          <a:bodyPr/>
          <a:lstStyle/>
          <a:p>
            <a:fld id="{6329BD53-B0BC-4A74-BBBC-D4AD582041DA}" type="datetime1">
              <a:rPr lang="en-IN" smtClean="0"/>
              <a:t>27-10-2026</a:t>
            </a:fld>
            <a:endParaRPr lang="en-IN"/>
          </a:p>
        </p:txBody>
      </p:sp>
      <p:sp>
        <p:nvSpPr>
          <p:cNvPr id="5" name="Footer Placeholder 4">
            <a:extLst>
              <a:ext uri="{FF2B5EF4-FFF2-40B4-BE49-F238E27FC236}">
                <a16:creationId xmlns:a16="http://schemas.microsoft.com/office/drawing/2014/main" id="{EF24331B-C4A4-4E34-DC28-76E66AA74F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AB8E25-5A02-5E23-F1E5-3FB86581B8C2}"/>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3867698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5E047-1620-8D6F-F8CD-8D2B8AB8EF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DEAC3F-1137-7CCA-BEAB-153593B78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1E68C3-566F-E0DD-7ED3-A559BFFA6A79}"/>
              </a:ext>
            </a:extLst>
          </p:cNvPr>
          <p:cNvSpPr>
            <a:spLocks noGrp="1"/>
          </p:cNvSpPr>
          <p:nvPr>
            <p:ph type="dt" sz="half" idx="10"/>
          </p:nvPr>
        </p:nvSpPr>
        <p:spPr/>
        <p:txBody>
          <a:bodyPr/>
          <a:lstStyle/>
          <a:p>
            <a:fld id="{D483FBC6-53EE-4DE5-A33F-3BD918AF4038}" type="datetime1">
              <a:rPr lang="en-IN" smtClean="0"/>
              <a:t>27-10-2026</a:t>
            </a:fld>
            <a:endParaRPr lang="en-IN"/>
          </a:p>
        </p:txBody>
      </p:sp>
      <p:sp>
        <p:nvSpPr>
          <p:cNvPr id="5" name="Footer Placeholder 4">
            <a:extLst>
              <a:ext uri="{FF2B5EF4-FFF2-40B4-BE49-F238E27FC236}">
                <a16:creationId xmlns:a16="http://schemas.microsoft.com/office/drawing/2014/main" id="{0E8A85F0-5DB7-05F0-8E17-7AF38A651B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5C314E-03C5-7D79-2AE2-0B90E666BBD0}"/>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2257212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76B6F-2747-E06F-867F-D89E775133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522974-D0E4-E9FC-F9C1-E9AC355AAB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62123C-52F3-8913-BC28-6DC899CCDAF6}"/>
              </a:ext>
            </a:extLst>
          </p:cNvPr>
          <p:cNvSpPr>
            <a:spLocks noGrp="1"/>
          </p:cNvSpPr>
          <p:nvPr>
            <p:ph type="dt" sz="half" idx="10"/>
          </p:nvPr>
        </p:nvSpPr>
        <p:spPr/>
        <p:txBody>
          <a:bodyPr/>
          <a:lstStyle/>
          <a:p>
            <a:fld id="{4895CB76-22E5-4CAD-9E37-93C43595ED49}" type="datetime1">
              <a:rPr lang="en-IN" smtClean="0"/>
              <a:t>27-10-2026</a:t>
            </a:fld>
            <a:endParaRPr lang="en-IN"/>
          </a:p>
        </p:txBody>
      </p:sp>
      <p:sp>
        <p:nvSpPr>
          <p:cNvPr id="5" name="Footer Placeholder 4">
            <a:extLst>
              <a:ext uri="{FF2B5EF4-FFF2-40B4-BE49-F238E27FC236}">
                <a16:creationId xmlns:a16="http://schemas.microsoft.com/office/drawing/2014/main" id="{4A87A70A-604F-548B-99D9-BA385640A5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DA6144-4A5D-CEC1-4956-A52C59856CD2}"/>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4018388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13A7-1F5E-0997-CA55-D00CCA8D31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70D0D0-36A9-74FC-5CD9-75D625590D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A8E7D3-52BC-8DA8-8B4E-769125B810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0C97E7B-6C10-06B0-3515-FB813E9CB826}"/>
              </a:ext>
            </a:extLst>
          </p:cNvPr>
          <p:cNvSpPr>
            <a:spLocks noGrp="1"/>
          </p:cNvSpPr>
          <p:nvPr>
            <p:ph type="dt" sz="half" idx="10"/>
          </p:nvPr>
        </p:nvSpPr>
        <p:spPr/>
        <p:txBody>
          <a:bodyPr/>
          <a:lstStyle/>
          <a:p>
            <a:fld id="{83BE781B-A73C-48A9-9CD6-72893B2A031C}" type="datetime1">
              <a:rPr lang="en-IN" smtClean="0"/>
              <a:t>27-10-2026</a:t>
            </a:fld>
            <a:endParaRPr lang="en-IN"/>
          </a:p>
        </p:txBody>
      </p:sp>
      <p:sp>
        <p:nvSpPr>
          <p:cNvPr id="6" name="Footer Placeholder 5">
            <a:extLst>
              <a:ext uri="{FF2B5EF4-FFF2-40B4-BE49-F238E27FC236}">
                <a16:creationId xmlns:a16="http://schemas.microsoft.com/office/drawing/2014/main" id="{A63F36AC-E326-0125-9B2A-40AF2B3DDF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756BD0-32F0-4E78-2CFC-2C166F8590D1}"/>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3213042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3429-E086-BF8A-76A9-6EB31F40478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10D0E7-1F76-4EA6-8471-623950D067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80726C-EE11-D4B8-703E-0B2901DB0D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D7D649-AD94-8B36-3CEE-7BBE0E1F78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7F6373-0D1C-BED4-B286-EA0E64F911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BA620D-5A5C-9B8E-EC5A-63766089643F}"/>
              </a:ext>
            </a:extLst>
          </p:cNvPr>
          <p:cNvSpPr>
            <a:spLocks noGrp="1"/>
          </p:cNvSpPr>
          <p:nvPr>
            <p:ph type="dt" sz="half" idx="10"/>
          </p:nvPr>
        </p:nvSpPr>
        <p:spPr/>
        <p:txBody>
          <a:bodyPr/>
          <a:lstStyle/>
          <a:p>
            <a:fld id="{89425E1D-449B-454D-B5D4-E1F1CF7424DD}" type="datetime1">
              <a:rPr lang="en-IN" smtClean="0"/>
              <a:t>27-10-2026</a:t>
            </a:fld>
            <a:endParaRPr lang="en-IN"/>
          </a:p>
        </p:txBody>
      </p:sp>
      <p:sp>
        <p:nvSpPr>
          <p:cNvPr id="8" name="Footer Placeholder 7">
            <a:extLst>
              <a:ext uri="{FF2B5EF4-FFF2-40B4-BE49-F238E27FC236}">
                <a16:creationId xmlns:a16="http://schemas.microsoft.com/office/drawing/2014/main" id="{9F9D934D-BBEB-1498-4FE1-D626215B22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515A0B-FE78-3FFF-60FD-174A70ADEA48}"/>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191976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BD5AD-75E3-5450-6C8A-AAABB1C23A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31CC2-FCD7-57C4-20F2-20DEC0ED266E}"/>
              </a:ext>
            </a:extLst>
          </p:cNvPr>
          <p:cNvSpPr>
            <a:spLocks noGrp="1"/>
          </p:cNvSpPr>
          <p:nvPr>
            <p:ph type="dt" sz="half" idx="10"/>
          </p:nvPr>
        </p:nvSpPr>
        <p:spPr/>
        <p:txBody>
          <a:bodyPr/>
          <a:lstStyle/>
          <a:p>
            <a:fld id="{DDB766AC-42D7-4FCE-8C24-0E54C4DB511E}" type="datetime1">
              <a:rPr lang="en-IN" smtClean="0"/>
              <a:t>27-10-2026</a:t>
            </a:fld>
            <a:endParaRPr lang="en-IN"/>
          </a:p>
        </p:txBody>
      </p:sp>
      <p:sp>
        <p:nvSpPr>
          <p:cNvPr id="4" name="Footer Placeholder 3">
            <a:extLst>
              <a:ext uri="{FF2B5EF4-FFF2-40B4-BE49-F238E27FC236}">
                <a16:creationId xmlns:a16="http://schemas.microsoft.com/office/drawing/2014/main" id="{9F67DBE5-ACCF-73BC-884E-DD99C83D6E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80DC5C-84A2-A866-8267-AB51D71AC080}"/>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639551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843DF5-BE3B-11AE-828B-0461D9F1442F}"/>
              </a:ext>
            </a:extLst>
          </p:cNvPr>
          <p:cNvSpPr>
            <a:spLocks noGrp="1"/>
          </p:cNvSpPr>
          <p:nvPr>
            <p:ph type="dt" sz="half" idx="10"/>
          </p:nvPr>
        </p:nvSpPr>
        <p:spPr/>
        <p:txBody>
          <a:bodyPr/>
          <a:lstStyle/>
          <a:p>
            <a:fld id="{7905FE96-38AE-445D-8AE5-6A4BDC16F196}" type="datetime1">
              <a:rPr lang="en-IN" smtClean="0"/>
              <a:t>27-10-2026</a:t>
            </a:fld>
            <a:endParaRPr lang="en-IN"/>
          </a:p>
        </p:txBody>
      </p:sp>
      <p:sp>
        <p:nvSpPr>
          <p:cNvPr id="3" name="Footer Placeholder 2">
            <a:extLst>
              <a:ext uri="{FF2B5EF4-FFF2-40B4-BE49-F238E27FC236}">
                <a16:creationId xmlns:a16="http://schemas.microsoft.com/office/drawing/2014/main" id="{B8F012D8-FCAA-4853-7557-77AE46D81A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3D6D91A-1391-F4D3-2F50-8FF2688C5766}"/>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12746951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ABA9F-5562-3176-0C0E-1F8E92D890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4DFE04-C019-FE7D-E0FB-15130D4DC0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EC2BCD-54EC-6521-5440-364560968D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60F37-C791-99F4-58B4-4B3278C6CE6C}"/>
              </a:ext>
            </a:extLst>
          </p:cNvPr>
          <p:cNvSpPr>
            <a:spLocks noGrp="1"/>
          </p:cNvSpPr>
          <p:nvPr>
            <p:ph type="dt" sz="half" idx="10"/>
          </p:nvPr>
        </p:nvSpPr>
        <p:spPr/>
        <p:txBody>
          <a:bodyPr/>
          <a:lstStyle/>
          <a:p>
            <a:fld id="{7631A8B8-3C1D-4D00-99B1-0AC5662F34DD}" type="datetime1">
              <a:rPr lang="en-IN" smtClean="0"/>
              <a:t>27-10-2026</a:t>
            </a:fld>
            <a:endParaRPr lang="en-IN"/>
          </a:p>
        </p:txBody>
      </p:sp>
      <p:sp>
        <p:nvSpPr>
          <p:cNvPr id="6" name="Footer Placeholder 5">
            <a:extLst>
              <a:ext uri="{FF2B5EF4-FFF2-40B4-BE49-F238E27FC236}">
                <a16:creationId xmlns:a16="http://schemas.microsoft.com/office/drawing/2014/main" id="{0FAAF7FA-1016-A915-44EE-6618385932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EAE53A-A3A4-C845-15FB-B68B51451DD1}"/>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39671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5B49F-182A-E950-C7CF-EB67C4F6CD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E85E8A-A1EE-7A2E-127D-8732AD98B35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92CA72-B330-20A8-F67D-0760B0B1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8201FD-C335-9F90-68CE-BCB3BA04DFE0}"/>
              </a:ext>
            </a:extLst>
          </p:cNvPr>
          <p:cNvSpPr>
            <a:spLocks noGrp="1"/>
          </p:cNvSpPr>
          <p:nvPr>
            <p:ph type="dt" sz="half" idx="10"/>
          </p:nvPr>
        </p:nvSpPr>
        <p:spPr/>
        <p:txBody>
          <a:bodyPr/>
          <a:lstStyle/>
          <a:p>
            <a:fld id="{6D02574D-1E3D-4322-BDB2-FC519DCA5E28}" type="datetime1">
              <a:rPr lang="en-IN" smtClean="0"/>
              <a:t>27-10-2026</a:t>
            </a:fld>
            <a:endParaRPr lang="en-IN"/>
          </a:p>
        </p:txBody>
      </p:sp>
      <p:sp>
        <p:nvSpPr>
          <p:cNvPr id="6" name="Footer Placeholder 5">
            <a:extLst>
              <a:ext uri="{FF2B5EF4-FFF2-40B4-BE49-F238E27FC236}">
                <a16:creationId xmlns:a16="http://schemas.microsoft.com/office/drawing/2014/main" id="{4FFD4D15-49DC-EB13-2AEB-2420F12195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583733-CF8B-5E40-A96E-43291E4AA173}"/>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474436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0A7B-1AE2-C1BA-0FAF-EE1EC678AE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6A3714-CF9E-9420-8413-86A54DD51C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9E5BCE-C7BF-BA4D-C2C1-26471033F0AF}"/>
              </a:ext>
            </a:extLst>
          </p:cNvPr>
          <p:cNvSpPr>
            <a:spLocks noGrp="1"/>
          </p:cNvSpPr>
          <p:nvPr>
            <p:ph type="dt" sz="half" idx="10"/>
          </p:nvPr>
        </p:nvSpPr>
        <p:spPr/>
        <p:txBody>
          <a:bodyPr/>
          <a:lstStyle/>
          <a:p>
            <a:fld id="{2B6240A7-3286-4B24-9D43-79643AB68117}" type="datetime1">
              <a:rPr lang="en-IN" smtClean="0"/>
              <a:t>27-10-2026</a:t>
            </a:fld>
            <a:endParaRPr lang="en-IN"/>
          </a:p>
        </p:txBody>
      </p:sp>
      <p:sp>
        <p:nvSpPr>
          <p:cNvPr id="5" name="Footer Placeholder 4">
            <a:extLst>
              <a:ext uri="{FF2B5EF4-FFF2-40B4-BE49-F238E27FC236}">
                <a16:creationId xmlns:a16="http://schemas.microsoft.com/office/drawing/2014/main" id="{2651E4E2-D19F-3948-E15E-8D42FED630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C564B2-A3A3-17A6-A47B-2A318B711185}"/>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1131849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D1E3AB-30E1-94C1-3EA8-EFD2E28975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E614E5-33FD-93D2-042A-F45727C362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D38686-467D-573C-CD22-F6D862E7FB5C}"/>
              </a:ext>
            </a:extLst>
          </p:cNvPr>
          <p:cNvSpPr>
            <a:spLocks noGrp="1"/>
          </p:cNvSpPr>
          <p:nvPr>
            <p:ph type="dt" sz="half" idx="10"/>
          </p:nvPr>
        </p:nvSpPr>
        <p:spPr/>
        <p:txBody>
          <a:bodyPr/>
          <a:lstStyle/>
          <a:p>
            <a:fld id="{BFABF84E-5ED6-47CF-9424-0932C85BB9DE}" type="datetime1">
              <a:rPr lang="en-IN" smtClean="0"/>
              <a:t>27-10-2026</a:t>
            </a:fld>
            <a:endParaRPr lang="en-IN"/>
          </a:p>
        </p:txBody>
      </p:sp>
      <p:sp>
        <p:nvSpPr>
          <p:cNvPr id="5" name="Footer Placeholder 4">
            <a:extLst>
              <a:ext uri="{FF2B5EF4-FFF2-40B4-BE49-F238E27FC236}">
                <a16:creationId xmlns:a16="http://schemas.microsoft.com/office/drawing/2014/main" id="{1E2F2EC6-29F2-8BFF-65B1-DDC166A220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5FF6D5-0D78-E154-091D-FD479200B63B}"/>
              </a:ext>
            </a:extLst>
          </p:cNvPr>
          <p:cNvSpPr>
            <a:spLocks noGrp="1"/>
          </p:cNvSpPr>
          <p:nvPr>
            <p:ph type="sldNum" sz="quarter" idx="12"/>
          </p:nvPr>
        </p:nvSpPr>
        <p:spPr/>
        <p:txBody>
          <a:bodyPr/>
          <a:lstStyle/>
          <a:p>
            <a:fld id="{6B099C0A-8617-4058-9F88-1F31CC4D8927}" type="slidenum">
              <a:rPr lang="en-IN" smtClean="0"/>
              <a:t>‹#›</a:t>
            </a:fld>
            <a:endParaRPr lang="en-IN"/>
          </a:p>
        </p:txBody>
      </p:sp>
    </p:spTree>
    <p:extLst>
      <p:ext uri="{BB962C8B-B14F-4D97-AF65-F5344CB8AC3E}">
        <p14:creationId xmlns:p14="http://schemas.microsoft.com/office/powerpoint/2010/main" val="3551438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977168-0CBB-163B-9A6A-5CC30A84EE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3E8CA1-E0DA-78F8-AC2B-C23129B74E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03D4D9-6CF9-BC4B-A7A0-DED53BD95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6091F5-FDCC-425E-A637-29A3BBE8AFF8}" type="datetime1">
              <a:rPr lang="en-IN" smtClean="0"/>
              <a:t>27-10-2026</a:t>
            </a:fld>
            <a:endParaRPr lang="en-IN"/>
          </a:p>
        </p:txBody>
      </p:sp>
      <p:sp>
        <p:nvSpPr>
          <p:cNvPr id="5" name="Footer Placeholder 4">
            <a:extLst>
              <a:ext uri="{FF2B5EF4-FFF2-40B4-BE49-F238E27FC236}">
                <a16:creationId xmlns:a16="http://schemas.microsoft.com/office/drawing/2014/main" id="{6BEE2304-B2B3-C5D6-9CB0-D4A26803A7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454EC6D-B912-D131-D43D-BC4A0342E2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099C0A-8617-4058-9F88-1F31CC4D8927}" type="slidenum">
              <a:rPr lang="en-IN" smtClean="0"/>
              <a:t>‹#›</a:t>
            </a:fld>
            <a:endParaRPr lang="en-IN"/>
          </a:p>
        </p:txBody>
      </p:sp>
    </p:spTree>
    <p:extLst>
      <p:ext uri="{BB962C8B-B14F-4D97-AF65-F5344CB8AC3E}">
        <p14:creationId xmlns:p14="http://schemas.microsoft.com/office/powerpoint/2010/main" val="1761373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javafxpert.github.io/grok-bloch/"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colab.research.google.com/drive/1u1p3OwKsPK--h1LVLyMOxHO__57EnQF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www.st-andrews.ac.uk/physics/quvis/"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3DB73-A1AA-207E-0EA2-6379FCC31CFE}"/>
              </a:ext>
            </a:extLst>
          </p:cNvPr>
          <p:cNvSpPr>
            <a:spLocks noGrp="1"/>
          </p:cNvSpPr>
          <p:nvPr>
            <p:ph type="ctrTitle"/>
          </p:nvPr>
        </p:nvSpPr>
        <p:spPr>
          <a:xfrm>
            <a:off x="305390" y="163869"/>
            <a:ext cx="6730677" cy="2387600"/>
          </a:xfrm>
        </p:spPr>
        <p:txBody>
          <a:bodyPr>
            <a:normAutofit/>
          </a:bodyPr>
          <a:lstStyle/>
          <a:p>
            <a:pPr algn="l"/>
            <a:r>
              <a:rPr lang="en-US" dirty="0"/>
              <a:t>Quantum Legos – </a:t>
            </a:r>
            <a:br>
              <a:rPr lang="en-US" dirty="0"/>
            </a:br>
            <a:r>
              <a:rPr lang="en-US" dirty="0"/>
              <a:t>Bits to Teleportation</a:t>
            </a:r>
            <a:endParaRPr lang="en-IN" dirty="0"/>
          </a:p>
        </p:txBody>
      </p:sp>
      <p:sp>
        <p:nvSpPr>
          <p:cNvPr id="3" name="Subtitle 2">
            <a:extLst>
              <a:ext uri="{FF2B5EF4-FFF2-40B4-BE49-F238E27FC236}">
                <a16:creationId xmlns:a16="http://schemas.microsoft.com/office/drawing/2014/main" id="{E72A21A2-11B5-06DD-1255-FE6F7F34D4E8}"/>
              </a:ext>
            </a:extLst>
          </p:cNvPr>
          <p:cNvSpPr>
            <a:spLocks noGrp="1"/>
          </p:cNvSpPr>
          <p:nvPr>
            <p:ph type="subTitle" idx="1"/>
          </p:nvPr>
        </p:nvSpPr>
        <p:spPr>
          <a:xfrm>
            <a:off x="366631" y="2692349"/>
            <a:ext cx="6886739" cy="1655762"/>
          </a:xfrm>
        </p:spPr>
        <p:txBody>
          <a:bodyPr>
            <a:normAutofit fontScale="85000" lnSpcReduction="20000"/>
          </a:bodyPr>
          <a:lstStyle/>
          <a:p>
            <a:pPr algn="l"/>
            <a:r>
              <a:rPr lang="en-US" dirty="0"/>
              <a:t>Bhavna Bose</a:t>
            </a:r>
          </a:p>
          <a:p>
            <a:pPr algn="l"/>
            <a:r>
              <a:rPr lang="en-US" dirty="0"/>
              <a:t>Assistant Professor,</a:t>
            </a:r>
          </a:p>
          <a:p>
            <a:pPr algn="l"/>
            <a:r>
              <a:rPr lang="en-US" dirty="0"/>
              <a:t>SVKM’s NMIMS Mukesh Patel School of Technology Management and Engineering</a:t>
            </a:r>
          </a:p>
          <a:p>
            <a:pPr algn="l"/>
            <a:r>
              <a:rPr lang="en-US" dirty="0"/>
              <a:t>Tier 2 </a:t>
            </a:r>
            <a:r>
              <a:rPr lang="en-US" dirty="0" err="1"/>
              <a:t>Qiskit</a:t>
            </a:r>
            <a:r>
              <a:rPr lang="en-US" dirty="0"/>
              <a:t> Advocate, Certified </a:t>
            </a:r>
            <a:r>
              <a:rPr lang="en-US" dirty="0" err="1"/>
              <a:t>Quniverse</a:t>
            </a:r>
            <a:r>
              <a:rPr lang="en-US" dirty="0"/>
              <a:t> developer</a:t>
            </a:r>
            <a:endParaRPr lang="en-IN" dirty="0"/>
          </a:p>
        </p:txBody>
      </p:sp>
      <p:pic>
        <p:nvPicPr>
          <p:cNvPr id="18" name="Picture 17">
            <a:extLst>
              <a:ext uri="{FF2B5EF4-FFF2-40B4-BE49-F238E27FC236}">
                <a16:creationId xmlns:a16="http://schemas.microsoft.com/office/drawing/2014/main" id="{64F12824-020D-7725-40F7-CD9DF3CE2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631" y="4488991"/>
            <a:ext cx="1945965" cy="1945965"/>
          </a:xfrm>
          <a:prstGeom prst="rect">
            <a:avLst/>
          </a:prstGeom>
        </p:spPr>
      </p:pic>
      <p:pic>
        <p:nvPicPr>
          <p:cNvPr id="41" name="Picture 40">
            <a:extLst>
              <a:ext uri="{FF2B5EF4-FFF2-40B4-BE49-F238E27FC236}">
                <a16:creationId xmlns:a16="http://schemas.microsoft.com/office/drawing/2014/main" id="{477AF96B-9652-31B1-9FE5-16A0C98F309C}"/>
              </a:ext>
            </a:extLst>
          </p:cNvPr>
          <p:cNvPicPr>
            <a:picLocks noChangeAspect="1"/>
          </p:cNvPicPr>
          <p:nvPr/>
        </p:nvPicPr>
        <p:blipFill>
          <a:blip r:embed="rId4"/>
          <a:stretch>
            <a:fillRect/>
          </a:stretch>
        </p:blipFill>
        <p:spPr>
          <a:xfrm>
            <a:off x="7092803" y="1104401"/>
            <a:ext cx="4860149" cy="5342796"/>
          </a:xfrm>
          <a:prstGeom prst="rect">
            <a:avLst/>
          </a:prstGeom>
        </p:spPr>
      </p:pic>
      <p:pic>
        <p:nvPicPr>
          <p:cNvPr id="5" name="Picture 4">
            <a:extLst>
              <a:ext uri="{FF2B5EF4-FFF2-40B4-BE49-F238E27FC236}">
                <a16:creationId xmlns:a16="http://schemas.microsoft.com/office/drawing/2014/main" id="{DD0E77B1-B418-7DEA-1F67-7A8ED791AA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8654" y="163869"/>
            <a:ext cx="3810000" cy="666750"/>
          </a:xfrm>
          <a:prstGeom prst="rect">
            <a:avLst/>
          </a:prstGeom>
        </p:spPr>
      </p:pic>
      <p:pic>
        <p:nvPicPr>
          <p:cNvPr id="7" name="Graphic 6">
            <a:extLst>
              <a:ext uri="{FF2B5EF4-FFF2-40B4-BE49-F238E27FC236}">
                <a16:creationId xmlns:a16="http://schemas.microsoft.com/office/drawing/2014/main" id="{9C51A6B9-EBBF-B342-A094-7957FC26869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72497" y="4488991"/>
            <a:ext cx="1865491" cy="1865491"/>
          </a:xfrm>
          <a:prstGeom prst="rect">
            <a:avLst/>
          </a:prstGeom>
        </p:spPr>
      </p:pic>
    </p:spTree>
    <p:extLst>
      <p:ext uri="{BB962C8B-B14F-4D97-AF65-F5344CB8AC3E}">
        <p14:creationId xmlns:p14="http://schemas.microsoft.com/office/powerpoint/2010/main" val="1335551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FA0BC6F-D58A-F7A8-6DEF-B368A597A90D}"/>
              </a:ext>
            </a:extLst>
          </p:cNvPr>
          <p:cNvSpPr txBox="1">
            <a:spLocks/>
          </p:cNvSpPr>
          <p:nvPr/>
        </p:nvSpPr>
        <p:spPr>
          <a:xfrm>
            <a:off x="287999" y="288036"/>
            <a:ext cx="6617626" cy="9532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Classical vs quantum bits</a:t>
            </a:r>
          </a:p>
        </p:txBody>
      </p:sp>
      <p:sp>
        <p:nvSpPr>
          <p:cNvPr id="12" name="Text Placeholder 2">
            <a:extLst>
              <a:ext uri="{FF2B5EF4-FFF2-40B4-BE49-F238E27FC236}">
                <a16:creationId xmlns:a16="http://schemas.microsoft.com/office/drawing/2014/main" id="{08353B5C-7C5C-921C-1325-8645827EDB40}"/>
              </a:ext>
            </a:extLst>
          </p:cNvPr>
          <p:cNvSpPr txBox="1">
            <a:spLocks/>
          </p:cNvSpPr>
          <p:nvPr/>
        </p:nvSpPr>
        <p:spPr>
          <a:xfrm>
            <a:off x="381517" y="1326832"/>
            <a:ext cx="5049180" cy="2875288"/>
          </a:xfrm>
          <a:prstGeom prst="rect">
            <a:avLst/>
          </a:prstGeom>
        </p:spPr>
        <p:txBody>
          <a:bodyPr vert="horz" lIns="91440" tIns="45720" rIns="91440" bIns="45720" rtlCol="0" anchor="ctr">
            <a:normAutofit fontScale="92500" lnSpcReduction="10000"/>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en-US" sz="2400" b="1" dirty="0"/>
              <a:t>Classical bit (bit)</a:t>
            </a:r>
          </a:p>
          <a:p>
            <a:pPr fontAlgn="base"/>
            <a:endParaRPr lang="en-US" sz="2400" dirty="0"/>
          </a:p>
          <a:p>
            <a:pPr fontAlgn="base"/>
            <a:r>
              <a:rPr lang="en-US" sz="2400" dirty="0"/>
              <a:t>Only two possible states​</a:t>
            </a:r>
          </a:p>
          <a:p>
            <a:pPr fontAlgn="base"/>
            <a:r>
              <a:rPr lang="en-US" sz="2400" dirty="0"/>
              <a:t>​</a:t>
            </a:r>
          </a:p>
          <a:p>
            <a:pPr fontAlgn="base"/>
            <a:r>
              <a:rPr lang="en-US" sz="2400" dirty="0"/>
              <a:t>0 and 1​</a:t>
            </a:r>
          </a:p>
          <a:p>
            <a:pPr fontAlgn="base"/>
            <a:r>
              <a:rPr lang="en-US" sz="2400" dirty="0"/>
              <a:t>​</a:t>
            </a:r>
          </a:p>
          <a:p>
            <a:pPr fontAlgn="base"/>
            <a:r>
              <a:rPr lang="en-US" sz="2400" dirty="0"/>
              <a:t>Like the two faces of a coin</a:t>
            </a:r>
          </a:p>
          <a:p>
            <a:pPr fontAlgn="base"/>
            <a:endParaRPr lang="en-US" sz="2400" dirty="0"/>
          </a:p>
          <a:p>
            <a:pPr fontAlgn="base"/>
            <a:r>
              <a:rPr lang="en-US" sz="2400" dirty="0"/>
              <a:t>Heads or tails</a:t>
            </a:r>
          </a:p>
          <a:p>
            <a:endParaRPr lang="en-US" sz="2400" dirty="0"/>
          </a:p>
        </p:txBody>
      </p:sp>
      <mc:AlternateContent xmlns:mc="http://schemas.openxmlformats.org/markup-compatibility/2006" xmlns:a14="http://schemas.microsoft.com/office/drawing/2010/main">
        <mc:Choice Requires="a14">
          <p:sp>
            <p:nvSpPr>
              <p:cNvPr id="13" name="Text Placeholder 3">
                <a:extLst>
                  <a:ext uri="{FF2B5EF4-FFF2-40B4-BE49-F238E27FC236}">
                    <a16:creationId xmlns:a16="http://schemas.microsoft.com/office/drawing/2014/main" id="{345CE4A0-92CE-D191-8A8E-B08AC59F2123}"/>
                  </a:ext>
                </a:extLst>
              </p:cNvPr>
              <p:cNvSpPr txBox="1">
                <a:spLocks/>
              </p:cNvSpPr>
              <p:nvPr/>
            </p:nvSpPr>
            <p:spPr>
              <a:xfrm>
                <a:off x="6380919" y="1177168"/>
                <a:ext cx="5047593" cy="2875287"/>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t>Quantum bit (qubit)</a:t>
                </a:r>
              </a:p>
              <a:p>
                <a:pPr algn="ctr"/>
                <a:endParaRPr lang="en-US" sz="2400" b="1" dirty="0"/>
              </a:p>
              <a:p>
                <a:pPr algn="ctr"/>
                <a14:m>
                  <m:oMath xmlns:m="http://schemas.openxmlformats.org/officeDocument/2006/math">
                    <m:d>
                      <m:dPr>
                        <m:begChr m:val=""/>
                        <m:endChr m:val="⟩"/>
                        <m:ctrlPr>
                          <a:rPr lang="en-AU" sz="2400" i="1">
                            <a:latin typeface="Cambria Math" panose="02040503050406030204" pitchFamily="18" charset="0"/>
                          </a:rPr>
                        </m:ctrlPr>
                      </m:dPr>
                      <m:e>
                        <m:d>
                          <m:dPr>
                            <m:begChr m:val="|"/>
                            <m:endChr m:val=""/>
                            <m:ctrlPr>
                              <a:rPr lang="en-AU" sz="2400">
                                <a:latin typeface="Cambria Math" panose="02040503050406030204" pitchFamily="18" charset="0"/>
                              </a:rPr>
                            </m:ctrlPr>
                          </m:dPr>
                          <m:e>
                            <m:r>
                              <a:rPr lang="en-AU" sz="2400">
                                <a:latin typeface="Cambria Math" panose="02040503050406030204" pitchFamily="18" charset="0"/>
                              </a:rPr>
                              <m:t>0</m:t>
                            </m:r>
                          </m:e>
                        </m:d>
                      </m:e>
                    </m:d>
                  </m:oMath>
                </a14:m>
                <a:r>
                  <a:rPr lang="en-US" sz="2400" dirty="0"/>
                  <a:t> or </a:t>
                </a:r>
                <a14:m>
                  <m:oMath xmlns:m="http://schemas.openxmlformats.org/officeDocument/2006/math">
                    <m:d>
                      <m:dPr>
                        <m:begChr m:val=""/>
                        <m:endChr m:val="⟩"/>
                        <m:ctrlPr>
                          <a:rPr lang="en-AU" sz="2400" i="1">
                            <a:latin typeface="Cambria Math" panose="02040503050406030204" pitchFamily="18" charset="0"/>
                          </a:rPr>
                        </m:ctrlPr>
                      </m:dPr>
                      <m:e>
                        <m:d>
                          <m:dPr>
                            <m:begChr m:val="|"/>
                            <m:endChr m:val=""/>
                            <m:ctrlPr>
                              <a:rPr lang="en-AU" sz="2400">
                                <a:latin typeface="Cambria Math" panose="02040503050406030204" pitchFamily="18" charset="0"/>
                              </a:rPr>
                            </m:ctrlPr>
                          </m:dPr>
                          <m:e>
                            <m:r>
                              <a:rPr lang="en-AU" sz="2400">
                                <a:latin typeface="Cambria Math" panose="02040503050406030204" pitchFamily="18" charset="0"/>
                              </a:rPr>
                              <m:t>1</m:t>
                            </m:r>
                          </m:e>
                        </m:d>
                      </m:e>
                    </m:d>
                  </m:oMath>
                </a14:m>
                <a:r>
                  <a:rPr lang="en-US" sz="2400" dirty="0"/>
                  <a:t> </a:t>
                </a:r>
              </a:p>
              <a:p>
                <a:pPr algn="ctr"/>
                <a:endParaRPr lang="en-US" sz="2400" dirty="0"/>
              </a:p>
              <a:p>
                <a:pPr algn="ctr"/>
                <a:r>
                  <a:rPr lang="en-US" sz="2400" dirty="0"/>
                  <a:t>AND any linear combination of the two</a:t>
                </a:r>
              </a:p>
              <a:p>
                <a:pPr algn="ctr"/>
                <a:endParaRPr lang="en-US" sz="2400" dirty="0"/>
              </a:p>
              <a:p>
                <a:pPr algn="ctr"/>
                <a:r>
                  <a:rPr lang="en-US" sz="2400" dirty="0"/>
                  <a:t>e.g. 50% </a:t>
                </a:r>
                <a14:m>
                  <m:oMath xmlns:m="http://schemas.openxmlformats.org/officeDocument/2006/math">
                    <m:d>
                      <m:dPr>
                        <m:begChr m:val=""/>
                        <m:endChr m:val="⟩"/>
                        <m:ctrlPr>
                          <a:rPr lang="en-AU" sz="2400" i="1">
                            <a:latin typeface="Cambria Math" panose="02040503050406030204" pitchFamily="18" charset="0"/>
                          </a:rPr>
                        </m:ctrlPr>
                      </m:dPr>
                      <m:e>
                        <m:d>
                          <m:dPr>
                            <m:begChr m:val="|"/>
                            <m:endChr m:val=""/>
                            <m:ctrlPr>
                              <a:rPr lang="en-AU" sz="2400">
                                <a:latin typeface="Cambria Math" panose="02040503050406030204" pitchFamily="18" charset="0"/>
                              </a:rPr>
                            </m:ctrlPr>
                          </m:dPr>
                          <m:e>
                            <m:r>
                              <a:rPr lang="en-AU" sz="2400">
                                <a:latin typeface="Cambria Math" panose="02040503050406030204" pitchFamily="18" charset="0"/>
                              </a:rPr>
                              <m:t>0</m:t>
                            </m:r>
                          </m:e>
                        </m:d>
                      </m:e>
                    </m:d>
                  </m:oMath>
                </a14:m>
                <a:r>
                  <a:rPr lang="en-US" sz="2400" dirty="0"/>
                  <a:t> &amp; 50% </a:t>
                </a:r>
                <a14:m>
                  <m:oMath xmlns:m="http://schemas.openxmlformats.org/officeDocument/2006/math">
                    <m:d>
                      <m:dPr>
                        <m:begChr m:val=""/>
                        <m:endChr m:val="⟩"/>
                        <m:ctrlPr>
                          <a:rPr lang="en-AU" sz="2400" i="1">
                            <a:latin typeface="Cambria Math" panose="02040503050406030204" pitchFamily="18" charset="0"/>
                          </a:rPr>
                        </m:ctrlPr>
                      </m:dPr>
                      <m:e>
                        <m:d>
                          <m:dPr>
                            <m:begChr m:val="|"/>
                            <m:endChr m:val=""/>
                            <m:ctrlPr>
                              <a:rPr lang="en-AU" sz="2400">
                                <a:latin typeface="Cambria Math" panose="02040503050406030204" pitchFamily="18" charset="0"/>
                              </a:rPr>
                            </m:ctrlPr>
                          </m:dPr>
                          <m:e>
                            <m:r>
                              <a:rPr lang="en-AU" sz="2400">
                                <a:latin typeface="Cambria Math" panose="02040503050406030204" pitchFamily="18" charset="0"/>
                              </a:rPr>
                              <m:t>1</m:t>
                            </m:r>
                          </m:e>
                        </m:d>
                      </m:e>
                    </m:d>
                  </m:oMath>
                </a14:m>
                <a:r>
                  <a:rPr lang="en-US" sz="2400" dirty="0"/>
                  <a:t> </a:t>
                </a:r>
              </a:p>
              <a:p>
                <a:pPr algn="ctr"/>
                <a:endParaRPr lang="en-US" sz="2400" dirty="0"/>
              </a:p>
              <a:p>
                <a:pPr algn="ctr"/>
                <a:endParaRPr lang="en-US" sz="2400" dirty="0"/>
              </a:p>
              <a:p>
                <a:pPr algn="ctr"/>
                <a:endParaRPr lang="en-US" sz="2400" dirty="0"/>
              </a:p>
            </p:txBody>
          </p:sp>
        </mc:Choice>
        <mc:Fallback xmlns="">
          <p:sp>
            <p:nvSpPr>
              <p:cNvPr id="13" name="Text Placeholder 3">
                <a:extLst>
                  <a:ext uri="{FF2B5EF4-FFF2-40B4-BE49-F238E27FC236}">
                    <a16:creationId xmlns:a16="http://schemas.microsoft.com/office/drawing/2014/main" id="{345CE4A0-92CE-D191-8A8E-B08AC59F2123}"/>
                  </a:ext>
                </a:extLst>
              </p:cNvPr>
              <p:cNvSpPr txBox="1">
                <a:spLocks noRot="1" noChangeAspect="1" noMove="1" noResize="1" noEditPoints="1" noAdjustHandles="1" noChangeArrowheads="1" noChangeShapeType="1" noTextEdit="1"/>
              </p:cNvSpPr>
              <p:nvPr/>
            </p:nvSpPr>
            <p:spPr>
              <a:xfrm>
                <a:off x="6380919" y="1177168"/>
                <a:ext cx="5047593" cy="2875287"/>
              </a:xfrm>
              <a:prstGeom prst="rect">
                <a:avLst/>
              </a:prstGeom>
              <a:blipFill>
                <a:blip r:embed="rId2"/>
                <a:stretch>
                  <a:fillRect l="-1449" t="-16949" r="-1329" b="-8475"/>
                </a:stretch>
              </a:blipFill>
            </p:spPr>
            <p:txBody>
              <a:bodyPr/>
              <a:lstStyle/>
              <a:p>
                <a:r>
                  <a:rPr lang="en-IN">
                    <a:noFill/>
                  </a:rPr>
                  <a:t> </a:t>
                </a:r>
              </a:p>
            </p:txBody>
          </p:sp>
        </mc:Fallback>
      </mc:AlternateContent>
      <p:pic>
        <p:nvPicPr>
          <p:cNvPr id="15" name="Picture 2" descr="A black and yellow circle&#10;&#10;Description automatically generated">
            <a:extLst>
              <a:ext uri="{FF2B5EF4-FFF2-40B4-BE49-F238E27FC236}">
                <a16:creationId xmlns:a16="http://schemas.microsoft.com/office/drawing/2014/main" id="{630F2BED-E5DD-480E-59EF-E892BEC4AA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0830" y="4589788"/>
            <a:ext cx="2923517" cy="102024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Bloch Sphere&#10;">
            <a:extLst>
              <a:ext uri="{FF2B5EF4-FFF2-40B4-BE49-F238E27FC236}">
                <a16:creationId xmlns:a16="http://schemas.microsoft.com/office/drawing/2014/main" id="{9446719C-266A-8E94-B6DB-944DECE220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9731" y="4202120"/>
            <a:ext cx="1748824" cy="1795584"/>
          </a:xfrm>
          <a:prstGeom prst="rect">
            <a:avLst/>
          </a:prstGeom>
          <a:noFill/>
          <a:extLst>
            <a:ext uri="{909E8E84-426E-40DD-AFC4-6F175D3DCCD1}">
              <a14:hiddenFill xmlns:a14="http://schemas.microsoft.com/office/drawing/2010/main">
                <a:solidFill>
                  <a:srgbClr val="FFFFFF"/>
                </a:solidFill>
              </a14:hiddenFill>
            </a:ext>
          </a:extLst>
        </p:spPr>
      </p:pic>
      <p:sp>
        <p:nvSpPr>
          <p:cNvPr id="17" name="Date Placeholder 16">
            <a:extLst>
              <a:ext uri="{FF2B5EF4-FFF2-40B4-BE49-F238E27FC236}">
                <a16:creationId xmlns:a16="http://schemas.microsoft.com/office/drawing/2014/main" id="{5055E99B-AB80-BA60-A318-AC43952AAF74}"/>
              </a:ext>
            </a:extLst>
          </p:cNvPr>
          <p:cNvSpPr>
            <a:spLocks noGrp="1"/>
          </p:cNvSpPr>
          <p:nvPr>
            <p:ph type="dt" sz="half" idx="10"/>
          </p:nvPr>
        </p:nvSpPr>
        <p:spPr/>
        <p:txBody>
          <a:bodyPr/>
          <a:lstStyle/>
          <a:p>
            <a:fld id="{09C4002E-3F1F-478D-A1EB-10551AEED08A}" type="datetime1">
              <a:rPr lang="en-IN" smtClean="0"/>
              <a:t>27-10-2026</a:t>
            </a:fld>
            <a:endParaRPr lang="en-IN"/>
          </a:p>
        </p:txBody>
      </p:sp>
      <p:sp>
        <p:nvSpPr>
          <p:cNvPr id="18" name="Slide Number Placeholder 17">
            <a:extLst>
              <a:ext uri="{FF2B5EF4-FFF2-40B4-BE49-F238E27FC236}">
                <a16:creationId xmlns:a16="http://schemas.microsoft.com/office/drawing/2014/main" id="{DE4A7C7C-D61C-C6D0-7A80-C64775EC2645}"/>
              </a:ext>
            </a:extLst>
          </p:cNvPr>
          <p:cNvSpPr>
            <a:spLocks noGrp="1"/>
          </p:cNvSpPr>
          <p:nvPr>
            <p:ph type="sldNum" sz="quarter" idx="12"/>
          </p:nvPr>
        </p:nvSpPr>
        <p:spPr/>
        <p:txBody>
          <a:bodyPr/>
          <a:lstStyle/>
          <a:p>
            <a:fld id="{6B099C0A-8617-4058-9F88-1F31CC4D8927}" type="slidenum">
              <a:rPr lang="en-IN" smtClean="0"/>
              <a:t>2</a:t>
            </a:fld>
            <a:endParaRPr lang="en-IN"/>
          </a:p>
        </p:txBody>
      </p:sp>
    </p:spTree>
    <p:extLst>
      <p:ext uri="{BB962C8B-B14F-4D97-AF65-F5344CB8AC3E}">
        <p14:creationId xmlns:p14="http://schemas.microsoft.com/office/powerpoint/2010/main" val="2327209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FA2AD9-26C0-61F7-55FF-962B43BF5370}"/>
              </a:ext>
            </a:extLst>
          </p:cNvPr>
          <p:cNvSpPr txBox="1"/>
          <p:nvPr/>
        </p:nvSpPr>
        <p:spPr>
          <a:xfrm>
            <a:off x="2000250" y="2924175"/>
            <a:ext cx="184731" cy="369332"/>
          </a:xfrm>
          <a:prstGeom prst="rect">
            <a:avLst/>
          </a:prstGeom>
          <a:noFill/>
        </p:spPr>
        <p:txBody>
          <a:bodyPr wrap="none" rtlCol="0">
            <a:spAutoFit/>
          </a:bodyPr>
          <a:lstStyle/>
          <a:p>
            <a:endParaRPr lang="en-IN" dirty="0"/>
          </a:p>
        </p:txBody>
      </p:sp>
      <p:sp>
        <p:nvSpPr>
          <p:cNvPr id="3" name="Title 1">
            <a:extLst>
              <a:ext uri="{FF2B5EF4-FFF2-40B4-BE49-F238E27FC236}">
                <a16:creationId xmlns:a16="http://schemas.microsoft.com/office/drawing/2014/main" id="{081B9178-F54E-EBE3-6576-7780AF032DB8}"/>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Dirac notation</a:t>
            </a:r>
            <a:endParaRPr lang="en-IN" dirty="0"/>
          </a:p>
        </p:txBody>
      </p:sp>
      <p:sp>
        <p:nvSpPr>
          <p:cNvPr id="4" name="Content Placeholder 2">
            <a:extLst>
              <a:ext uri="{FF2B5EF4-FFF2-40B4-BE49-F238E27FC236}">
                <a16:creationId xmlns:a16="http://schemas.microsoft.com/office/drawing/2014/main" id="{0960A909-268B-79DD-C592-C35BF65B89FB}"/>
              </a:ext>
            </a:extLst>
          </p:cNvPr>
          <p:cNvSpPr txBox="1">
            <a:spLocks/>
          </p:cNvSpPr>
          <p:nvPr/>
        </p:nvSpPr>
        <p:spPr>
          <a:xfrm>
            <a:off x="504967" y="1293363"/>
            <a:ext cx="11259403" cy="132556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Dirac notation (also called </a:t>
            </a:r>
            <a:r>
              <a:rPr lang="en-US" sz="2400" b="1"/>
              <a:t>bra–ket notation</a:t>
            </a:r>
            <a:r>
              <a:rPr lang="en-US" sz="2400"/>
              <a:t>) is a compact mathematical language invented by physicist Paul Dirac to represent quantum states and their inner products</a:t>
            </a:r>
            <a:endParaRPr lang="en-US" sz="2400" dirty="0"/>
          </a:p>
        </p:txBody>
      </p:sp>
      <p:pic>
        <p:nvPicPr>
          <p:cNvPr id="7" name="Picture 6">
            <a:extLst>
              <a:ext uri="{FF2B5EF4-FFF2-40B4-BE49-F238E27FC236}">
                <a16:creationId xmlns:a16="http://schemas.microsoft.com/office/drawing/2014/main" id="{AFD18CC3-C75A-5A66-95D0-775AEB3ACED9}"/>
              </a:ext>
            </a:extLst>
          </p:cNvPr>
          <p:cNvPicPr>
            <a:picLocks noChangeAspect="1"/>
          </p:cNvPicPr>
          <p:nvPr/>
        </p:nvPicPr>
        <p:blipFill>
          <a:blip r:embed="rId2"/>
          <a:stretch>
            <a:fillRect/>
          </a:stretch>
        </p:blipFill>
        <p:spPr>
          <a:xfrm>
            <a:off x="1511337" y="1989425"/>
            <a:ext cx="9169325" cy="3848212"/>
          </a:xfrm>
          <a:prstGeom prst="rect">
            <a:avLst/>
          </a:prstGeom>
        </p:spPr>
      </p:pic>
      <p:sp>
        <p:nvSpPr>
          <p:cNvPr id="8" name="Date Placeholder 7">
            <a:extLst>
              <a:ext uri="{FF2B5EF4-FFF2-40B4-BE49-F238E27FC236}">
                <a16:creationId xmlns:a16="http://schemas.microsoft.com/office/drawing/2014/main" id="{70EFA9E2-8458-298D-E954-266BD143595D}"/>
              </a:ext>
            </a:extLst>
          </p:cNvPr>
          <p:cNvSpPr>
            <a:spLocks noGrp="1"/>
          </p:cNvSpPr>
          <p:nvPr>
            <p:ph type="dt" sz="half" idx="10"/>
          </p:nvPr>
        </p:nvSpPr>
        <p:spPr/>
        <p:txBody>
          <a:bodyPr/>
          <a:lstStyle/>
          <a:p>
            <a:fld id="{411E28AC-26CF-4931-A1C2-6E6819C60FFE}" type="datetime1">
              <a:rPr lang="en-IN" smtClean="0"/>
              <a:t>27-10-2026</a:t>
            </a:fld>
            <a:endParaRPr lang="en-IN"/>
          </a:p>
        </p:txBody>
      </p:sp>
      <p:sp>
        <p:nvSpPr>
          <p:cNvPr id="9" name="Slide Number Placeholder 8">
            <a:extLst>
              <a:ext uri="{FF2B5EF4-FFF2-40B4-BE49-F238E27FC236}">
                <a16:creationId xmlns:a16="http://schemas.microsoft.com/office/drawing/2014/main" id="{3EA08FE5-3F40-37B2-9BC1-3D05BDC5FA55}"/>
              </a:ext>
            </a:extLst>
          </p:cNvPr>
          <p:cNvSpPr>
            <a:spLocks noGrp="1"/>
          </p:cNvSpPr>
          <p:nvPr>
            <p:ph type="sldNum" sz="quarter" idx="12"/>
          </p:nvPr>
        </p:nvSpPr>
        <p:spPr/>
        <p:txBody>
          <a:bodyPr/>
          <a:lstStyle/>
          <a:p>
            <a:fld id="{6B099C0A-8617-4058-9F88-1F31CC4D8927}" type="slidenum">
              <a:rPr lang="en-IN" smtClean="0"/>
              <a:t>3</a:t>
            </a:fld>
            <a:endParaRPr lang="en-IN"/>
          </a:p>
        </p:txBody>
      </p:sp>
    </p:spTree>
    <p:extLst>
      <p:ext uri="{BB962C8B-B14F-4D97-AF65-F5344CB8AC3E}">
        <p14:creationId xmlns:p14="http://schemas.microsoft.com/office/powerpoint/2010/main" val="4237885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C01B53B-8D26-A45E-590F-88B73A7C6DD3}"/>
              </a:ext>
            </a:extLst>
          </p:cNvPr>
          <p:cNvSpPr txBox="1">
            <a:spLocks/>
          </p:cNvSpPr>
          <p:nvPr/>
        </p:nvSpPr>
        <p:spPr>
          <a:xfrm>
            <a:off x="838200" y="1392072"/>
            <a:ext cx="10515600" cy="10781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In </a:t>
            </a:r>
            <a:r>
              <a:rPr lang="en-US" b="1"/>
              <a:t>Dirac notation</a:t>
            </a:r>
            <a:r>
              <a:rPr lang="en-US"/>
              <a:t>, we represent the state a Qubit a </a:t>
            </a:r>
            <a:r>
              <a:rPr lang="en-US" b="1"/>
              <a:t>ket</a:t>
            </a:r>
            <a:r>
              <a:rPr lang="en-US"/>
              <a:t>:</a:t>
            </a:r>
          </a:p>
          <a:p>
            <a:endParaRPr lang="en-IN" dirty="0"/>
          </a:p>
        </p:txBody>
      </p:sp>
      <p:sp>
        <p:nvSpPr>
          <p:cNvPr id="5" name="Title 1">
            <a:extLst>
              <a:ext uri="{FF2B5EF4-FFF2-40B4-BE49-F238E27FC236}">
                <a16:creationId xmlns:a16="http://schemas.microsoft.com/office/drawing/2014/main" id="{1AF79478-7045-16F0-05B0-085D63D93968}"/>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Dirac notation</a:t>
            </a:r>
            <a:endParaRPr lang="en-IN" dirty="0"/>
          </a:p>
        </p:txBody>
      </p:sp>
      <p:pic>
        <p:nvPicPr>
          <p:cNvPr id="6" name="Picture 5">
            <a:extLst>
              <a:ext uri="{FF2B5EF4-FFF2-40B4-BE49-F238E27FC236}">
                <a16:creationId xmlns:a16="http://schemas.microsoft.com/office/drawing/2014/main" id="{5DE7A9F3-F1BD-971C-56E9-E4A108C00B00}"/>
              </a:ext>
            </a:extLst>
          </p:cNvPr>
          <p:cNvPicPr>
            <a:picLocks noChangeAspect="1"/>
          </p:cNvPicPr>
          <p:nvPr/>
        </p:nvPicPr>
        <p:blipFill>
          <a:blip r:embed="rId2"/>
          <a:stretch>
            <a:fillRect/>
          </a:stretch>
        </p:blipFill>
        <p:spPr>
          <a:xfrm>
            <a:off x="1883389" y="1876566"/>
            <a:ext cx="7847463" cy="4093485"/>
          </a:xfrm>
          <a:prstGeom prst="rect">
            <a:avLst/>
          </a:prstGeom>
        </p:spPr>
      </p:pic>
      <p:sp>
        <p:nvSpPr>
          <p:cNvPr id="7" name="Date Placeholder 6">
            <a:extLst>
              <a:ext uri="{FF2B5EF4-FFF2-40B4-BE49-F238E27FC236}">
                <a16:creationId xmlns:a16="http://schemas.microsoft.com/office/drawing/2014/main" id="{E16ED4D3-E319-8B4F-7BAD-AD8746B4455B}"/>
              </a:ext>
            </a:extLst>
          </p:cNvPr>
          <p:cNvSpPr>
            <a:spLocks noGrp="1"/>
          </p:cNvSpPr>
          <p:nvPr>
            <p:ph type="dt" sz="half" idx="10"/>
          </p:nvPr>
        </p:nvSpPr>
        <p:spPr/>
        <p:txBody>
          <a:bodyPr/>
          <a:lstStyle/>
          <a:p>
            <a:fld id="{D6B82B2B-31CA-4895-8846-D003EA7AA27E}" type="datetime1">
              <a:rPr lang="en-IN" smtClean="0"/>
              <a:t>27-10-2026</a:t>
            </a:fld>
            <a:endParaRPr lang="en-IN"/>
          </a:p>
        </p:txBody>
      </p:sp>
      <p:sp>
        <p:nvSpPr>
          <p:cNvPr id="8" name="Slide Number Placeholder 7">
            <a:extLst>
              <a:ext uri="{FF2B5EF4-FFF2-40B4-BE49-F238E27FC236}">
                <a16:creationId xmlns:a16="http://schemas.microsoft.com/office/drawing/2014/main" id="{2E6ACA6C-2524-E239-C96A-728467C2300F}"/>
              </a:ext>
            </a:extLst>
          </p:cNvPr>
          <p:cNvSpPr>
            <a:spLocks noGrp="1"/>
          </p:cNvSpPr>
          <p:nvPr>
            <p:ph type="sldNum" sz="quarter" idx="12"/>
          </p:nvPr>
        </p:nvSpPr>
        <p:spPr/>
        <p:txBody>
          <a:bodyPr/>
          <a:lstStyle/>
          <a:p>
            <a:fld id="{6B099C0A-8617-4058-9F88-1F31CC4D8927}" type="slidenum">
              <a:rPr lang="en-IN" smtClean="0"/>
              <a:t>4</a:t>
            </a:fld>
            <a:endParaRPr lang="en-IN"/>
          </a:p>
        </p:txBody>
      </p:sp>
    </p:spTree>
    <p:extLst>
      <p:ext uri="{BB962C8B-B14F-4D97-AF65-F5344CB8AC3E}">
        <p14:creationId xmlns:p14="http://schemas.microsoft.com/office/powerpoint/2010/main" val="33137251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1603B6-D31F-1A28-296C-EED096BD5815}"/>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Basis States in Dirac Notation</a:t>
            </a:r>
            <a:endParaRPr lang="en-IN" dirty="0"/>
          </a:p>
        </p:txBody>
      </p:sp>
      <p:pic>
        <p:nvPicPr>
          <p:cNvPr id="7" name="Content Placeholder 6">
            <a:extLst>
              <a:ext uri="{FF2B5EF4-FFF2-40B4-BE49-F238E27FC236}">
                <a16:creationId xmlns:a16="http://schemas.microsoft.com/office/drawing/2014/main" id="{F57874FD-93F7-F7BC-AE12-6DA9F0222207}"/>
              </a:ext>
            </a:extLst>
          </p:cNvPr>
          <p:cNvPicPr>
            <a:picLocks noChangeAspect="1"/>
          </p:cNvPicPr>
          <p:nvPr/>
        </p:nvPicPr>
        <p:blipFill>
          <a:blip r:embed="rId2"/>
          <a:stretch>
            <a:fillRect/>
          </a:stretch>
        </p:blipFill>
        <p:spPr>
          <a:xfrm>
            <a:off x="1058484" y="1499618"/>
            <a:ext cx="9846299" cy="4191497"/>
          </a:xfrm>
          <a:prstGeom prst="rect">
            <a:avLst/>
          </a:prstGeom>
        </p:spPr>
      </p:pic>
      <p:sp>
        <p:nvSpPr>
          <p:cNvPr id="10" name="Date Placeholder 9">
            <a:extLst>
              <a:ext uri="{FF2B5EF4-FFF2-40B4-BE49-F238E27FC236}">
                <a16:creationId xmlns:a16="http://schemas.microsoft.com/office/drawing/2014/main" id="{59927030-4F84-FDC0-E092-6F8A79E6A3F3}"/>
              </a:ext>
            </a:extLst>
          </p:cNvPr>
          <p:cNvSpPr>
            <a:spLocks noGrp="1"/>
          </p:cNvSpPr>
          <p:nvPr>
            <p:ph type="dt" sz="half" idx="10"/>
          </p:nvPr>
        </p:nvSpPr>
        <p:spPr/>
        <p:txBody>
          <a:bodyPr/>
          <a:lstStyle/>
          <a:p>
            <a:fld id="{522A71DE-25CE-446D-A931-1B622E43366C}" type="datetime1">
              <a:rPr lang="en-IN" smtClean="0"/>
              <a:t>27-10-2026</a:t>
            </a:fld>
            <a:endParaRPr lang="en-IN"/>
          </a:p>
        </p:txBody>
      </p:sp>
      <p:sp>
        <p:nvSpPr>
          <p:cNvPr id="11" name="Slide Number Placeholder 10">
            <a:extLst>
              <a:ext uri="{FF2B5EF4-FFF2-40B4-BE49-F238E27FC236}">
                <a16:creationId xmlns:a16="http://schemas.microsoft.com/office/drawing/2014/main" id="{8349E65A-CDB9-FE84-6663-001B6ECF8F71}"/>
              </a:ext>
            </a:extLst>
          </p:cNvPr>
          <p:cNvSpPr>
            <a:spLocks noGrp="1"/>
          </p:cNvSpPr>
          <p:nvPr>
            <p:ph type="sldNum" sz="quarter" idx="12"/>
          </p:nvPr>
        </p:nvSpPr>
        <p:spPr/>
        <p:txBody>
          <a:bodyPr/>
          <a:lstStyle/>
          <a:p>
            <a:fld id="{6B099C0A-8617-4058-9F88-1F31CC4D8927}" type="slidenum">
              <a:rPr lang="en-IN" smtClean="0"/>
              <a:t>5</a:t>
            </a:fld>
            <a:endParaRPr lang="en-IN"/>
          </a:p>
        </p:txBody>
      </p:sp>
    </p:spTree>
    <p:extLst>
      <p:ext uri="{BB962C8B-B14F-4D97-AF65-F5344CB8AC3E}">
        <p14:creationId xmlns:p14="http://schemas.microsoft.com/office/powerpoint/2010/main" val="4048908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0D3A6E1-536A-BDE2-D769-A47EFCC28824}"/>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Superposition</a:t>
            </a:r>
            <a:endParaRPr lang="en-IN" dirty="0"/>
          </a:p>
        </p:txBody>
      </p:sp>
      <p:sp>
        <p:nvSpPr>
          <p:cNvPr id="3" name="Content Placeholder 7">
            <a:extLst>
              <a:ext uri="{FF2B5EF4-FFF2-40B4-BE49-F238E27FC236}">
                <a16:creationId xmlns:a16="http://schemas.microsoft.com/office/drawing/2014/main" id="{0C0F9A5B-B214-83F9-2C3D-E930F1267A75}"/>
              </a:ext>
            </a:extLst>
          </p:cNvPr>
          <p:cNvSpPr txBox="1">
            <a:spLocks/>
          </p:cNvSpPr>
          <p:nvPr/>
        </p:nvSpPr>
        <p:spPr>
          <a:xfrm>
            <a:off x="838200" y="1825625"/>
            <a:ext cx="10515600" cy="1325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The difference between bits and qubits is that a qubit can be in a state other than |0</a:t>
            </a:r>
            <a:r>
              <a:rPr lang="en-US">
                <a:sym typeface="Symbol" panose="05050102010706020507" pitchFamily="18" charset="2"/>
              </a:rPr>
              <a:t></a:t>
            </a:r>
            <a:r>
              <a:rPr lang="en-US"/>
              <a:t> or |1</a:t>
            </a:r>
            <a:r>
              <a:rPr lang="en-US">
                <a:sym typeface="Symbol" panose="05050102010706020507" pitchFamily="18" charset="2"/>
              </a:rPr>
              <a:t></a:t>
            </a:r>
            <a:r>
              <a:rPr lang="en-US"/>
              <a:t>. It is also possible to form linear combinations of states, often called superpositions:</a:t>
            </a:r>
          </a:p>
          <a:p>
            <a:endParaRPr lang="en-IN" dirty="0"/>
          </a:p>
        </p:txBody>
      </p:sp>
      <p:pic>
        <p:nvPicPr>
          <p:cNvPr id="6" name="Picture 5">
            <a:extLst>
              <a:ext uri="{FF2B5EF4-FFF2-40B4-BE49-F238E27FC236}">
                <a16:creationId xmlns:a16="http://schemas.microsoft.com/office/drawing/2014/main" id="{A153C0CB-8D70-E097-6D47-19A64E522A1D}"/>
              </a:ext>
            </a:extLst>
          </p:cNvPr>
          <p:cNvPicPr>
            <a:picLocks noChangeAspect="1"/>
          </p:cNvPicPr>
          <p:nvPr/>
        </p:nvPicPr>
        <p:blipFill>
          <a:blip r:embed="rId2"/>
          <a:stretch>
            <a:fillRect/>
          </a:stretch>
        </p:blipFill>
        <p:spPr>
          <a:xfrm>
            <a:off x="3909797" y="3257498"/>
            <a:ext cx="3707881" cy="895402"/>
          </a:xfrm>
          <a:prstGeom prst="rect">
            <a:avLst/>
          </a:prstGeom>
        </p:spPr>
      </p:pic>
      <p:sp>
        <p:nvSpPr>
          <p:cNvPr id="7" name="TextBox 6">
            <a:extLst>
              <a:ext uri="{FF2B5EF4-FFF2-40B4-BE49-F238E27FC236}">
                <a16:creationId xmlns:a16="http://schemas.microsoft.com/office/drawing/2014/main" id="{3FBAA5AF-BF8B-E032-2F89-E0E7073F7DBD}"/>
              </a:ext>
            </a:extLst>
          </p:cNvPr>
          <p:cNvSpPr txBox="1"/>
          <p:nvPr/>
        </p:nvSpPr>
        <p:spPr>
          <a:xfrm>
            <a:off x="361950" y="4152900"/>
            <a:ext cx="11563037" cy="1815882"/>
          </a:xfrm>
          <a:prstGeom prst="rect">
            <a:avLst/>
          </a:prstGeom>
          <a:noFill/>
        </p:spPr>
        <p:txBody>
          <a:bodyPr wrap="none" rtlCol="0">
            <a:spAutoFit/>
          </a:bodyPr>
          <a:lstStyle/>
          <a:p>
            <a:pPr marL="457200" indent="-457200">
              <a:buFont typeface="Arial" panose="020B0604020202020204" pitchFamily="34" charset="0"/>
              <a:buChar char="•"/>
            </a:pPr>
            <a:r>
              <a:rPr lang="en-US" sz="2800" dirty="0"/>
              <a:t>The numbers α and β are complex numbers.</a:t>
            </a:r>
          </a:p>
          <a:p>
            <a:pPr marL="457200" indent="-457200">
              <a:buFont typeface="Arial" panose="020B0604020202020204" pitchFamily="34" charset="0"/>
              <a:buChar char="•"/>
            </a:pPr>
            <a:r>
              <a:rPr lang="en-US" sz="2800" dirty="0"/>
              <a:t>The state of a qubit is a vector in a two-dimensional complex vector space. </a:t>
            </a:r>
          </a:p>
          <a:p>
            <a:pPr marL="457200" indent="-457200">
              <a:buFont typeface="Arial" panose="020B0604020202020204" pitchFamily="34" charset="0"/>
              <a:buChar char="•"/>
            </a:pPr>
            <a:r>
              <a:rPr lang="en-US" sz="2800" dirty="0"/>
              <a:t>The special states |0 </a:t>
            </a:r>
            <a:r>
              <a:rPr lang="en-US" sz="2800" dirty="0">
                <a:sym typeface="Symbol" panose="05050102010706020507" pitchFamily="18" charset="2"/>
              </a:rPr>
              <a:t></a:t>
            </a:r>
            <a:r>
              <a:rPr lang="en-US" sz="2800" dirty="0"/>
              <a:t> and |1</a:t>
            </a:r>
            <a:r>
              <a:rPr lang="en-US" sz="2800" dirty="0">
                <a:sym typeface="Symbol" panose="05050102010706020507" pitchFamily="18" charset="2"/>
              </a:rPr>
              <a:t> </a:t>
            </a:r>
            <a:r>
              <a:rPr lang="en-US" sz="2800" dirty="0"/>
              <a:t> are known as computational basis states </a:t>
            </a:r>
          </a:p>
          <a:p>
            <a:pPr marL="457200" indent="-457200">
              <a:buFont typeface="Arial" panose="020B0604020202020204" pitchFamily="34" charset="0"/>
              <a:buChar char="•"/>
            </a:pPr>
            <a:r>
              <a:rPr lang="en-US" sz="2800" dirty="0"/>
              <a:t>They form an orthonormal basis for this vector space.</a:t>
            </a:r>
            <a:endParaRPr lang="en-IN" sz="2800" dirty="0"/>
          </a:p>
        </p:txBody>
      </p:sp>
      <p:sp>
        <p:nvSpPr>
          <p:cNvPr id="8" name="Date Placeholder 7">
            <a:extLst>
              <a:ext uri="{FF2B5EF4-FFF2-40B4-BE49-F238E27FC236}">
                <a16:creationId xmlns:a16="http://schemas.microsoft.com/office/drawing/2014/main" id="{BD771AF2-00A8-2462-2FD3-A8953EC64706}"/>
              </a:ext>
            </a:extLst>
          </p:cNvPr>
          <p:cNvSpPr>
            <a:spLocks noGrp="1"/>
          </p:cNvSpPr>
          <p:nvPr>
            <p:ph type="dt" sz="half" idx="10"/>
          </p:nvPr>
        </p:nvSpPr>
        <p:spPr/>
        <p:txBody>
          <a:bodyPr/>
          <a:lstStyle/>
          <a:p>
            <a:fld id="{5BB422F8-AE9B-47F0-89C6-FCD0E4B7019C}" type="datetime1">
              <a:rPr lang="en-IN" smtClean="0"/>
              <a:t>27-10-2026</a:t>
            </a:fld>
            <a:endParaRPr lang="en-IN"/>
          </a:p>
        </p:txBody>
      </p:sp>
      <p:sp>
        <p:nvSpPr>
          <p:cNvPr id="9" name="Slide Number Placeholder 8">
            <a:extLst>
              <a:ext uri="{FF2B5EF4-FFF2-40B4-BE49-F238E27FC236}">
                <a16:creationId xmlns:a16="http://schemas.microsoft.com/office/drawing/2014/main" id="{C44E9918-ACF3-4203-5462-716B8C7C4F5F}"/>
              </a:ext>
            </a:extLst>
          </p:cNvPr>
          <p:cNvSpPr>
            <a:spLocks noGrp="1"/>
          </p:cNvSpPr>
          <p:nvPr>
            <p:ph type="sldNum" sz="quarter" idx="12"/>
          </p:nvPr>
        </p:nvSpPr>
        <p:spPr/>
        <p:txBody>
          <a:bodyPr/>
          <a:lstStyle/>
          <a:p>
            <a:fld id="{6B099C0A-8617-4058-9F88-1F31CC4D8927}" type="slidenum">
              <a:rPr lang="en-IN" smtClean="0"/>
              <a:t>6</a:t>
            </a:fld>
            <a:endParaRPr lang="en-IN"/>
          </a:p>
        </p:txBody>
      </p:sp>
    </p:spTree>
    <p:extLst>
      <p:ext uri="{BB962C8B-B14F-4D97-AF65-F5344CB8AC3E}">
        <p14:creationId xmlns:p14="http://schemas.microsoft.com/office/powerpoint/2010/main" val="3971962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4E9553DF-9751-79AC-3CD6-066811D653D7}"/>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Superposition</a:t>
            </a:r>
            <a:endParaRPr lang="en-IN" dirty="0"/>
          </a:p>
        </p:txBody>
      </p:sp>
      <p:sp>
        <p:nvSpPr>
          <p:cNvPr id="3" name="Content Placeholder 7">
            <a:extLst>
              <a:ext uri="{FF2B5EF4-FFF2-40B4-BE49-F238E27FC236}">
                <a16:creationId xmlns:a16="http://schemas.microsoft.com/office/drawing/2014/main" id="{BCFA0087-CD94-7550-FBC7-17057C5FCE02}"/>
              </a:ext>
            </a:extLst>
          </p:cNvPr>
          <p:cNvSpPr txBox="1">
            <a:spLocks/>
          </p:cNvSpPr>
          <p:nvPr/>
        </p:nvSpPr>
        <p:spPr>
          <a:xfrm>
            <a:off x="838200" y="1825625"/>
            <a:ext cx="10515600" cy="1325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The difference between bits and qubits is that a qubit can be in a state other than |0</a:t>
            </a:r>
            <a:r>
              <a:rPr lang="en-US">
                <a:sym typeface="Symbol" panose="05050102010706020507" pitchFamily="18" charset="2"/>
              </a:rPr>
              <a:t></a:t>
            </a:r>
            <a:r>
              <a:rPr lang="en-US"/>
              <a:t> or |1</a:t>
            </a:r>
            <a:r>
              <a:rPr lang="en-US">
                <a:sym typeface="Symbol" panose="05050102010706020507" pitchFamily="18" charset="2"/>
              </a:rPr>
              <a:t></a:t>
            </a:r>
            <a:r>
              <a:rPr lang="en-US"/>
              <a:t>. It is also possible to form linear combinations of states, often called superpositions:</a:t>
            </a:r>
          </a:p>
          <a:p>
            <a:endParaRPr lang="en-IN" dirty="0"/>
          </a:p>
        </p:txBody>
      </p:sp>
      <p:pic>
        <p:nvPicPr>
          <p:cNvPr id="6" name="Picture 5">
            <a:extLst>
              <a:ext uri="{FF2B5EF4-FFF2-40B4-BE49-F238E27FC236}">
                <a16:creationId xmlns:a16="http://schemas.microsoft.com/office/drawing/2014/main" id="{0B71CDD1-D109-36BD-36FA-D8AD3F419867}"/>
              </a:ext>
            </a:extLst>
          </p:cNvPr>
          <p:cNvPicPr>
            <a:picLocks noChangeAspect="1"/>
          </p:cNvPicPr>
          <p:nvPr/>
        </p:nvPicPr>
        <p:blipFill>
          <a:blip r:embed="rId2"/>
          <a:stretch>
            <a:fillRect/>
          </a:stretch>
        </p:blipFill>
        <p:spPr>
          <a:xfrm>
            <a:off x="3909797" y="3257498"/>
            <a:ext cx="3707881" cy="895402"/>
          </a:xfrm>
          <a:prstGeom prst="rect">
            <a:avLst/>
          </a:prstGeom>
        </p:spPr>
      </p:pic>
      <p:sp>
        <p:nvSpPr>
          <p:cNvPr id="7" name="TextBox 6">
            <a:extLst>
              <a:ext uri="{FF2B5EF4-FFF2-40B4-BE49-F238E27FC236}">
                <a16:creationId xmlns:a16="http://schemas.microsoft.com/office/drawing/2014/main" id="{54619907-5A02-917C-23E7-90071EFEE384}"/>
              </a:ext>
            </a:extLst>
          </p:cNvPr>
          <p:cNvSpPr txBox="1"/>
          <p:nvPr/>
        </p:nvSpPr>
        <p:spPr>
          <a:xfrm>
            <a:off x="361950" y="4152900"/>
            <a:ext cx="11563037" cy="1815882"/>
          </a:xfrm>
          <a:prstGeom prst="rect">
            <a:avLst/>
          </a:prstGeom>
          <a:noFill/>
        </p:spPr>
        <p:txBody>
          <a:bodyPr wrap="none" rtlCol="0">
            <a:spAutoFit/>
          </a:bodyPr>
          <a:lstStyle/>
          <a:p>
            <a:pPr marL="457200" indent="-457200">
              <a:buFont typeface="Arial" panose="020B0604020202020204" pitchFamily="34" charset="0"/>
              <a:buChar char="•"/>
            </a:pPr>
            <a:r>
              <a:rPr lang="en-US" sz="2800" dirty="0"/>
              <a:t>The numbers α and β are complex numbers.</a:t>
            </a:r>
          </a:p>
          <a:p>
            <a:pPr marL="457200" indent="-457200">
              <a:buFont typeface="Arial" panose="020B0604020202020204" pitchFamily="34" charset="0"/>
              <a:buChar char="•"/>
            </a:pPr>
            <a:r>
              <a:rPr lang="en-US" sz="2800" dirty="0"/>
              <a:t>The state of a qubit is a vector in a two-dimensional complex vector space. </a:t>
            </a:r>
          </a:p>
          <a:p>
            <a:pPr marL="457200" indent="-457200">
              <a:buFont typeface="Arial" panose="020B0604020202020204" pitchFamily="34" charset="0"/>
              <a:buChar char="•"/>
            </a:pPr>
            <a:r>
              <a:rPr lang="en-US" sz="2800" dirty="0"/>
              <a:t>The special states |0 </a:t>
            </a:r>
            <a:r>
              <a:rPr lang="en-US" sz="2800" dirty="0">
                <a:sym typeface="Symbol" panose="05050102010706020507" pitchFamily="18" charset="2"/>
              </a:rPr>
              <a:t></a:t>
            </a:r>
            <a:r>
              <a:rPr lang="en-US" sz="2800" dirty="0"/>
              <a:t> and |1</a:t>
            </a:r>
            <a:r>
              <a:rPr lang="en-US" sz="2800" dirty="0">
                <a:sym typeface="Symbol" panose="05050102010706020507" pitchFamily="18" charset="2"/>
              </a:rPr>
              <a:t> </a:t>
            </a:r>
            <a:r>
              <a:rPr lang="en-US" sz="2800" dirty="0"/>
              <a:t> are known as computational basis states </a:t>
            </a:r>
          </a:p>
          <a:p>
            <a:pPr marL="457200" indent="-457200">
              <a:buFont typeface="Arial" panose="020B0604020202020204" pitchFamily="34" charset="0"/>
              <a:buChar char="•"/>
            </a:pPr>
            <a:r>
              <a:rPr lang="en-US" sz="2800" dirty="0"/>
              <a:t>They form an orthonormal basis for this vector space.</a:t>
            </a:r>
            <a:endParaRPr lang="en-IN" sz="2800" dirty="0"/>
          </a:p>
        </p:txBody>
      </p:sp>
      <p:sp>
        <p:nvSpPr>
          <p:cNvPr id="8" name="Date Placeholder 7">
            <a:extLst>
              <a:ext uri="{FF2B5EF4-FFF2-40B4-BE49-F238E27FC236}">
                <a16:creationId xmlns:a16="http://schemas.microsoft.com/office/drawing/2014/main" id="{353DE11B-070D-15E8-4D6F-67F952B7E7EB}"/>
              </a:ext>
            </a:extLst>
          </p:cNvPr>
          <p:cNvSpPr>
            <a:spLocks noGrp="1"/>
          </p:cNvSpPr>
          <p:nvPr>
            <p:ph type="dt" sz="half" idx="10"/>
          </p:nvPr>
        </p:nvSpPr>
        <p:spPr/>
        <p:txBody>
          <a:bodyPr/>
          <a:lstStyle/>
          <a:p>
            <a:fld id="{A7138A77-6971-43B9-A27B-370519FB2C5E}" type="datetime1">
              <a:rPr lang="en-IN" smtClean="0"/>
              <a:t>27-10-2026</a:t>
            </a:fld>
            <a:endParaRPr lang="en-IN"/>
          </a:p>
        </p:txBody>
      </p:sp>
      <p:sp>
        <p:nvSpPr>
          <p:cNvPr id="9" name="Slide Number Placeholder 8">
            <a:extLst>
              <a:ext uri="{FF2B5EF4-FFF2-40B4-BE49-F238E27FC236}">
                <a16:creationId xmlns:a16="http://schemas.microsoft.com/office/drawing/2014/main" id="{830732DE-AB8A-46CB-3439-321DD0816B82}"/>
              </a:ext>
            </a:extLst>
          </p:cNvPr>
          <p:cNvSpPr>
            <a:spLocks noGrp="1"/>
          </p:cNvSpPr>
          <p:nvPr>
            <p:ph type="sldNum" sz="quarter" idx="12"/>
          </p:nvPr>
        </p:nvSpPr>
        <p:spPr/>
        <p:txBody>
          <a:bodyPr/>
          <a:lstStyle/>
          <a:p>
            <a:fld id="{6B099C0A-8617-4058-9F88-1F31CC4D8927}" type="slidenum">
              <a:rPr lang="en-IN" smtClean="0"/>
              <a:t>7</a:t>
            </a:fld>
            <a:endParaRPr lang="en-IN"/>
          </a:p>
        </p:txBody>
      </p:sp>
    </p:spTree>
    <p:extLst>
      <p:ext uri="{BB962C8B-B14F-4D97-AF65-F5344CB8AC3E}">
        <p14:creationId xmlns:p14="http://schemas.microsoft.com/office/powerpoint/2010/main" val="2595890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B85F5-37FA-DDCA-5A69-A2131004B218}"/>
              </a:ext>
            </a:extLst>
          </p:cNvPr>
          <p:cNvSpPr txBox="1">
            <a:spLocks/>
          </p:cNvSpPr>
          <p:nvPr/>
        </p:nvSpPr>
        <p:spPr>
          <a:xfrm>
            <a:off x="287999" y="288036"/>
            <a:ext cx="3711980" cy="9532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Entanglement</a:t>
            </a:r>
          </a:p>
        </p:txBody>
      </p:sp>
      <p:sp>
        <p:nvSpPr>
          <p:cNvPr id="3" name="Text Placeholder 2">
            <a:extLst>
              <a:ext uri="{FF2B5EF4-FFF2-40B4-BE49-F238E27FC236}">
                <a16:creationId xmlns:a16="http://schemas.microsoft.com/office/drawing/2014/main" id="{F1D4E3C2-4BB4-D933-F773-78F5465C8C2A}"/>
              </a:ext>
            </a:extLst>
          </p:cNvPr>
          <p:cNvSpPr txBox="1">
            <a:spLocks/>
          </p:cNvSpPr>
          <p:nvPr/>
        </p:nvSpPr>
        <p:spPr>
          <a:xfrm>
            <a:off x="287999" y="1714500"/>
            <a:ext cx="5049180" cy="4286250"/>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AU" sz="2000" b="1" dirty="0"/>
              <a:t>Quantum entanglement: </a:t>
            </a:r>
            <a:r>
              <a:rPr lang="en-AU" sz="2000" dirty="0"/>
              <a:t>occurs when two or more qubits are intrinsically linked, such that </a:t>
            </a:r>
            <a:r>
              <a:rPr lang="en-US" sz="2000" dirty="0"/>
              <a:t>one cannot describe the state of any qubit in the entangled system independently.</a:t>
            </a:r>
          </a:p>
          <a:p>
            <a:pPr algn="l"/>
            <a:endParaRPr lang="en-AU" sz="2000" dirty="0"/>
          </a:p>
          <a:p>
            <a:pPr marL="285750" indent="-285750" algn="l">
              <a:buFont typeface="Arial" panose="020B0604020202020204" pitchFamily="34" charset="0"/>
              <a:buChar char="•"/>
            </a:pPr>
            <a:r>
              <a:rPr lang="en-AU" sz="2000" dirty="0"/>
              <a:t>Entangled qubits are correlated more strongly than classical probability allows.</a:t>
            </a:r>
          </a:p>
          <a:p>
            <a:pPr marL="285750" indent="-285750" algn="l">
              <a:buFont typeface="Arial" panose="020B0604020202020204" pitchFamily="34" charset="0"/>
              <a:buChar char="•"/>
            </a:pPr>
            <a:r>
              <a:rPr lang="en-AU" sz="2000" dirty="0"/>
              <a:t>Operating on or collapsing one qubit instantly influences another qubit in the entangled system (although it never violates relativity).</a:t>
            </a:r>
            <a:endParaRPr lang="en-US" sz="2000"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C24BDC7-5090-4D2D-1B33-9BBBB7C38109}"/>
                  </a:ext>
                </a:extLst>
              </p:cNvPr>
              <p:cNvSpPr txBox="1">
                <a:spLocks/>
              </p:cNvSpPr>
              <p:nvPr/>
            </p:nvSpPr>
            <p:spPr>
              <a:xfrm>
                <a:off x="6688756" y="1943813"/>
                <a:ext cx="5047593" cy="4286250"/>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000" dirty="0"/>
                  <a:t>Example:</a:t>
                </a:r>
              </a:p>
              <a:p>
                <a:pPr algn="l"/>
                <a:endParaRPr lang="en-US" sz="2000" dirty="0"/>
              </a:p>
              <a:p>
                <a:pPr algn="l"/>
                <a14:m>
                  <m:oMath xmlns:m="http://schemas.openxmlformats.org/officeDocument/2006/math">
                    <m:f>
                      <m:fPr>
                        <m:ctrlPr>
                          <a:rPr lang="en-AU" sz="2000" i="1">
                            <a:latin typeface="Cambria Math" panose="02040503050406030204" pitchFamily="18" charset="0"/>
                          </a:rPr>
                        </m:ctrlPr>
                      </m:fPr>
                      <m:num>
                        <m:r>
                          <a:rPr lang="en-AU" sz="2000" i="1">
                            <a:latin typeface="Cambria Math" panose="02040503050406030204" pitchFamily="18" charset="0"/>
                          </a:rPr>
                          <m:t>1</m:t>
                        </m:r>
                      </m:num>
                      <m:den>
                        <m:r>
                          <a:rPr lang="en-AU" sz="2000" i="1">
                            <a:latin typeface="Cambria Math" panose="02040503050406030204" pitchFamily="18" charset="0"/>
                          </a:rPr>
                          <m:t>√2</m:t>
                        </m:r>
                      </m:den>
                    </m:f>
                    <m:d>
                      <m:dPr>
                        <m:begChr m:val=""/>
                        <m:endChr m:val="⟩"/>
                        <m:ctrlPr>
                          <a:rPr lang="en-AU" sz="2000" i="1">
                            <a:latin typeface="Cambria Math" panose="02040503050406030204" pitchFamily="18" charset="0"/>
                          </a:rPr>
                        </m:ctrlPr>
                      </m:dPr>
                      <m:e>
                        <m:d>
                          <m:dPr>
                            <m:begChr m:val="|"/>
                            <m:endChr m:val=""/>
                            <m:ctrlPr>
                              <a:rPr lang="en-AU" sz="2000" i="1">
                                <a:latin typeface="Cambria Math" panose="02040503050406030204" pitchFamily="18" charset="0"/>
                              </a:rPr>
                            </m:ctrlPr>
                          </m:dPr>
                          <m:e>
                            <m:r>
                              <a:rPr lang="en-AU" sz="2000" i="1">
                                <a:latin typeface="Cambria Math" panose="02040503050406030204" pitchFamily="18" charset="0"/>
                              </a:rPr>
                              <m:t>0</m:t>
                            </m:r>
                          </m:e>
                        </m:d>
                        <m:r>
                          <a:rPr lang="en-AU" sz="2000" i="1">
                            <a:latin typeface="Cambria Math" panose="02040503050406030204" pitchFamily="18" charset="0"/>
                          </a:rPr>
                          <m:t>0</m:t>
                        </m:r>
                      </m:e>
                    </m:d>
                  </m:oMath>
                </a14:m>
                <a:r>
                  <a:rPr lang="en-AU" sz="2000" dirty="0"/>
                  <a:t> </a:t>
                </a:r>
                <a14:m>
                  <m:oMath xmlns:m="http://schemas.openxmlformats.org/officeDocument/2006/math">
                    <m:r>
                      <a:rPr lang="en-AU" sz="2000" i="1">
                        <a:latin typeface="Cambria Math" panose="02040503050406030204" pitchFamily="18" charset="0"/>
                      </a:rPr>
                      <m:t>+</m:t>
                    </m:r>
                    <m:f>
                      <m:fPr>
                        <m:ctrlPr>
                          <a:rPr lang="en-AU" sz="2000" i="1">
                            <a:latin typeface="Cambria Math" panose="02040503050406030204" pitchFamily="18" charset="0"/>
                          </a:rPr>
                        </m:ctrlPr>
                      </m:fPr>
                      <m:num>
                        <m:r>
                          <a:rPr lang="en-AU" sz="2000" i="1">
                            <a:latin typeface="Cambria Math" panose="02040503050406030204" pitchFamily="18" charset="0"/>
                          </a:rPr>
                          <m:t>1</m:t>
                        </m:r>
                      </m:num>
                      <m:den>
                        <m:r>
                          <a:rPr lang="en-AU" sz="2000" i="1">
                            <a:latin typeface="Cambria Math" panose="02040503050406030204" pitchFamily="18" charset="0"/>
                          </a:rPr>
                          <m:t>√2</m:t>
                        </m:r>
                      </m:den>
                    </m:f>
                    <m:d>
                      <m:dPr>
                        <m:begChr m:val="|"/>
                        <m:endChr m:val=""/>
                        <m:ctrlPr>
                          <a:rPr lang="en-AU" sz="2000" i="1">
                            <a:latin typeface="Cambria Math" panose="02040503050406030204" pitchFamily="18" charset="0"/>
                          </a:rPr>
                        </m:ctrlPr>
                      </m:dPr>
                      <m:e>
                        <m:d>
                          <m:dPr>
                            <m:begChr m:val=""/>
                            <m:endChr m:val="⟩"/>
                            <m:ctrlPr>
                              <a:rPr lang="en-AU" sz="2000" i="1">
                                <a:latin typeface="Cambria Math" panose="02040503050406030204" pitchFamily="18" charset="0"/>
                              </a:rPr>
                            </m:ctrlPr>
                          </m:dPr>
                          <m:e>
                            <m:r>
                              <a:rPr lang="en-AU" sz="2000" i="1">
                                <a:latin typeface="Cambria Math" panose="02040503050406030204" pitchFamily="18" charset="0"/>
                              </a:rPr>
                              <m:t>11</m:t>
                            </m:r>
                          </m:e>
                        </m:d>
                      </m:e>
                    </m:d>
                  </m:oMath>
                </a14:m>
                <a:endParaRPr lang="en-US" sz="2000" dirty="0"/>
              </a:p>
              <a:p>
                <a:pPr algn="l"/>
                <a:endParaRPr lang="en-US" sz="2000" dirty="0"/>
              </a:p>
              <a:p>
                <a:pPr algn="l"/>
                <a:r>
                  <a:rPr lang="en-US" sz="2000" dirty="0"/>
                  <a:t>If we measure one qubit to be </a:t>
                </a:r>
                <a14:m>
                  <m:oMath xmlns:m="http://schemas.openxmlformats.org/officeDocument/2006/math">
                    <m:d>
                      <m:dPr>
                        <m:begChr m:val=""/>
                        <m:endChr m:val="⟩"/>
                        <m:ctrlPr>
                          <a:rPr lang="en-AU" sz="2000" i="1">
                            <a:latin typeface="Cambria Math" panose="02040503050406030204" pitchFamily="18" charset="0"/>
                          </a:rPr>
                        </m:ctrlPr>
                      </m:dPr>
                      <m:e>
                        <m:d>
                          <m:dPr>
                            <m:begChr m:val="|"/>
                            <m:endChr m:val=""/>
                            <m:ctrlPr>
                              <a:rPr lang="en-AU" sz="2000" i="1">
                                <a:latin typeface="Cambria Math" panose="02040503050406030204" pitchFamily="18" charset="0"/>
                              </a:rPr>
                            </m:ctrlPr>
                          </m:dPr>
                          <m:e>
                            <m:r>
                              <a:rPr lang="en-AU" sz="2000" i="1">
                                <a:latin typeface="Cambria Math" panose="02040503050406030204" pitchFamily="18" charset="0"/>
                              </a:rPr>
                              <m:t>0</m:t>
                            </m:r>
                          </m:e>
                        </m:d>
                      </m:e>
                    </m:d>
                  </m:oMath>
                </a14:m>
                <a:r>
                  <a:rPr lang="en-US" sz="2000" dirty="0"/>
                  <a:t> in the z-basis, the measurement collapses the two-qubit state, leaving the other qubit to be </a:t>
                </a:r>
                <a14:m>
                  <m:oMath xmlns:m="http://schemas.openxmlformats.org/officeDocument/2006/math">
                    <m:d>
                      <m:dPr>
                        <m:begChr m:val=""/>
                        <m:endChr m:val="⟩"/>
                        <m:ctrlPr>
                          <a:rPr lang="en-AU" sz="2000" i="1">
                            <a:latin typeface="Cambria Math" panose="02040503050406030204" pitchFamily="18" charset="0"/>
                          </a:rPr>
                        </m:ctrlPr>
                      </m:dPr>
                      <m:e>
                        <m:d>
                          <m:dPr>
                            <m:begChr m:val="|"/>
                            <m:endChr m:val=""/>
                            <m:ctrlPr>
                              <a:rPr lang="en-AU" sz="2000" i="1">
                                <a:latin typeface="Cambria Math" panose="02040503050406030204" pitchFamily="18" charset="0"/>
                              </a:rPr>
                            </m:ctrlPr>
                          </m:dPr>
                          <m:e>
                            <m:r>
                              <a:rPr lang="en-AU" sz="2000" i="1">
                                <a:latin typeface="Cambria Math" panose="02040503050406030204" pitchFamily="18" charset="0"/>
                              </a:rPr>
                              <m:t>0</m:t>
                            </m:r>
                          </m:e>
                        </m:d>
                      </m:e>
                    </m:d>
                  </m:oMath>
                </a14:m>
                <a:r>
                  <a:rPr lang="en-US" sz="2000" dirty="0"/>
                  <a:t>.</a:t>
                </a:r>
              </a:p>
              <a:p>
                <a:pPr algn="l"/>
                <a:endParaRPr lang="en-US" sz="2000" dirty="0"/>
              </a:p>
              <a:p>
                <a:pPr algn="l"/>
                <a:r>
                  <a:rPr lang="en-US" sz="2000" dirty="0"/>
                  <a:t>Instead, if we measure in the x-basis and find one qubit to be </a:t>
                </a:r>
                <a14:m>
                  <m:oMath xmlns:m="http://schemas.openxmlformats.org/officeDocument/2006/math">
                    <m:d>
                      <m:dPr>
                        <m:begChr m:val=""/>
                        <m:endChr m:val="⟩"/>
                        <m:ctrlPr>
                          <a:rPr lang="en-AU" sz="2000" i="1">
                            <a:latin typeface="Cambria Math" panose="02040503050406030204" pitchFamily="18" charset="0"/>
                          </a:rPr>
                        </m:ctrlPr>
                      </m:dPr>
                      <m:e>
                        <m:d>
                          <m:dPr>
                            <m:begChr m:val="|"/>
                            <m:endChr m:val=""/>
                            <m:ctrlPr>
                              <a:rPr lang="en-AU" sz="2000" i="1">
                                <a:latin typeface="Cambria Math" panose="02040503050406030204" pitchFamily="18" charset="0"/>
                              </a:rPr>
                            </m:ctrlPr>
                          </m:dPr>
                          <m:e>
                            <m:r>
                              <a:rPr lang="en-AU" sz="2000" i="1">
                                <a:latin typeface="Cambria Math" panose="02040503050406030204" pitchFamily="18" charset="0"/>
                              </a:rPr>
                              <m:t>+</m:t>
                            </m:r>
                          </m:e>
                        </m:d>
                      </m:e>
                    </m:d>
                  </m:oMath>
                </a14:m>
                <a:r>
                  <a:rPr lang="en-US" sz="2000" dirty="0"/>
                  <a:t>, </a:t>
                </a:r>
                <a:r>
                  <a:rPr lang="en-AU" sz="2000" dirty="0"/>
                  <a:t>the other qubit collapses simultaneously to be </a:t>
                </a:r>
                <a14:m>
                  <m:oMath xmlns:m="http://schemas.openxmlformats.org/officeDocument/2006/math">
                    <m:d>
                      <m:dPr>
                        <m:begChr m:val=""/>
                        <m:endChr m:val="⟩"/>
                        <m:ctrlPr>
                          <a:rPr lang="en-AU" sz="2000" i="1">
                            <a:latin typeface="Cambria Math" panose="02040503050406030204" pitchFamily="18" charset="0"/>
                          </a:rPr>
                        </m:ctrlPr>
                      </m:dPr>
                      <m:e>
                        <m:d>
                          <m:dPr>
                            <m:begChr m:val="|"/>
                            <m:endChr m:val=""/>
                            <m:ctrlPr>
                              <a:rPr lang="en-AU" sz="2000" i="1">
                                <a:latin typeface="Cambria Math" panose="02040503050406030204" pitchFamily="18" charset="0"/>
                              </a:rPr>
                            </m:ctrlPr>
                          </m:dPr>
                          <m:e>
                            <m:r>
                              <a:rPr lang="en-AU" sz="2000" i="1">
                                <a:latin typeface="Cambria Math" panose="02040503050406030204" pitchFamily="18" charset="0"/>
                              </a:rPr>
                              <m:t>+</m:t>
                            </m:r>
                          </m:e>
                        </m:d>
                      </m:e>
                    </m:d>
                  </m:oMath>
                </a14:m>
                <a:r>
                  <a:rPr lang="en-US" sz="2000" dirty="0"/>
                  <a:t>.</a:t>
                </a:r>
              </a:p>
              <a:p>
                <a:pPr algn="l"/>
                <a:endParaRPr lang="en-US" sz="2000" dirty="0"/>
              </a:p>
            </p:txBody>
          </p:sp>
        </mc:Choice>
        <mc:Fallback xmlns="">
          <p:sp>
            <p:nvSpPr>
              <p:cNvPr id="4" name="Text Placeholder 3">
                <a:extLst>
                  <a:ext uri="{FF2B5EF4-FFF2-40B4-BE49-F238E27FC236}">
                    <a16:creationId xmlns:a16="http://schemas.microsoft.com/office/drawing/2014/main" id="{CC24BDC7-5090-4D2D-1B33-9BBBB7C38109}"/>
                  </a:ext>
                </a:extLst>
              </p:cNvPr>
              <p:cNvSpPr txBox="1">
                <a:spLocks noRot="1" noChangeAspect="1" noMove="1" noResize="1" noEditPoints="1" noAdjustHandles="1" noChangeArrowheads="1" noChangeShapeType="1" noTextEdit="1"/>
              </p:cNvSpPr>
              <p:nvPr/>
            </p:nvSpPr>
            <p:spPr>
              <a:xfrm>
                <a:off x="6688756" y="1943813"/>
                <a:ext cx="5047593" cy="4286250"/>
              </a:xfrm>
              <a:prstGeom prst="rect">
                <a:avLst/>
              </a:prstGeom>
              <a:blipFill>
                <a:blip r:embed="rId2"/>
                <a:stretch>
                  <a:fillRect l="-1932" r="-4348" b="-5405"/>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C9A0BB09-114D-5163-1C24-D5DEA562AE28}"/>
              </a:ext>
            </a:extLst>
          </p:cNvPr>
          <p:cNvSpPr txBox="1"/>
          <p:nvPr/>
        </p:nvSpPr>
        <p:spPr>
          <a:xfrm>
            <a:off x="1717589" y="1902941"/>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pic>
        <p:nvPicPr>
          <p:cNvPr id="7" name="Picture 6">
            <a:extLst>
              <a:ext uri="{FF2B5EF4-FFF2-40B4-BE49-F238E27FC236}">
                <a16:creationId xmlns:a16="http://schemas.microsoft.com/office/drawing/2014/main" id="{90962E33-3C88-E974-6553-829AD5B426F9}"/>
              </a:ext>
            </a:extLst>
          </p:cNvPr>
          <p:cNvPicPr>
            <a:picLocks noChangeAspect="1"/>
          </p:cNvPicPr>
          <p:nvPr/>
        </p:nvPicPr>
        <p:blipFill>
          <a:blip r:embed="rId3"/>
          <a:srcRect t="6353"/>
          <a:stretch/>
        </p:blipFill>
        <p:spPr>
          <a:xfrm>
            <a:off x="4765080" y="101558"/>
            <a:ext cx="2661839" cy="1842255"/>
          </a:xfrm>
          <a:prstGeom prst="rect">
            <a:avLst/>
          </a:prstGeom>
        </p:spPr>
      </p:pic>
      <p:sp>
        <p:nvSpPr>
          <p:cNvPr id="8" name="Date Placeholder 7">
            <a:extLst>
              <a:ext uri="{FF2B5EF4-FFF2-40B4-BE49-F238E27FC236}">
                <a16:creationId xmlns:a16="http://schemas.microsoft.com/office/drawing/2014/main" id="{53AF54B2-3AD3-4FB7-65F4-FAF0E619B016}"/>
              </a:ext>
            </a:extLst>
          </p:cNvPr>
          <p:cNvSpPr>
            <a:spLocks noGrp="1"/>
          </p:cNvSpPr>
          <p:nvPr>
            <p:ph type="dt" sz="half" idx="10"/>
          </p:nvPr>
        </p:nvSpPr>
        <p:spPr/>
        <p:txBody>
          <a:bodyPr/>
          <a:lstStyle/>
          <a:p>
            <a:fld id="{2E6A25AC-9BCA-4D23-BF3C-CB3289D5ED3A}" type="datetime1">
              <a:rPr lang="en-IN" smtClean="0"/>
              <a:t>27-10-2026</a:t>
            </a:fld>
            <a:endParaRPr lang="en-IN"/>
          </a:p>
        </p:txBody>
      </p:sp>
      <p:sp>
        <p:nvSpPr>
          <p:cNvPr id="9" name="Slide Number Placeholder 8">
            <a:extLst>
              <a:ext uri="{FF2B5EF4-FFF2-40B4-BE49-F238E27FC236}">
                <a16:creationId xmlns:a16="http://schemas.microsoft.com/office/drawing/2014/main" id="{D94DD08C-6DA2-B0DB-A17E-DED274C94FF7}"/>
              </a:ext>
            </a:extLst>
          </p:cNvPr>
          <p:cNvSpPr>
            <a:spLocks noGrp="1"/>
          </p:cNvSpPr>
          <p:nvPr>
            <p:ph type="sldNum" sz="quarter" idx="12"/>
          </p:nvPr>
        </p:nvSpPr>
        <p:spPr/>
        <p:txBody>
          <a:bodyPr/>
          <a:lstStyle/>
          <a:p>
            <a:fld id="{6B099C0A-8617-4058-9F88-1F31CC4D8927}" type="slidenum">
              <a:rPr lang="en-IN" smtClean="0"/>
              <a:t>8</a:t>
            </a:fld>
            <a:endParaRPr lang="en-IN"/>
          </a:p>
        </p:txBody>
      </p:sp>
      <p:cxnSp>
        <p:nvCxnSpPr>
          <p:cNvPr id="11" name="Straight Connector 10">
            <a:extLst>
              <a:ext uri="{FF2B5EF4-FFF2-40B4-BE49-F238E27FC236}">
                <a16:creationId xmlns:a16="http://schemas.microsoft.com/office/drawing/2014/main" id="{EB7BABE5-3B54-DD88-936C-2840E5474B69}"/>
              </a:ext>
            </a:extLst>
          </p:cNvPr>
          <p:cNvCxnSpPr/>
          <p:nvPr/>
        </p:nvCxnSpPr>
        <p:spPr>
          <a:xfrm>
            <a:off x="5900286" y="2098307"/>
            <a:ext cx="0" cy="436987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165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E3E3B-EF38-CF58-FA61-39BA89DC413B}"/>
              </a:ext>
            </a:extLst>
          </p:cNvPr>
          <p:cNvSpPr txBox="1">
            <a:spLocks/>
          </p:cNvSpPr>
          <p:nvPr/>
        </p:nvSpPr>
        <p:spPr>
          <a:xfrm>
            <a:off x="287999" y="288036"/>
            <a:ext cx="3711980" cy="9532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Interference</a:t>
            </a:r>
            <a:endParaRPr lang="en-US" dirty="0"/>
          </a:p>
        </p:txBody>
      </p:sp>
      <p:sp>
        <p:nvSpPr>
          <p:cNvPr id="3" name="Text Placeholder 2">
            <a:extLst>
              <a:ext uri="{FF2B5EF4-FFF2-40B4-BE49-F238E27FC236}">
                <a16:creationId xmlns:a16="http://schemas.microsoft.com/office/drawing/2014/main" id="{CAB9CAE3-A1FB-3580-D781-49AE8867DEF5}"/>
              </a:ext>
            </a:extLst>
          </p:cNvPr>
          <p:cNvSpPr txBox="1">
            <a:spLocks/>
          </p:cNvSpPr>
          <p:nvPr/>
        </p:nvSpPr>
        <p:spPr>
          <a:xfrm>
            <a:off x="287999" y="1126156"/>
            <a:ext cx="6882822" cy="4874594"/>
          </a:xfrm>
          <a:prstGeom prst="rect">
            <a:avLst/>
          </a:prstGeom>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AU" sz="2400" b="1" dirty="0">
                <a:solidFill>
                  <a:srgbClr val="1D1C1D"/>
                </a:solidFill>
              </a:rPr>
              <a:t>Quantum interference: </a:t>
            </a:r>
            <a:r>
              <a:rPr lang="en-AU" sz="2400" dirty="0">
                <a:solidFill>
                  <a:srgbClr val="1D1C1D"/>
                </a:solidFill>
              </a:rPr>
              <a:t>occurs when two or more quantum amplitudes (associated with different possible paths or states) combine, leading to an enhancement or suppression of the total probability of an outcome due to their relative phase.</a:t>
            </a:r>
            <a:endParaRPr lang="en-AU" sz="2400" dirty="0"/>
          </a:p>
          <a:p>
            <a:pPr algn="l"/>
            <a:endParaRPr lang="en-AU" sz="2400" dirty="0">
              <a:solidFill>
                <a:schemeClr val="tx2"/>
              </a:solidFill>
            </a:endParaRPr>
          </a:p>
          <a:p>
            <a:pPr marL="285750" indent="-285750" algn="l">
              <a:buFont typeface="Arial" panose="020B0604020202020204" pitchFamily="34" charset="0"/>
              <a:buChar char="•"/>
            </a:pPr>
            <a:r>
              <a:rPr lang="en-AU" sz="2400" dirty="0">
                <a:solidFill>
                  <a:schemeClr val="tx2"/>
                </a:solidFill>
              </a:rPr>
              <a:t>Due to the wave-like nature of quantum particles</a:t>
            </a:r>
          </a:p>
          <a:p>
            <a:pPr marL="285750" indent="-285750" algn="l">
              <a:buFont typeface="Arial" panose="020B0604020202020204" pitchFamily="34" charset="0"/>
              <a:buChar char="•"/>
            </a:pPr>
            <a:r>
              <a:rPr lang="en-AU" sz="2400" dirty="0">
                <a:solidFill>
                  <a:schemeClr val="tx2"/>
                </a:solidFill>
              </a:rPr>
              <a:t>Constructive interference: waves reinforce each other</a:t>
            </a:r>
          </a:p>
          <a:p>
            <a:pPr marL="285750" indent="-285750" algn="l">
              <a:buFont typeface="Arial" panose="020B0604020202020204" pitchFamily="34" charset="0"/>
              <a:buChar char="•"/>
            </a:pPr>
            <a:r>
              <a:rPr lang="en-AU" sz="2400" dirty="0">
                <a:solidFill>
                  <a:schemeClr val="tx2"/>
                </a:solidFill>
              </a:rPr>
              <a:t>Destructive interference: waves cancel each other out</a:t>
            </a:r>
          </a:p>
          <a:p>
            <a:pPr marL="285750" indent="-285750" algn="l">
              <a:buFont typeface="Arial" panose="020B0604020202020204" pitchFamily="34" charset="0"/>
              <a:buChar char="•"/>
            </a:pPr>
            <a:r>
              <a:rPr lang="en-AU" sz="2400" dirty="0">
                <a:solidFill>
                  <a:schemeClr val="tx2"/>
                </a:solidFill>
              </a:rPr>
              <a:t>Useful for algorithms like Grover’s where we want to amplify certain states and reduce others</a:t>
            </a:r>
            <a:endParaRPr lang="en-US" sz="2400" dirty="0">
              <a:solidFill>
                <a:schemeClr val="tx2"/>
              </a:solidFill>
            </a:endParaRPr>
          </a:p>
        </p:txBody>
      </p:sp>
      <p:sp>
        <p:nvSpPr>
          <p:cNvPr id="4" name="Slide Number Placeholder 5">
            <a:extLst>
              <a:ext uri="{FF2B5EF4-FFF2-40B4-BE49-F238E27FC236}">
                <a16:creationId xmlns:a16="http://schemas.microsoft.com/office/drawing/2014/main" id="{1BC93498-66E3-DE79-2EB4-F40506C4222B}"/>
              </a:ext>
            </a:extLst>
          </p:cNvPr>
          <p:cNvSpPr txBox="1">
            <a:spLocks/>
          </p:cNvSpPr>
          <p:nvPr/>
        </p:nvSpPr>
        <p:spPr>
          <a:xfrm>
            <a:off x="11769264" y="6469419"/>
            <a:ext cx="135436" cy="12311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 name="TextBox 4">
            <a:extLst>
              <a:ext uri="{FF2B5EF4-FFF2-40B4-BE49-F238E27FC236}">
                <a16:creationId xmlns:a16="http://schemas.microsoft.com/office/drawing/2014/main" id="{960FEDE3-7938-A971-20DE-B23B08D1F237}"/>
              </a:ext>
            </a:extLst>
          </p:cNvPr>
          <p:cNvSpPr txBox="1"/>
          <p:nvPr/>
        </p:nvSpPr>
        <p:spPr>
          <a:xfrm>
            <a:off x="1075038" y="229835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pic>
        <p:nvPicPr>
          <p:cNvPr id="6" name="Picture 5" descr="Amplitude visualization&#10;">
            <a:extLst>
              <a:ext uri="{FF2B5EF4-FFF2-40B4-BE49-F238E27FC236}">
                <a16:creationId xmlns:a16="http://schemas.microsoft.com/office/drawing/2014/main" id="{636185BF-162C-AEEE-94BD-80B5510BEBCC}"/>
              </a:ext>
            </a:extLst>
          </p:cNvPr>
          <p:cNvPicPr>
            <a:picLocks noChangeAspect="1"/>
          </p:cNvPicPr>
          <p:nvPr/>
        </p:nvPicPr>
        <p:blipFill>
          <a:blip r:embed="rId2"/>
          <a:stretch>
            <a:fillRect/>
          </a:stretch>
        </p:blipFill>
        <p:spPr>
          <a:xfrm>
            <a:off x="7359266" y="1765033"/>
            <a:ext cx="4477716" cy="2573293"/>
          </a:xfrm>
          <a:prstGeom prst="rect">
            <a:avLst/>
          </a:prstGeom>
        </p:spPr>
      </p:pic>
      <p:sp>
        <p:nvSpPr>
          <p:cNvPr id="8" name="Date Placeholder 7">
            <a:extLst>
              <a:ext uri="{FF2B5EF4-FFF2-40B4-BE49-F238E27FC236}">
                <a16:creationId xmlns:a16="http://schemas.microsoft.com/office/drawing/2014/main" id="{7FD3F433-BF2A-16D3-0C46-7332E3195F3C}"/>
              </a:ext>
            </a:extLst>
          </p:cNvPr>
          <p:cNvSpPr>
            <a:spLocks noGrp="1"/>
          </p:cNvSpPr>
          <p:nvPr>
            <p:ph type="dt" sz="half" idx="10"/>
          </p:nvPr>
        </p:nvSpPr>
        <p:spPr/>
        <p:txBody>
          <a:bodyPr/>
          <a:lstStyle/>
          <a:p>
            <a:fld id="{F4E0EE8E-D333-406A-8F75-E901E02E1AEB}" type="datetime1">
              <a:rPr lang="en-IN" smtClean="0"/>
              <a:t>27-10-2026</a:t>
            </a:fld>
            <a:endParaRPr lang="en-IN"/>
          </a:p>
        </p:txBody>
      </p:sp>
      <p:sp>
        <p:nvSpPr>
          <p:cNvPr id="9" name="Slide Number Placeholder 8">
            <a:extLst>
              <a:ext uri="{FF2B5EF4-FFF2-40B4-BE49-F238E27FC236}">
                <a16:creationId xmlns:a16="http://schemas.microsoft.com/office/drawing/2014/main" id="{AAED17F4-129A-7234-2F3B-62D4977817D4}"/>
              </a:ext>
            </a:extLst>
          </p:cNvPr>
          <p:cNvSpPr>
            <a:spLocks noGrp="1"/>
          </p:cNvSpPr>
          <p:nvPr>
            <p:ph type="sldNum" sz="quarter" idx="12"/>
          </p:nvPr>
        </p:nvSpPr>
        <p:spPr/>
        <p:txBody>
          <a:bodyPr/>
          <a:lstStyle/>
          <a:p>
            <a:fld id="{6B099C0A-8617-4058-9F88-1F31CC4D8927}" type="slidenum">
              <a:rPr lang="en-IN" smtClean="0"/>
              <a:t>9</a:t>
            </a:fld>
            <a:endParaRPr lang="en-IN"/>
          </a:p>
        </p:txBody>
      </p:sp>
    </p:spTree>
    <p:extLst>
      <p:ext uri="{BB962C8B-B14F-4D97-AF65-F5344CB8AC3E}">
        <p14:creationId xmlns:p14="http://schemas.microsoft.com/office/powerpoint/2010/main" val="4273253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38B08-A418-6EBA-D958-F456C35B6236}"/>
              </a:ext>
            </a:extLst>
          </p:cNvPr>
          <p:cNvSpPr txBox="1">
            <a:spLocks/>
          </p:cNvSpPr>
          <p:nvPr/>
        </p:nvSpPr>
        <p:spPr>
          <a:xfrm>
            <a:off x="287999" y="288036"/>
            <a:ext cx="3711980" cy="9532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Operations on a qubit - demonstration</a:t>
            </a:r>
            <a:endParaRPr lang="en-US" dirty="0"/>
          </a:p>
        </p:txBody>
      </p:sp>
      <p:sp>
        <p:nvSpPr>
          <p:cNvPr id="3" name="Slide Number Placeholder 5">
            <a:extLst>
              <a:ext uri="{FF2B5EF4-FFF2-40B4-BE49-F238E27FC236}">
                <a16:creationId xmlns:a16="http://schemas.microsoft.com/office/drawing/2014/main" id="{CE05C39B-062F-8106-D64D-225E10B24FDA}"/>
              </a:ext>
            </a:extLst>
          </p:cNvPr>
          <p:cNvSpPr txBox="1">
            <a:spLocks/>
          </p:cNvSpPr>
          <p:nvPr/>
        </p:nvSpPr>
        <p:spPr>
          <a:xfrm>
            <a:off x="11769264" y="6469419"/>
            <a:ext cx="135436" cy="12311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 name="TextBox 3">
            <a:extLst>
              <a:ext uri="{FF2B5EF4-FFF2-40B4-BE49-F238E27FC236}">
                <a16:creationId xmlns:a16="http://schemas.microsoft.com/office/drawing/2014/main" id="{23EC0307-4DF9-CE8D-A10A-DC6CAB1D63A2}"/>
              </a:ext>
            </a:extLst>
          </p:cNvPr>
          <p:cNvSpPr txBox="1"/>
          <p:nvPr/>
        </p:nvSpPr>
        <p:spPr>
          <a:xfrm>
            <a:off x="1075038" y="229835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pic>
        <p:nvPicPr>
          <p:cNvPr id="5" name="Picture 4" descr="A picture containing night sky&#10;&#10;Description automatically generated">
            <a:extLst>
              <a:ext uri="{FF2B5EF4-FFF2-40B4-BE49-F238E27FC236}">
                <a16:creationId xmlns:a16="http://schemas.microsoft.com/office/drawing/2014/main" id="{2AFB1F29-B559-0D0D-1C9C-6ECCF5E9B7E8}"/>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152812" y="1161011"/>
            <a:ext cx="4220982" cy="4484793"/>
          </a:xfrm>
          <a:prstGeom prst="rect">
            <a:avLst/>
          </a:prstGeom>
        </p:spPr>
      </p:pic>
      <p:cxnSp>
        <p:nvCxnSpPr>
          <p:cNvPr id="6" name="Straight Arrow Connector 5">
            <a:extLst>
              <a:ext uri="{FF2B5EF4-FFF2-40B4-BE49-F238E27FC236}">
                <a16:creationId xmlns:a16="http://schemas.microsoft.com/office/drawing/2014/main" id="{5B5AE8C7-3903-22F9-77EB-B254F90F4970}"/>
              </a:ext>
            </a:extLst>
          </p:cNvPr>
          <p:cNvCxnSpPr>
            <a:cxnSpLocks/>
          </p:cNvCxnSpPr>
          <p:nvPr/>
        </p:nvCxnSpPr>
        <p:spPr bwMode="auto">
          <a:xfrm flipV="1">
            <a:off x="5955077" y="1721977"/>
            <a:ext cx="0" cy="1799065"/>
          </a:xfrm>
          <a:prstGeom prst="straightConnector1">
            <a:avLst/>
          </a:prstGeom>
          <a:ln w="38100">
            <a:solidFill>
              <a:schemeClr val="accent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B86F2E1E-F1BF-D0D0-064C-BBF4E7A508B5}"/>
              </a:ext>
            </a:extLst>
          </p:cNvPr>
          <p:cNvCxnSpPr>
            <a:cxnSpLocks/>
          </p:cNvCxnSpPr>
          <p:nvPr/>
        </p:nvCxnSpPr>
        <p:spPr bwMode="auto">
          <a:xfrm>
            <a:off x="5955077" y="3521042"/>
            <a:ext cx="0" cy="1792274"/>
          </a:xfrm>
          <a:prstGeom prst="straightConnector1">
            <a:avLst/>
          </a:prstGeom>
          <a:ln w="38100">
            <a:solidFill>
              <a:schemeClr val="accent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90ECEFE4-C857-DF3E-42EB-96F56D4DF8BF}"/>
              </a:ext>
            </a:extLst>
          </p:cNvPr>
          <p:cNvCxnSpPr>
            <a:cxnSpLocks/>
          </p:cNvCxnSpPr>
          <p:nvPr/>
        </p:nvCxnSpPr>
        <p:spPr bwMode="auto">
          <a:xfrm flipH="1">
            <a:off x="5522396" y="3521042"/>
            <a:ext cx="432681" cy="427300"/>
          </a:xfrm>
          <a:prstGeom prst="straightConnector1">
            <a:avLst/>
          </a:prstGeom>
          <a:ln w="38100">
            <a:solidFill>
              <a:schemeClr val="accent2"/>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9" name="Date Placeholder 8">
            <a:extLst>
              <a:ext uri="{FF2B5EF4-FFF2-40B4-BE49-F238E27FC236}">
                <a16:creationId xmlns:a16="http://schemas.microsoft.com/office/drawing/2014/main" id="{F5D7579D-CE68-11CD-CD86-1E071108867C}"/>
              </a:ext>
            </a:extLst>
          </p:cNvPr>
          <p:cNvSpPr>
            <a:spLocks noGrp="1"/>
          </p:cNvSpPr>
          <p:nvPr>
            <p:ph type="dt" sz="half" idx="10"/>
          </p:nvPr>
        </p:nvSpPr>
        <p:spPr/>
        <p:txBody>
          <a:bodyPr/>
          <a:lstStyle/>
          <a:p>
            <a:fld id="{BFF9B885-49DF-4C38-A1DF-1B19C849B315}" type="datetime1">
              <a:rPr lang="en-IN" smtClean="0"/>
              <a:t>27-10-2026</a:t>
            </a:fld>
            <a:endParaRPr lang="en-IN"/>
          </a:p>
        </p:txBody>
      </p:sp>
      <p:sp>
        <p:nvSpPr>
          <p:cNvPr id="10" name="Slide Number Placeholder 9">
            <a:extLst>
              <a:ext uri="{FF2B5EF4-FFF2-40B4-BE49-F238E27FC236}">
                <a16:creationId xmlns:a16="http://schemas.microsoft.com/office/drawing/2014/main" id="{7BBEE4B1-AD59-E9FD-74AF-0139AF0AC642}"/>
              </a:ext>
            </a:extLst>
          </p:cNvPr>
          <p:cNvSpPr>
            <a:spLocks noGrp="1"/>
          </p:cNvSpPr>
          <p:nvPr>
            <p:ph type="sldNum" sz="quarter" idx="12"/>
          </p:nvPr>
        </p:nvSpPr>
        <p:spPr/>
        <p:txBody>
          <a:bodyPr/>
          <a:lstStyle/>
          <a:p>
            <a:fld id="{6B099C0A-8617-4058-9F88-1F31CC4D8927}" type="slidenum">
              <a:rPr lang="en-IN" smtClean="0"/>
              <a:t>10</a:t>
            </a:fld>
            <a:endParaRPr lang="en-IN"/>
          </a:p>
        </p:txBody>
      </p:sp>
    </p:spTree>
    <p:extLst>
      <p:ext uri="{BB962C8B-B14F-4D97-AF65-F5344CB8AC3E}">
        <p14:creationId xmlns:p14="http://schemas.microsoft.com/office/powerpoint/2010/main" val="704788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1DEA8-C181-395B-64DF-1C12C4F39027}"/>
              </a:ext>
            </a:extLst>
          </p:cNvPr>
          <p:cNvSpPr txBox="1">
            <a:spLocks/>
          </p:cNvSpPr>
          <p:nvPr/>
        </p:nvSpPr>
        <p:spPr>
          <a:xfrm>
            <a:off x="838200" y="50006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Bloch Sphere</a:t>
            </a:r>
            <a:endParaRPr lang="en-IN" dirty="0"/>
          </a:p>
        </p:txBody>
      </p:sp>
      <p:sp>
        <p:nvSpPr>
          <p:cNvPr id="3" name="Content Placeholder 2">
            <a:extLst>
              <a:ext uri="{FF2B5EF4-FFF2-40B4-BE49-F238E27FC236}">
                <a16:creationId xmlns:a16="http://schemas.microsoft.com/office/drawing/2014/main" id="{00F4AE31-C5FE-5413-8E9A-DA0ED33DD2AC}"/>
              </a:ext>
            </a:extLst>
          </p:cNvPr>
          <p:cNvSpPr txBox="1">
            <a:spLocks/>
          </p:cNvSpPr>
          <p:nvPr/>
        </p:nvSpPr>
        <p:spPr>
          <a:xfrm>
            <a:off x="368489" y="1825625"/>
            <a:ext cx="11218459" cy="1325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The </a:t>
            </a:r>
            <a:r>
              <a:rPr lang="en-US" b="1"/>
              <a:t>Bloch sphere</a:t>
            </a:r>
            <a:r>
              <a:rPr lang="en-US"/>
              <a:t> is a geometric way to visualize the state of a single qubit. Any pure qubit state can be represented as a point on the surface of a sphere.</a:t>
            </a:r>
            <a:endParaRPr lang="en-IN" dirty="0"/>
          </a:p>
        </p:txBody>
      </p:sp>
      <p:pic>
        <p:nvPicPr>
          <p:cNvPr id="6" name="Picture 5">
            <a:extLst>
              <a:ext uri="{FF2B5EF4-FFF2-40B4-BE49-F238E27FC236}">
                <a16:creationId xmlns:a16="http://schemas.microsoft.com/office/drawing/2014/main" id="{CABA1DB2-26BF-F48A-3992-1CF7575545EA}"/>
              </a:ext>
            </a:extLst>
          </p:cNvPr>
          <p:cNvPicPr>
            <a:picLocks noChangeAspect="1"/>
          </p:cNvPicPr>
          <p:nvPr/>
        </p:nvPicPr>
        <p:blipFill>
          <a:blip r:embed="rId2"/>
          <a:stretch>
            <a:fillRect/>
          </a:stretch>
        </p:blipFill>
        <p:spPr>
          <a:xfrm>
            <a:off x="1886159" y="2931307"/>
            <a:ext cx="8183117" cy="2715004"/>
          </a:xfrm>
          <a:prstGeom prst="rect">
            <a:avLst/>
          </a:prstGeom>
        </p:spPr>
      </p:pic>
      <p:sp>
        <p:nvSpPr>
          <p:cNvPr id="7" name="Date Placeholder 6">
            <a:extLst>
              <a:ext uri="{FF2B5EF4-FFF2-40B4-BE49-F238E27FC236}">
                <a16:creationId xmlns:a16="http://schemas.microsoft.com/office/drawing/2014/main" id="{0F979CE9-E335-17A6-7EB4-12DBB0C62DEB}"/>
              </a:ext>
            </a:extLst>
          </p:cNvPr>
          <p:cNvSpPr>
            <a:spLocks noGrp="1"/>
          </p:cNvSpPr>
          <p:nvPr>
            <p:ph type="dt" sz="half" idx="10"/>
          </p:nvPr>
        </p:nvSpPr>
        <p:spPr/>
        <p:txBody>
          <a:bodyPr/>
          <a:lstStyle/>
          <a:p>
            <a:fld id="{343FDAB4-48E0-45E7-B4DE-BD96D6D17592}" type="datetime1">
              <a:rPr lang="en-IN" smtClean="0"/>
              <a:t>27-10-2026</a:t>
            </a:fld>
            <a:endParaRPr lang="en-IN"/>
          </a:p>
        </p:txBody>
      </p:sp>
      <p:sp>
        <p:nvSpPr>
          <p:cNvPr id="8" name="Slide Number Placeholder 7">
            <a:extLst>
              <a:ext uri="{FF2B5EF4-FFF2-40B4-BE49-F238E27FC236}">
                <a16:creationId xmlns:a16="http://schemas.microsoft.com/office/drawing/2014/main" id="{7A1C8469-4F0E-EDC2-B0B4-76F547210C7B}"/>
              </a:ext>
            </a:extLst>
          </p:cNvPr>
          <p:cNvSpPr>
            <a:spLocks noGrp="1"/>
          </p:cNvSpPr>
          <p:nvPr>
            <p:ph type="sldNum" sz="quarter" idx="12"/>
          </p:nvPr>
        </p:nvSpPr>
        <p:spPr/>
        <p:txBody>
          <a:bodyPr/>
          <a:lstStyle/>
          <a:p>
            <a:fld id="{6B099C0A-8617-4058-9F88-1F31CC4D8927}" type="slidenum">
              <a:rPr lang="en-IN" smtClean="0"/>
              <a:t>11</a:t>
            </a:fld>
            <a:endParaRPr lang="en-IN"/>
          </a:p>
        </p:txBody>
      </p:sp>
    </p:spTree>
    <p:extLst>
      <p:ext uri="{BB962C8B-B14F-4D97-AF65-F5344CB8AC3E}">
        <p14:creationId xmlns:p14="http://schemas.microsoft.com/office/powerpoint/2010/main" val="3027131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D1721-C52D-6D52-BB5E-86528031DC32}"/>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Bloch Sphere</a:t>
            </a:r>
            <a:endParaRPr lang="en-IN" dirty="0"/>
          </a:p>
        </p:txBody>
      </p:sp>
      <p:sp>
        <p:nvSpPr>
          <p:cNvPr id="3" name="Content Placeholder 2">
            <a:extLst>
              <a:ext uri="{FF2B5EF4-FFF2-40B4-BE49-F238E27FC236}">
                <a16:creationId xmlns:a16="http://schemas.microsoft.com/office/drawing/2014/main" id="{8504BF22-1469-D102-0C8C-6975A7C05528}"/>
              </a:ext>
            </a:extLst>
          </p:cNvPr>
          <p:cNvSpPr txBox="1">
            <a:spLocks/>
          </p:cNvSpPr>
          <p:nvPr/>
        </p:nvSpPr>
        <p:spPr>
          <a:xfrm>
            <a:off x="838200" y="1825625"/>
            <a:ext cx="5181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 qubit can occupy any point in the sphere, called a Bloch sphere.</a:t>
            </a:r>
          </a:p>
          <a:p>
            <a:endParaRPr lang="en-US"/>
          </a:p>
          <a:p>
            <a:r>
              <a:rPr lang="en-IN">
                <a:hlinkClick r:id="rId2"/>
              </a:rPr>
              <a:t>https://javafxpert.github.io/grok-bloch/</a:t>
            </a:r>
            <a:endParaRPr lang="en-IN"/>
          </a:p>
          <a:p>
            <a:endParaRPr lang="en-IN" dirty="0"/>
          </a:p>
        </p:txBody>
      </p:sp>
      <p:pic>
        <p:nvPicPr>
          <p:cNvPr id="6" name="Picture 2" descr="X$ axes interpreted in the Bloch sphere ...">
            <a:extLst>
              <a:ext uri="{FF2B5EF4-FFF2-40B4-BE49-F238E27FC236}">
                <a16:creationId xmlns:a16="http://schemas.microsoft.com/office/drawing/2014/main" id="{053D2925-3E21-E9EE-0405-3AA910CFB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0" y="748505"/>
            <a:ext cx="4648200" cy="5196337"/>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DCACD807-4E5C-BC20-E6F8-510BADD277F9}"/>
              </a:ext>
            </a:extLst>
          </p:cNvPr>
          <p:cNvSpPr>
            <a:spLocks noGrp="1"/>
          </p:cNvSpPr>
          <p:nvPr>
            <p:ph type="dt" sz="half" idx="10"/>
          </p:nvPr>
        </p:nvSpPr>
        <p:spPr/>
        <p:txBody>
          <a:bodyPr/>
          <a:lstStyle/>
          <a:p>
            <a:fld id="{1986DCAB-C771-46F5-8531-44D25C7A27AB}" type="datetime1">
              <a:rPr lang="en-IN" smtClean="0"/>
              <a:t>27-10-2026</a:t>
            </a:fld>
            <a:endParaRPr lang="en-IN"/>
          </a:p>
        </p:txBody>
      </p:sp>
      <p:sp>
        <p:nvSpPr>
          <p:cNvPr id="8" name="Slide Number Placeholder 7">
            <a:extLst>
              <a:ext uri="{FF2B5EF4-FFF2-40B4-BE49-F238E27FC236}">
                <a16:creationId xmlns:a16="http://schemas.microsoft.com/office/drawing/2014/main" id="{B11C9344-57E0-0DB4-E174-333315B8DBCE}"/>
              </a:ext>
            </a:extLst>
          </p:cNvPr>
          <p:cNvSpPr>
            <a:spLocks noGrp="1"/>
          </p:cNvSpPr>
          <p:nvPr>
            <p:ph type="sldNum" sz="quarter" idx="12"/>
          </p:nvPr>
        </p:nvSpPr>
        <p:spPr/>
        <p:txBody>
          <a:bodyPr/>
          <a:lstStyle/>
          <a:p>
            <a:fld id="{6B099C0A-8617-4058-9F88-1F31CC4D8927}" type="slidenum">
              <a:rPr lang="en-IN" smtClean="0"/>
              <a:t>12</a:t>
            </a:fld>
            <a:endParaRPr lang="en-IN"/>
          </a:p>
        </p:txBody>
      </p:sp>
    </p:spTree>
    <p:extLst>
      <p:ext uri="{BB962C8B-B14F-4D97-AF65-F5344CB8AC3E}">
        <p14:creationId xmlns:p14="http://schemas.microsoft.com/office/powerpoint/2010/main" val="335466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9C5D01FA-1E5D-61C6-39CF-90B8037D562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t>Quantum Entanglement</a:t>
            </a:r>
            <a:endParaRPr lang="en-IN" dirty="0"/>
          </a:p>
        </p:txBody>
      </p:sp>
      <p:sp>
        <p:nvSpPr>
          <p:cNvPr id="3" name="Content Placeholder 7">
            <a:extLst>
              <a:ext uri="{FF2B5EF4-FFF2-40B4-BE49-F238E27FC236}">
                <a16:creationId xmlns:a16="http://schemas.microsoft.com/office/drawing/2014/main" id="{DDDDD9A5-D0EC-9427-E168-76D57A57FBCB}"/>
              </a:ext>
            </a:extLst>
          </p:cNvPr>
          <p:cNvSpPr txBox="1">
            <a:spLocks/>
          </p:cNvSpPr>
          <p:nvPr/>
        </p:nvSpPr>
        <p:spPr>
          <a:xfrm>
            <a:off x="400050" y="1825625"/>
            <a:ext cx="1095375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When both qubits are in the same state</a:t>
            </a:r>
          </a:p>
          <a:p>
            <a:r>
              <a:rPr lang="en-US"/>
              <a:t>These are </a:t>
            </a:r>
            <a:r>
              <a:rPr lang="en-US" b="1"/>
              <a:t>correlated entangled states</a:t>
            </a:r>
            <a:r>
              <a:rPr lang="en-US"/>
              <a:t>.</a:t>
            </a:r>
          </a:p>
          <a:p>
            <a:pPr marL="0" indent="0">
              <a:buFont typeface="Arial" panose="020B0604020202020204" pitchFamily="34" charset="0"/>
              <a:buNone/>
            </a:pPr>
            <a:endParaRPr lang="en-US"/>
          </a:p>
          <a:p>
            <a:endParaRPr lang="en-US"/>
          </a:p>
          <a:p>
            <a:r>
              <a:rPr lang="en-US" b="1"/>
              <a:t>When both qubits are in opposite states</a:t>
            </a:r>
          </a:p>
          <a:p>
            <a:r>
              <a:rPr lang="en-US"/>
              <a:t>These are </a:t>
            </a:r>
            <a:r>
              <a:rPr lang="en-US" b="1"/>
              <a:t>anti-correlated entangled states</a:t>
            </a:r>
            <a:r>
              <a:rPr lang="en-US"/>
              <a:t>.</a:t>
            </a:r>
          </a:p>
          <a:p>
            <a:endParaRPr lang="en-IN" dirty="0"/>
          </a:p>
        </p:txBody>
      </p:sp>
      <p:pic>
        <p:nvPicPr>
          <p:cNvPr id="6" name="Picture 5">
            <a:extLst>
              <a:ext uri="{FF2B5EF4-FFF2-40B4-BE49-F238E27FC236}">
                <a16:creationId xmlns:a16="http://schemas.microsoft.com/office/drawing/2014/main" id="{6EE5D041-79A3-8737-6BF3-5728FEC9427E}"/>
              </a:ext>
            </a:extLst>
          </p:cNvPr>
          <p:cNvPicPr>
            <a:picLocks noChangeAspect="1"/>
          </p:cNvPicPr>
          <p:nvPr/>
        </p:nvPicPr>
        <p:blipFill>
          <a:blip r:embed="rId2"/>
          <a:stretch>
            <a:fillRect/>
          </a:stretch>
        </p:blipFill>
        <p:spPr>
          <a:xfrm>
            <a:off x="7467339" y="1330329"/>
            <a:ext cx="3867690" cy="1095528"/>
          </a:xfrm>
          <a:prstGeom prst="rect">
            <a:avLst/>
          </a:prstGeom>
        </p:spPr>
      </p:pic>
      <p:pic>
        <p:nvPicPr>
          <p:cNvPr id="7" name="Picture 6">
            <a:extLst>
              <a:ext uri="{FF2B5EF4-FFF2-40B4-BE49-F238E27FC236}">
                <a16:creationId xmlns:a16="http://schemas.microsoft.com/office/drawing/2014/main" id="{4E8A7F37-3B9D-AE4F-0867-F6F94F68B440}"/>
              </a:ext>
            </a:extLst>
          </p:cNvPr>
          <p:cNvPicPr>
            <a:picLocks noChangeAspect="1"/>
          </p:cNvPicPr>
          <p:nvPr/>
        </p:nvPicPr>
        <p:blipFill>
          <a:blip r:embed="rId3"/>
          <a:stretch>
            <a:fillRect/>
          </a:stretch>
        </p:blipFill>
        <p:spPr>
          <a:xfrm>
            <a:off x="7467339" y="2323946"/>
            <a:ext cx="3734321" cy="1105054"/>
          </a:xfrm>
          <a:prstGeom prst="rect">
            <a:avLst/>
          </a:prstGeom>
        </p:spPr>
      </p:pic>
      <p:pic>
        <p:nvPicPr>
          <p:cNvPr id="8" name="Picture 7">
            <a:extLst>
              <a:ext uri="{FF2B5EF4-FFF2-40B4-BE49-F238E27FC236}">
                <a16:creationId xmlns:a16="http://schemas.microsoft.com/office/drawing/2014/main" id="{3E5CCDCE-D888-E09A-CE1E-D7E41312083B}"/>
              </a:ext>
            </a:extLst>
          </p:cNvPr>
          <p:cNvPicPr>
            <a:picLocks noChangeAspect="1"/>
          </p:cNvPicPr>
          <p:nvPr/>
        </p:nvPicPr>
        <p:blipFill>
          <a:blip r:embed="rId4"/>
          <a:srcRect t="19444"/>
          <a:stretch>
            <a:fillRect/>
          </a:stretch>
        </p:blipFill>
        <p:spPr>
          <a:xfrm>
            <a:off x="7629005" y="3697927"/>
            <a:ext cx="3724795" cy="1105054"/>
          </a:xfrm>
          <a:prstGeom prst="rect">
            <a:avLst/>
          </a:prstGeom>
        </p:spPr>
      </p:pic>
      <p:pic>
        <p:nvPicPr>
          <p:cNvPr id="9" name="Picture 8">
            <a:extLst>
              <a:ext uri="{FF2B5EF4-FFF2-40B4-BE49-F238E27FC236}">
                <a16:creationId xmlns:a16="http://schemas.microsoft.com/office/drawing/2014/main" id="{FB658442-9018-1EE2-E180-484DB0028410}"/>
              </a:ext>
            </a:extLst>
          </p:cNvPr>
          <p:cNvPicPr>
            <a:picLocks noChangeAspect="1"/>
          </p:cNvPicPr>
          <p:nvPr/>
        </p:nvPicPr>
        <p:blipFill>
          <a:blip r:embed="rId5"/>
          <a:stretch>
            <a:fillRect/>
          </a:stretch>
        </p:blipFill>
        <p:spPr>
          <a:xfrm>
            <a:off x="7552795" y="4899339"/>
            <a:ext cx="3801005" cy="1181265"/>
          </a:xfrm>
          <a:prstGeom prst="rect">
            <a:avLst/>
          </a:prstGeom>
        </p:spPr>
      </p:pic>
      <p:cxnSp>
        <p:nvCxnSpPr>
          <p:cNvPr id="10" name="Straight Connector 9">
            <a:extLst>
              <a:ext uri="{FF2B5EF4-FFF2-40B4-BE49-F238E27FC236}">
                <a16:creationId xmlns:a16="http://schemas.microsoft.com/office/drawing/2014/main" id="{F9F53F3B-BAF9-4044-1724-381A3848DE44}"/>
              </a:ext>
            </a:extLst>
          </p:cNvPr>
          <p:cNvCxnSpPr/>
          <p:nvPr/>
        </p:nvCxnSpPr>
        <p:spPr>
          <a:xfrm>
            <a:off x="323850" y="3543300"/>
            <a:ext cx="11610975" cy="0"/>
          </a:xfrm>
          <a:prstGeom prst="line">
            <a:avLst/>
          </a:prstGeom>
          <a:ln w="28575"/>
        </p:spPr>
        <p:style>
          <a:lnRef idx="1">
            <a:schemeClr val="dk1"/>
          </a:lnRef>
          <a:fillRef idx="0">
            <a:schemeClr val="dk1"/>
          </a:fillRef>
          <a:effectRef idx="0">
            <a:schemeClr val="dk1"/>
          </a:effectRef>
          <a:fontRef idx="minor">
            <a:schemeClr val="tx1"/>
          </a:fontRef>
        </p:style>
      </p:cxnSp>
      <p:sp>
        <p:nvSpPr>
          <p:cNvPr id="11" name="Date Placeholder 10">
            <a:extLst>
              <a:ext uri="{FF2B5EF4-FFF2-40B4-BE49-F238E27FC236}">
                <a16:creationId xmlns:a16="http://schemas.microsoft.com/office/drawing/2014/main" id="{23B01DD3-C4E2-7E60-89D4-F00593075B02}"/>
              </a:ext>
            </a:extLst>
          </p:cNvPr>
          <p:cNvSpPr>
            <a:spLocks noGrp="1"/>
          </p:cNvSpPr>
          <p:nvPr>
            <p:ph type="dt" sz="half" idx="10"/>
          </p:nvPr>
        </p:nvSpPr>
        <p:spPr/>
        <p:txBody>
          <a:bodyPr/>
          <a:lstStyle/>
          <a:p>
            <a:fld id="{61F7D313-F121-4293-A7B9-B2F33CAFA9DA}" type="datetime1">
              <a:rPr lang="en-IN" smtClean="0"/>
              <a:t>27-10-2026</a:t>
            </a:fld>
            <a:endParaRPr lang="en-IN"/>
          </a:p>
        </p:txBody>
      </p:sp>
      <p:sp>
        <p:nvSpPr>
          <p:cNvPr id="12" name="Slide Number Placeholder 11">
            <a:extLst>
              <a:ext uri="{FF2B5EF4-FFF2-40B4-BE49-F238E27FC236}">
                <a16:creationId xmlns:a16="http://schemas.microsoft.com/office/drawing/2014/main" id="{EF61E688-02F2-E259-DFDB-A6B9C9CE57D4}"/>
              </a:ext>
            </a:extLst>
          </p:cNvPr>
          <p:cNvSpPr>
            <a:spLocks noGrp="1"/>
          </p:cNvSpPr>
          <p:nvPr>
            <p:ph type="sldNum" sz="quarter" idx="12"/>
          </p:nvPr>
        </p:nvSpPr>
        <p:spPr/>
        <p:txBody>
          <a:bodyPr/>
          <a:lstStyle/>
          <a:p>
            <a:fld id="{6B099C0A-8617-4058-9F88-1F31CC4D8927}" type="slidenum">
              <a:rPr lang="en-IN" smtClean="0"/>
              <a:t>13</a:t>
            </a:fld>
            <a:endParaRPr lang="en-IN"/>
          </a:p>
        </p:txBody>
      </p:sp>
    </p:spTree>
    <p:extLst>
      <p:ext uri="{BB962C8B-B14F-4D97-AF65-F5344CB8AC3E}">
        <p14:creationId xmlns:p14="http://schemas.microsoft.com/office/powerpoint/2010/main" val="14391156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BAB43A-19DD-0AEA-A8A3-50F7C895A472}"/>
              </a:ext>
            </a:extLst>
          </p:cNvPr>
          <p:cNvPicPr>
            <a:picLocks noChangeAspect="1"/>
          </p:cNvPicPr>
          <p:nvPr/>
        </p:nvPicPr>
        <p:blipFill>
          <a:blip r:embed="rId2"/>
          <a:stretch>
            <a:fillRect/>
          </a:stretch>
        </p:blipFill>
        <p:spPr>
          <a:xfrm>
            <a:off x="1312545" y="1187449"/>
            <a:ext cx="9469755" cy="5260976"/>
          </a:xfrm>
          <a:prstGeom prst="rect">
            <a:avLst/>
          </a:prstGeom>
        </p:spPr>
      </p:pic>
      <p:sp>
        <p:nvSpPr>
          <p:cNvPr id="4" name="Title 3">
            <a:extLst>
              <a:ext uri="{FF2B5EF4-FFF2-40B4-BE49-F238E27FC236}">
                <a16:creationId xmlns:a16="http://schemas.microsoft.com/office/drawing/2014/main" id="{C41C7183-160D-5383-3358-F24795E4261C}"/>
              </a:ext>
            </a:extLst>
          </p:cNvPr>
          <p:cNvSpPr>
            <a:spLocks noGrp="1"/>
          </p:cNvSpPr>
          <p:nvPr>
            <p:ph type="title"/>
          </p:nvPr>
        </p:nvSpPr>
        <p:spPr>
          <a:xfrm>
            <a:off x="685800" y="260350"/>
            <a:ext cx="10515600" cy="812799"/>
          </a:xfrm>
        </p:spPr>
        <p:txBody>
          <a:bodyPr/>
          <a:lstStyle/>
          <a:p>
            <a:r>
              <a:rPr lang="en-US" dirty="0"/>
              <a:t>Tensor Product</a:t>
            </a:r>
            <a:endParaRPr lang="en-IN" dirty="0"/>
          </a:p>
        </p:txBody>
      </p:sp>
      <p:sp>
        <p:nvSpPr>
          <p:cNvPr id="5" name="TextBox 4">
            <a:extLst>
              <a:ext uri="{FF2B5EF4-FFF2-40B4-BE49-F238E27FC236}">
                <a16:creationId xmlns:a16="http://schemas.microsoft.com/office/drawing/2014/main" id="{43D1C9F6-E7EE-7E2A-D4E2-C78660D4159E}"/>
              </a:ext>
            </a:extLst>
          </p:cNvPr>
          <p:cNvSpPr txBox="1"/>
          <p:nvPr/>
        </p:nvSpPr>
        <p:spPr>
          <a:xfrm>
            <a:off x="1962150" y="6448425"/>
            <a:ext cx="4491229" cy="369332"/>
          </a:xfrm>
          <a:prstGeom prst="rect">
            <a:avLst/>
          </a:prstGeom>
          <a:noFill/>
        </p:spPr>
        <p:txBody>
          <a:bodyPr wrap="none" rtlCol="0">
            <a:spAutoFit/>
          </a:bodyPr>
          <a:lstStyle/>
          <a:p>
            <a:r>
              <a:rPr lang="en-IN" dirty="0"/>
              <a:t>https://en.wikipedia.org/wiki/Tensor_product</a:t>
            </a:r>
          </a:p>
        </p:txBody>
      </p:sp>
      <p:sp>
        <p:nvSpPr>
          <p:cNvPr id="6" name="Date Placeholder 5">
            <a:extLst>
              <a:ext uri="{FF2B5EF4-FFF2-40B4-BE49-F238E27FC236}">
                <a16:creationId xmlns:a16="http://schemas.microsoft.com/office/drawing/2014/main" id="{8A6761A3-D924-716F-0CAD-668AD4CCFE0A}"/>
              </a:ext>
            </a:extLst>
          </p:cNvPr>
          <p:cNvSpPr>
            <a:spLocks noGrp="1"/>
          </p:cNvSpPr>
          <p:nvPr>
            <p:ph type="dt" sz="half" idx="10"/>
          </p:nvPr>
        </p:nvSpPr>
        <p:spPr/>
        <p:txBody>
          <a:bodyPr/>
          <a:lstStyle/>
          <a:p>
            <a:fld id="{A550754F-4AD8-4499-ADED-7EA29DC7A98D}" type="datetime1">
              <a:rPr lang="en-IN" smtClean="0"/>
              <a:t>27-10-2026</a:t>
            </a:fld>
            <a:endParaRPr lang="en-IN"/>
          </a:p>
        </p:txBody>
      </p:sp>
      <p:sp>
        <p:nvSpPr>
          <p:cNvPr id="7" name="Slide Number Placeholder 6">
            <a:extLst>
              <a:ext uri="{FF2B5EF4-FFF2-40B4-BE49-F238E27FC236}">
                <a16:creationId xmlns:a16="http://schemas.microsoft.com/office/drawing/2014/main" id="{48E5BE09-050D-8842-126F-1141FC7B72A6}"/>
              </a:ext>
            </a:extLst>
          </p:cNvPr>
          <p:cNvSpPr>
            <a:spLocks noGrp="1"/>
          </p:cNvSpPr>
          <p:nvPr>
            <p:ph type="sldNum" sz="quarter" idx="12"/>
          </p:nvPr>
        </p:nvSpPr>
        <p:spPr/>
        <p:txBody>
          <a:bodyPr/>
          <a:lstStyle/>
          <a:p>
            <a:fld id="{6B099C0A-8617-4058-9F88-1F31CC4D8927}" type="slidenum">
              <a:rPr lang="en-IN" smtClean="0"/>
              <a:t>14</a:t>
            </a:fld>
            <a:endParaRPr lang="en-IN"/>
          </a:p>
        </p:txBody>
      </p:sp>
    </p:spTree>
    <p:extLst>
      <p:ext uri="{BB962C8B-B14F-4D97-AF65-F5344CB8AC3E}">
        <p14:creationId xmlns:p14="http://schemas.microsoft.com/office/powerpoint/2010/main" val="579874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E5AC-8D5F-0313-0029-F50A865CFE7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t>Quantum circuits</a:t>
            </a:r>
            <a:endParaRPr lang="en-IN" dirty="0"/>
          </a:p>
        </p:txBody>
      </p:sp>
      <p:sp>
        <p:nvSpPr>
          <p:cNvPr id="3" name="Content Placeholder 2">
            <a:extLst>
              <a:ext uri="{FF2B5EF4-FFF2-40B4-BE49-F238E27FC236}">
                <a16:creationId xmlns:a16="http://schemas.microsoft.com/office/drawing/2014/main" id="{6B4B64FF-8EAB-C508-D0FE-5F0964AD7888}"/>
              </a:ext>
            </a:extLst>
          </p:cNvPr>
          <p:cNvSpPr txBox="1">
            <a:spLocks/>
          </p:cNvSpPr>
          <p:nvPr/>
        </p:nvSpPr>
        <p:spPr>
          <a:xfrm>
            <a:off x="838200" y="18256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t>Analogous to the way a classical computer is built from an electrical circuit containing wires and logic gates, a quantum computer is built from a quantum circuit containing wires and elementary quantum gates to carry around and manipulate the quantum information.</a:t>
            </a:r>
            <a:endParaRPr lang="en-IN" sz="4000" dirty="0"/>
          </a:p>
        </p:txBody>
      </p:sp>
      <p:sp>
        <p:nvSpPr>
          <p:cNvPr id="6" name="Date Placeholder 5">
            <a:extLst>
              <a:ext uri="{FF2B5EF4-FFF2-40B4-BE49-F238E27FC236}">
                <a16:creationId xmlns:a16="http://schemas.microsoft.com/office/drawing/2014/main" id="{DFE03BA2-1F83-81BD-FDDD-DD36BB3E498E}"/>
              </a:ext>
            </a:extLst>
          </p:cNvPr>
          <p:cNvSpPr>
            <a:spLocks noGrp="1"/>
          </p:cNvSpPr>
          <p:nvPr>
            <p:ph type="dt" sz="half" idx="10"/>
          </p:nvPr>
        </p:nvSpPr>
        <p:spPr/>
        <p:txBody>
          <a:bodyPr/>
          <a:lstStyle/>
          <a:p>
            <a:fld id="{47592D4A-5721-4E04-955C-5CB823F18B0F}" type="datetime1">
              <a:rPr lang="en-IN" smtClean="0"/>
              <a:t>27-10-2026</a:t>
            </a:fld>
            <a:endParaRPr lang="en-IN"/>
          </a:p>
        </p:txBody>
      </p:sp>
      <p:sp>
        <p:nvSpPr>
          <p:cNvPr id="7" name="Slide Number Placeholder 6">
            <a:extLst>
              <a:ext uri="{FF2B5EF4-FFF2-40B4-BE49-F238E27FC236}">
                <a16:creationId xmlns:a16="http://schemas.microsoft.com/office/drawing/2014/main" id="{3ADABCF4-895E-04C7-4F1C-787F77358D84}"/>
              </a:ext>
            </a:extLst>
          </p:cNvPr>
          <p:cNvSpPr>
            <a:spLocks noGrp="1"/>
          </p:cNvSpPr>
          <p:nvPr>
            <p:ph type="sldNum" sz="quarter" idx="12"/>
          </p:nvPr>
        </p:nvSpPr>
        <p:spPr/>
        <p:txBody>
          <a:bodyPr/>
          <a:lstStyle/>
          <a:p>
            <a:fld id="{6B099C0A-8617-4058-9F88-1F31CC4D8927}" type="slidenum">
              <a:rPr lang="en-IN" smtClean="0"/>
              <a:t>15</a:t>
            </a:fld>
            <a:endParaRPr lang="en-IN"/>
          </a:p>
        </p:txBody>
      </p:sp>
    </p:spTree>
    <p:extLst>
      <p:ext uri="{BB962C8B-B14F-4D97-AF65-F5344CB8AC3E}">
        <p14:creationId xmlns:p14="http://schemas.microsoft.com/office/powerpoint/2010/main" val="426190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5EF0-25BA-6363-F8CA-5BFB33B5B8E7}"/>
              </a:ext>
            </a:extLst>
          </p:cNvPr>
          <p:cNvSpPr>
            <a:spLocks noGrp="1"/>
          </p:cNvSpPr>
          <p:nvPr>
            <p:ph type="title"/>
          </p:nvPr>
        </p:nvSpPr>
        <p:spPr>
          <a:xfrm>
            <a:off x="838200" y="365125"/>
            <a:ext cx="10515600" cy="720725"/>
          </a:xfrm>
        </p:spPr>
        <p:txBody>
          <a:bodyPr/>
          <a:lstStyle/>
          <a:p>
            <a:r>
              <a:rPr lang="en-US" dirty="0"/>
              <a:t>Common Gates</a:t>
            </a:r>
            <a:endParaRPr lang="en-IN" dirty="0"/>
          </a:p>
        </p:txBody>
      </p:sp>
      <p:pic>
        <p:nvPicPr>
          <p:cNvPr id="3" name="Picture 2">
            <a:extLst>
              <a:ext uri="{FF2B5EF4-FFF2-40B4-BE49-F238E27FC236}">
                <a16:creationId xmlns:a16="http://schemas.microsoft.com/office/drawing/2014/main" id="{B5EF8359-CC02-33EE-3538-619311391DC9}"/>
              </a:ext>
            </a:extLst>
          </p:cNvPr>
          <p:cNvPicPr>
            <a:picLocks noChangeAspect="1"/>
          </p:cNvPicPr>
          <p:nvPr/>
        </p:nvPicPr>
        <p:blipFill>
          <a:blip r:embed="rId2"/>
          <a:stretch>
            <a:fillRect/>
          </a:stretch>
        </p:blipFill>
        <p:spPr>
          <a:xfrm>
            <a:off x="2386012" y="1276350"/>
            <a:ext cx="7586663" cy="5092960"/>
          </a:xfrm>
          <a:prstGeom prst="rect">
            <a:avLst/>
          </a:prstGeom>
        </p:spPr>
      </p:pic>
      <p:sp>
        <p:nvSpPr>
          <p:cNvPr id="4" name="Date Placeholder 3">
            <a:extLst>
              <a:ext uri="{FF2B5EF4-FFF2-40B4-BE49-F238E27FC236}">
                <a16:creationId xmlns:a16="http://schemas.microsoft.com/office/drawing/2014/main" id="{8F209292-958E-C14C-13B3-9B8E6D7BC12A}"/>
              </a:ext>
            </a:extLst>
          </p:cNvPr>
          <p:cNvSpPr>
            <a:spLocks noGrp="1"/>
          </p:cNvSpPr>
          <p:nvPr>
            <p:ph type="dt" sz="half" idx="10"/>
          </p:nvPr>
        </p:nvSpPr>
        <p:spPr/>
        <p:txBody>
          <a:bodyPr/>
          <a:lstStyle/>
          <a:p>
            <a:fld id="{FA9059B7-85B0-46E2-8456-3FA599E083B4}" type="datetime1">
              <a:rPr lang="en-IN" smtClean="0"/>
              <a:t>27-10-2026</a:t>
            </a:fld>
            <a:endParaRPr lang="en-IN"/>
          </a:p>
        </p:txBody>
      </p:sp>
      <p:sp>
        <p:nvSpPr>
          <p:cNvPr id="5" name="Slide Number Placeholder 4">
            <a:extLst>
              <a:ext uri="{FF2B5EF4-FFF2-40B4-BE49-F238E27FC236}">
                <a16:creationId xmlns:a16="http://schemas.microsoft.com/office/drawing/2014/main" id="{6099877F-158B-1B06-CD0D-31DA8AD6627F}"/>
              </a:ext>
            </a:extLst>
          </p:cNvPr>
          <p:cNvSpPr>
            <a:spLocks noGrp="1"/>
          </p:cNvSpPr>
          <p:nvPr>
            <p:ph type="sldNum" sz="quarter" idx="12"/>
          </p:nvPr>
        </p:nvSpPr>
        <p:spPr/>
        <p:txBody>
          <a:bodyPr/>
          <a:lstStyle/>
          <a:p>
            <a:fld id="{6B099C0A-8617-4058-9F88-1F31CC4D8927}" type="slidenum">
              <a:rPr lang="en-IN" smtClean="0"/>
              <a:t>16</a:t>
            </a:fld>
            <a:endParaRPr lang="en-IN"/>
          </a:p>
        </p:txBody>
      </p:sp>
    </p:spTree>
    <p:extLst>
      <p:ext uri="{BB962C8B-B14F-4D97-AF65-F5344CB8AC3E}">
        <p14:creationId xmlns:p14="http://schemas.microsoft.com/office/powerpoint/2010/main" val="4077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DE61D-F31D-6EB9-3164-4D8590A9932F}"/>
              </a:ext>
            </a:extLst>
          </p:cNvPr>
          <p:cNvSpPr>
            <a:spLocks noGrp="1"/>
          </p:cNvSpPr>
          <p:nvPr>
            <p:ph type="title"/>
          </p:nvPr>
        </p:nvSpPr>
        <p:spPr/>
        <p:txBody>
          <a:bodyPr/>
          <a:lstStyle/>
          <a:p>
            <a:r>
              <a:rPr lang="en-US" dirty="0"/>
              <a:t>The CNOT Gate</a:t>
            </a:r>
            <a:endParaRPr lang="en-IN" dirty="0"/>
          </a:p>
        </p:txBody>
      </p:sp>
      <p:pic>
        <p:nvPicPr>
          <p:cNvPr id="4" name="Picture 3">
            <a:extLst>
              <a:ext uri="{FF2B5EF4-FFF2-40B4-BE49-F238E27FC236}">
                <a16:creationId xmlns:a16="http://schemas.microsoft.com/office/drawing/2014/main" id="{C3B0A403-D253-0C4E-5BB6-EF699004E41D}"/>
              </a:ext>
            </a:extLst>
          </p:cNvPr>
          <p:cNvPicPr>
            <a:picLocks noChangeAspect="1"/>
          </p:cNvPicPr>
          <p:nvPr/>
        </p:nvPicPr>
        <p:blipFill>
          <a:blip r:embed="rId2"/>
          <a:stretch>
            <a:fillRect/>
          </a:stretch>
        </p:blipFill>
        <p:spPr>
          <a:xfrm>
            <a:off x="3367613" y="1974766"/>
            <a:ext cx="4004737" cy="3102059"/>
          </a:xfrm>
          <a:prstGeom prst="rect">
            <a:avLst/>
          </a:prstGeom>
        </p:spPr>
      </p:pic>
      <p:pic>
        <p:nvPicPr>
          <p:cNvPr id="6" name="Picture 5">
            <a:extLst>
              <a:ext uri="{FF2B5EF4-FFF2-40B4-BE49-F238E27FC236}">
                <a16:creationId xmlns:a16="http://schemas.microsoft.com/office/drawing/2014/main" id="{2C4E9868-B937-C165-0EA1-776352401AD4}"/>
              </a:ext>
            </a:extLst>
          </p:cNvPr>
          <p:cNvPicPr>
            <a:picLocks noChangeAspect="1"/>
          </p:cNvPicPr>
          <p:nvPr/>
        </p:nvPicPr>
        <p:blipFill>
          <a:blip r:embed="rId3"/>
          <a:stretch>
            <a:fillRect/>
          </a:stretch>
        </p:blipFill>
        <p:spPr>
          <a:xfrm>
            <a:off x="308198" y="2155741"/>
            <a:ext cx="3059415" cy="2796497"/>
          </a:xfrm>
          <a:prstGeom prst="rect">
            <a:avLst/>
          </a:prstGeom>
        </p:spPr>
      </p:pic>
      <p:pic>
        <p:nvPicPr>
          <p:cNvPr id="8" name="Picture 7">
            <a:extLst>
              <a:ext uri="{FF2B5EF4-FFF2-40B4-BE49-F238E27FC236}">
                <a16:creationId xmlns:a16="http://schemas.microsoft.com/office/drawing/2014/main" id="{9E5F5F62-D3AA-DF3C-B1D8-2CEF319A0A60}"/>
              </a:ext>
            </a:extLst>
          </p:cNvPr>
          <p:cNvPicPr>
            <a:picLocks noChangeAspect="1"/>
          </p:cNvPicPr>
          <p:nvPr/>
        </p:nvPicPr>
        <p:blipFill>
          <a:blip r:embed="rId4"/>
          <a:stretch>
            <a:fillRect/>
          </a:stretch>
        </p:blipFill>
        <p:spPr>
          <a:xfrm>
            <a:off x="7372350" y="2155741"/>
            <a:ext cx="4819650" cy="2590297"/>
          </a:xfrm>
          <a:prstGeom prst="rect">
            <a:avLst/>
          </a:prstGeom>
        </p:spPr>
      </p:pic>
      <p:sp>
        <p:nvSpPr>
          <p:cNvPr id="9" name="Date Placeholder 8">
            <a:extLst>
              <a:ext uri="{FF2B5EF4-FFF2-40B4-BE49-F238E27FC236}">
                <a16:creationId xmlns:a16="http://schemas.microsoft.com/office/drawing/2014/main" id="{FFD9FB4F-C761-AF65-639F-F804A3D8967A}"/>
              </a:ext>
            </a:extLst>
          </p:cNvPr>
          <p:cNvSpPr>
            <a:spLocks noGrp="1"/>
          </p:cNvSpPr>
          <p:nvPr>
            <p:ph type="dt" sz="half" idx="10"/>
          </p:nvPr>
        </p:nvSpPr>
        <p:spPr/>
        <p:txBody>
          <a:bodyPr/>
          <a:lstStyle/>
          <a:p>
            <a:fld id="{29D3845D-1750-46AE-BA92-012C3C9B107A}" type="datetime1">
              <a:rPr lang="en-IN" smtClean="0"/>
              <a:t>27-10-2026</a:t>
            </a:fld>
            <a:endParaRPr lang="en-IN"/>
          </a:p>
        </p:txBody>
      </p:sp>
      <p:sp>
        <p:nvSpPr>
          <p:cNvPr id="10" name="Slide Number Placeholder 9">
            <a:extLst>
              <a:ext uri="{FF2B5EF4-FFF2-40B4-BE49-F238E27FC236}">
                <a16:creationId xmlns:a16="http://schemas.microsoft.com/office/drawing/2014/main" id="{87BD062C-A7D4-A318-7A1D-D79951C5DE70}"/>
              </a:ext>
            </a:extLst>
          </p:cNvPr>
          <p:cNvSpPr>
            <a:spLocks noGrp="1"/>
          </p:cNvSpPr>
          <p:nvPr>
            <p:ph type="sldNum" sz="quarter" idx="12"/>
          </p:nvPr>
        </p:nvSpPr>
        <p:spPr/>
        <p:txBody>
          <a:bodyPr/>
          <a:lstStyle/>
          <a:p>
            <a:fld id="{6B099C0A-8617-4058-9F88-1F31CC4D8927}" type="slidenum">
              <a:rPr lang="en-IN" smtClean="0"/>
              <a:t>17</a:t>
            </a:fld>
            <a:endParaRPr lang="en-IN"/>
          </a:p>
        </p:txBody>
      </p:sp>
    </p:spTree>
    <p:extLst>
      <p:ext uri="{BB962C8B-B14F-4D97-AF65-F5344CB8AC3E}">
        <p14:creationId xmlns:p14="http://schemas.microsoft.com/office/powerpoint/2010/main" val="1732278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967A8-B268-BECC-0367-F574930EC6F3}"/>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00C7D50A-9973-9BE9-2905-569E66083257}"/>
              </a:ext>
            </a:extLst>
          </p:cNvPr>
          <p:cNvPicPr>
            <a:picLocks noChangeAspect="1"/>
          </p:cNvPicPr>
          <p:nvPr/>
        </p:nvPicPr>
        <p:blipFill>
          <a:blip r:embed="rId2"/>
          <a:stretch>
            <a:fillRect/>
          </a:stretch>
        </p:blipFill>
        <p:spPr>
          <a:xfrm>
            <a:off x="627795" y="606337"/>
            <a:ext cx="11164346" cy="5118188"/>
          </a:xfrm>
          <a:prstGeom prst="rect">
            <a:avLst/>
          </a:prstGeom>
        </p:spPr>
      </p:pic>
      <p:sp>
        <p:nvSpPr>
          <p:cNvPr id="5" name="Date Placeholder 4">
            <a:extLst>
              <a:ext uri="{FF2B5EF4-FFF2-40B4-BE49-F238E27FC236}">
                <a16:creationId xmlns:a16="http://schemas.microsoft.com/office/drawing/2014/main" id="{43CFCA52-FFB5-D3B0-FF22-475A3F3176BF}"/>
              </a:ext>
            </a:extLst>
          </p:cNvPr>
          <p:cNvSpPr>
            <a:spLocks noGrp="1"/>
          </p:cNvSpPr>
          <p:nvPr>
            <p:ph type="dt" sz="half" idx="10"/>
          </p:nvPr>
        </p:nvSpPr>
        <p:spPr/>
        <p:txBody>
          <a:bodyPr/>
          <a:lstStyle/>
          <a:p>
            <a:fld id="{52B31985-B95A-4825-8835-58FD05E3CA5B}" type="datetime1">
              <a:rPr lang="en-IN" smtClean="0"/>
              <a:t>27-10-2026</a:t>
            </a:fld>
            <a:endParaRPr lang="en-IN"/>
          </a:p>
        </p:txBody>
      </p:sp>
      <p:sp>
        <p:nvSpPr>
          <p:cNvPr id="6" name="Slide Number Placeholder 5">
            <a:extLst>
              <a:ext uri="{FF2B5EF4-FFF2-40B4-BE49-F238E27FC236}">
                <a16:creationId xmlns:a16="http://schemas.microsoft.com/office/drawing/2014/main" id="{752CC50C-5E17-9CA4-BA97-FE52BC3F8172}"/>
              </a:ext>
            </a:extLst>
          </p:cNvPr>
          <p:cNvSpPr>
            <a:spLocks noGrp="1"/>
          </p:cNvSpPr>
          <p:nvPr>
            <p:ph type="sldNum" sz="quarter" idx="12"/>
          </p:nvPr>
        </p:nvSpPr>
        <p:spPr/>
        <p:txBody>
          <a:bodyPr/>
          <a:lstStyle/>
          <a:p>
            <a:fld id="{6B099C0A-8617-4058-9F88-1F31CC4D8927}" type="slidenum">
              <a:rPr lang="en-IN" smtClean="0"/>
              <a:t>18</a:t>
            </a:fld>
            <a:endParaRPr lang="en-IN"/>
          </a:p>
        </p:txBody>
      </p:sp>
    </p:spTree>
    <p:extLst>
      <p:ext uri="{BB962C8B-B14F-4D97-AF65-F5344CB8AC3E}">
        <p14:creationId xmlns:p14="http://schemas.microsoft.com/office/powerpoint/2010/main" val="3942129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56AE-A7AE-FC85-8FD2-2C7DD96CFDA3}"/>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8B567B58-073C-728B-173E-3BE39E33B395}"/>
              </a:ext>
            </a:extLst>
          </p:cNvPr>
          <p:cNvPicPr>
            <a:picLocks noChangeAspect="1"/>
          </p:cNvPicPr>
          <p:nvPr/>
        </p:nvPicPr>
        <p:blipFill>
          <a:blip r:embed="rId2"/>
          <a:stretch>
            <a:fillRect/>
          </a:stretch>
        </p:blipFill>
        <p:spPr>
          <a:xfrm>
            <a:off x="655667" y="603250"/>
            <a:ext cx="10615772" cy="5807075"/>
          </a:xfrm>
          <a:prstGeom prst="rect">
            <a:avLst/>
          </a:prstGeom>
        </p:spPr>
      </p:pic>
      <p:sp>
        <p:nvSpPr>
          <p:cNvPr id="5" name="Date Placeholder 4">
            <a:extLst>
              <a:ext uri="{FF2B5EF4-FFF2-40B4-BE49-F238E27FC236}">
                <a16:creationId xmlns:a16="http://schemas.microsoft.com/office/drawing/2014/main" id="{EC829C9C-6861-7216-FBE6-794AFD9D1935}"/>
              </a:ext>
            </a:extLst>
          </p:cNvPr>
          <p:cNvSpPr>
            <a:spLocks noGrp="1"/>
          </p:cNvSpPr>
          <p:nvPr>
            <p:ph type="dt" sz="half" idx="10"/>
          </p:nvPr>
        </p:nvSpPr>
        <p:spPr/>
        <p:txBody>
          <a:bodyPr/>
          <a:lstStyle/>
          <a:p>
            <a:fld id="{292D6069-0705-406B-B8CC-D120567558CA}" type="datetime1">
              <a:rPr lang="en-IN" smtClean="0"/>
              <a:t>27-10-2026</a:t>
            </a:fld>
            <a:endParaRPr lang="en-IN"/>
          </a:p>
        </p:txBody>
      </p:sp>
      <p:sp>
        <p:nvSpPr>
          <p:cNvPr id="6" name="Slide Number Placeholder 5">
            <a:extLst>
              <a:ext uri="{FF2B5EF4-FFF2-40B4-BE49-F238E27FC236}">
                <a16:creationId xmlns:a16="http://schemas.microsoft.com/office/drawing/2014/main" id="{E15DA886-C2AB-72DD-6EC9-3F94234F5C2F}"/>
              </a:ext>
            </a:extLst>
          </p:cNvPr>
          <p:cNvSpPr>
            <a:spLocks noGrp="1"/>
          </p:cNvSpPr>
          <p:nvPr>
            <p:ph type="sldNum" sz="quarter" idx="12"/>
          </p:nvPr>
        </p:nvSpPr>
        <p:spPr/>
        <p:txBody>
          <a:bodyPr/>
          <a:lstStyle/>
          <a:p>
            <a:fld id="{6B099C0A-8617-4058-9F88-1F31CC4D8927}" type="slidenum">
              <a:rPr lang="en-IN" smtClean="0"/>
              <a:t>19</a:t>
            </a:fld>
            <a:endParaRPr lang="en-IN"/>
          </a:p>
        </p:txBody>
      </p:sp>
    </p:spTree>
    <p:extLst>
      <p:ext uri="{BB962C8B-B14F-4D97-AF65-F5344CB8AC3E}">
        <p14:creationId xmlns:p14="http://schemas.microsoft.com/office/powerpoint/2010/main" val="1417845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9E0C0-FF0C-F91C-CBF0-87AF00C1E6CE}"/>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E7F043FB-DF75-825C-C6AE-3FCE6276A92C}"/>
              </a:ext>
            </a:extLst>
          </p:cNvPr>
          <p:cNvPicPr>
            <a:picLocks noChangeAspect="1"/>
          </p:cNvPicPr>
          <p:nvPr/>
        </p:nvPicPr>
        <p:blipFill>
          <a:blip r:embed="rId2"/>
          <a:stretch>
            <a:fillRect/>
          </a:stretch>
        </p:blipFill>
        <p:spPr>
          <a:xfrm>
            <a:off x="1151335" y="1106487"/>
            <a:ext cx="10202465" cy="4645025"/>
          </a:xfrm>
          <a:prstGeom prst="rect">
            <a:avLst/>
          </a:prstGeom>
        </p:spPr>
      </p:pic>
      <p:sp>
        <p:nvSpPr>
          <p:cNvPr id="5" name="Date Placeholder 4">
            <a:extLst>
              <a:ext uri="{FF2B5EF4-FFF2-40B4-BE49-F238E27FC236}">
                <a16:creationId xmlns:a16="http://schemas.microsoft.com/office/drawing/2014/main" id="{686376EA-50DB-AD63-560B-4DA3961E2F48}"/>
              </a:ext>
            </a:extLst>
          </p:cNvPr>
          <p:cNvSpPr>
            <a:spLocks noGrp="1"/>
          </p:cNvSpPr>
          <p:nvPr>
            <p:ph type="dt" sz="half" idx="10"/>
          </p:nvPr>
        </p:nvSpPr>
        <p:spPr/>
        <p:txBody>
          <a:bodyPr/>
          <a:lstStyle/>
          <a:p>
            <a:fld id="{071013DA-3D27-4C88-B6DF-DF3715C1ABDD}" type="datetime1">
              <a:rPr lang="en-IN" smtClean="0"/>
              <a:t>27-10-2026</a:t>
            </a:fld>
            <a:endParaRPr lang="en-IN"/>
          </a:p>
        </p:txBody>
      </p:sp>
      <p:sp>
        <p:nvSpPr>
          <p:cNvPr id="6" name="Slide Number Placeholder 5">
            <a:extLst>
              <a:ext uri="{FF2B5EF4-FFF2-40B4-BE49-F238E27FC236}">
                <a16:creationId xmlns:a16="http://schemas.microsoft.com/office/drawing/2014/main" id="{657A6983-86A0-94AC-0A75-A614C622F8CA}"/>
              </a:ext>
            </a:extLst>
          </p:cNvPr>
          <p:cNvSpPr>
            <a:spLocks noGrp="1"/>
          </p:cNvSpPr>
          <p:nvPr>
            <p:ph type="sldNum" sz="quarter" idx="12"/>
          </p:nvPr>
        </p:nvSpPr>
        <p:spPr/>
        <p:txBody>
          <a:bodyPr/>
          <a:lstStyle/>
          <a:p>
            <a:fld id="{6B099C0A-8617-4058-9F88-1F31CC4D8927}" type="slidenum">
              <a:rPr lang="en-IN" smtClean="0"/>
              <a:t>20</a:t>
            </a:fld>
            <a:endParaRPr lang="en-IN"/>
          </a:p>
        </p:txBody>
      </p:sp>
    </p:spTree>
    <p:extLst>
      <p:ext uri="{BB962C8B-B14F-4D97-AF65-F5344CB8AC3E}">
        <p14:creationId xmlns:p14="http://schemas.microsoft.com/office/powerpoint/2010/main" val="324631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C1CEA-D751-9F38-1205-4ECBAE7EE0D0}"/>
              </a:ext>
            </a:extLst>
          </p:cNvPr>
          <p:cNvSpPr>
            <a:spLocks noGrp="1"/>
          </p:cNvSpPr>
          <p:nvPr>
            <p:ph type="title"/>
          </p:nvPr>
        </p:nvSpPr>
        <p:spPr>
          <a:xfrm>
            <a:off x="287999" y="288037"/>
            <a:ext cx="11293592" cy="571594"/>
          </a:xfrm>
        </p:spPr>
        <p:txBody>
          <a:bodyPr>
            <a:normAutofit fontScale="90000"/>
          </a:bodyPr>
          <a:lstStyle/>
          <a:p>
            <a:r>
              <a:rPr lang="en-IN" dirty="0"/>
              <a:t>Quantum teleportation</a:t>
            </a:r>
          </a:p>
        </p:txBody>
      </p:sp>
      <p:sp>
        <p:nvSpPr>
          <p:cNvPr id="3" name="Content Placeholder 2">
            <a:extLst>
              <a:ext uri="{FF2B5EF4-FFF2-40B4-BE49-F238E27FC236}">
                <a16:creationId xmlns:a16="http://schemas.microsoft.com/office/drawing/2014/main" id="{8BF6CD1A-0A80-1B5D-C986-7EAFE12B430F}"/>
              </a:ext>
            </a:extLst>
          </p:cNvPr>
          <p:cNvSpPr>
            <a:spLocks noGrp="1"/>
          </p:cNvSpPr>
          <p:nvPr>
            <p:ph idx="1"/>
          </p:nvPr>
        </p:nvSpPr>
        <p:spPr>
          <a:xfrm>
            <a:off x="287300" y="1016000"/>
            <a:ext cx="11293592" cy="635000"/>
          </a:xfrm>
        </p:spPr>
        <p:txBody>
          <a:bodyPr>
            <a:normAutofit fontScale="77500" lnSpcReduction="20000"/>
          </a:bodyPr>
          <a:lstStyle/>
          <a:p>
            <a:r>
              <a:rPr lang="en-IN" dirty="0"/>
              <a:t>Quantum teleportation is a </a:t>
            </a:r>
            <a:r>
              <a:rPr lang="en-US" dirty="0"/>
              <a:t>technique for moving quantum states around, even in the absence of a quantum communications channel linking the sender of the quantum state to the recipient.</a:t>
            </a:r>
            <a:endParaRPr lang="en-IN" dirty="0"/>
          </a:p>
        </p:txBody>
      </p:sp>
      <p:sp>
        <p:nvSpPr>
          <p:cNvPr id="5" name="Slide Number Placeholder 4">
            <a:extLst>
              <a:ext uri="{FF2B5EF4-FFF2-40B4-BE49-F238E27FC236}">
                <a16:creationId xmlns:a16="http://schemas.microsoft.com/office/drawing/2014/main" id="{FAD90609-AA7F-2A8F-5130-D2251D368F1E}"/>
              </a:ext>
            </a:extLst>
          </p:cNvPr>
          <p:cNvSpPr>
            <a:spLocks noGrp="1"/>
          </p:cNvSpPr>
          <p:nvPr>
            <p:ph type="sldNum" sz="quarter" idx="12"/>
          </p:nvPr>
        </p:nvSpPr>
        <p:spPr/>
        <p:txBody>
          <a:bodyPr/>
          <a:lstStyle/>
          <a:p>
            <a:fld id="{9268B971-EF02-4AE9-ADFE-B383B5071C98}" type="slidenum">
              <a:rPr lang="en-IN" smtClean="0"/>
              <a:t>21</a:t>
            </a:fld>
            <a:endParaRPr lang="en-IN"/>
          </a:p>
        </p:txBody>
      </p:sp>
      <p:pic>
        <p:nvPicPr>
          <p:cNvPr id="7" name="Picture 6">
            <a:extLst>
              <a:ext uri="{FF2B5EF4-FFF2-40B4-BE49-F238E27FC236}">
                <a16:creationId xmlns:a16="http://schemas.microsoft.com/office/drawing/2014/main" id="{9A9A38B2-4AE5-9937-ED14-01653B7B6D3C}"/>
              </a:ext>
            </a:extLst>
          </p:cNvPr>
          <p:cNvPicPr>
            <a:picLocks noChangeAspect="1"/>
          </p:cNvPicPr>
          <p:nvPr/>
        </p:nvPicPr>
        <p:blipFill>
          <a:blip r:embed="rId2"/>
          <a:stretch>
            <a:fillRect/>
          </a:stretch>
        </p:blipFill>
        <p:spPr>
          <a:xfrm>
            <a:off x="1504309" y="1900024"/>
            <a:ext cx="9183382" cy="3057952"/>
          </a:xfrm>
          <a:prstGeom prst="rect">
            <a:avLst/>
          </a:prstGeom>
        </p:spPr>
      </p:pic>
      <p:sp>
        <p:nvSpPr>
          <p:cNvPr id="6" name="Date Placeholder 5">
            <a:extLst>
              <a:ext uri="{FF2B5EF4-FFF2-40B4-BE49-F238E27FC236}">
                <a16:creationId xmlns:a16="http://schemas.microsoft.com/office/drawing/2014/main" id="{E34DF5A7-440E-5F36-9E18-5335C31E1B29}"/>
              </a:ext>
            </a:extLst>
          </p:cNvPr>
          <p:cNvSpPr>
            <a:spLocks noGrp="1"/>
          </p:cNvSpPr>
          <p:nvPr>
            <p:ph type="dt" sz="half" idx="10"/>
          </p:nvPr>
        </p:nvSpPr>
        <p:spPr/>
        <p:txBody>
          <a:bodyPr/>
          <a:lstStyle/>
          <a:p>
            <a:fld id="{51B71440-06A7-47E0-8C9A-7528C3ECDF2C}" type="datetime1">
              <a:rPr lang="en-IN" smtClean="0"/>
              <a:t>27-10-2026</a:t>
            </a:fld>
            <a:endParaRPr lang="en-IN"/>
          </a:p>
        </p:txBody>
      </p:sp>
    </p:spTree>
    <p:extLst>
      <p:ext uri="{BB962C8B-B14F-4D97-AF65-F5344CB8AC3E}">
        <p14:creationId xmlns:p14="http://schemas.microsoft.com/office/powerpoint/2010/main" val="3845733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337A-5C2C-AFFB-1ACC-C7A3EF4D6745}"/>
              </a:ext>
            </a:extLst>
          </p:cNvPr>
          <p:cNvSpPr>
            <a:spLocks noGrp="1"/>
          </p:cNvSpPr>
          <p:nvPr>
            <p:ph type="title"/>
          </p:nvPr>
        </p:nvSpPr>
        <p:spPr>
          <a:xfrm>
            <a:off x="838200" y="365125"/>
            <a:ext cx="10515600" cy="668147"/>
          </a:xfrm>
        </p:spPr>
        <p:txBody>
          <a:bodyPr>
            <a:normAutofit fontScale="90000"/>
          </a:bodyPr>
          <a:lstStyle/>
          <a:p>
            <a:r>
              <a:rPr lang="en-IN" dirty="0">
                <a:latin typeface="xmets"/>
              </a:rPr>
              <a:t>Q</a:t>
            </a:r>
            <a:r>
              <a:rPr lang="en-IN" b="0" i="0" u="none" strike="noStrike" baseline="0" dirty="0">
                <a:latin typeface="xmets"/>
              </a:rPr>
              <a:t>uantum teleportation</a:t>
            </a:r>
            <a:endParaRPr lang="en-IN" sz="8800" dirty="0"/>
          </a:p>
        </p:txBody>
      </p:sp>
      <p:sp>
        <p:nvSpPr>
          <p:cNvPr id="3" name="Content Placeholder 2">
            <a:extLst>
              <a:ext uri="{FF2B5EF4-FFF2-40B4-BE49-F238E27FC236}">
                <a16:creationId xmlns:a16="http://schemas.microsoft.com/office/drawing/2014/main" id="{A9B7BB2F-8997-A205-5A80-CA9B6E8D15E9}"/>
              </a:ext>
            </a:extLst>
          </p:cNvPr>
          <p:cNvSpPr>
            <a:spLocks noGrp="1"/>
          </p:cNvSpPr>
          <p:nvPr>
            <p:ph idx="1"/>
          </p:nvPr>
        </p:nvSpPr>
        <p:spPr>
          <a:xfrm>
            <a:off x="838200" y="969264"/>
            <a:ext cx="10515600" cy="5207699"/>
          </a:xfrm>
        </p:spPr>
        <p:txBody>
          <a:bodyPr>
            <a:normAutofit/>
          </a:bodyPr>
          <a:lstStyle/>
          <a:p>
            <a:pPr algn="l"/>
            <a:r>
              <a:rPr lang="en-IN" sz="3200" b="0" i="0" u="none" strike="noStrike" baseline="0" dirty="0">
                <a:latin typeface="xmetr"/>
              </a:rPr>
              <a:t>Quantum teleportation is a </a:t>
            </a:r>
            <a:r>
              <a:rPr lang="en-US" sz="3200" b="0" i="0" u="none" strike="noStrike" baseline="0" dirty="0">
                <a:latin typeface="xmetr"/>
              </a:rPr>
              <a:t>technique for moving quantum states around, even in the absence of a quantum communications channel linking the sender of the quantum state to the recipient.</a:t>
            </a:r>
            <a:endParaRPr lang="en-IN" sz="6000" dirty="0"/>
          </a:p>
        </p:txBody>
      </p:sp>
      <p:sp>
        <p:nvSpPr>
          <p:cNvPr id="5" name="Slide Number Placeholder 4">
            <a:extLst>
              <a:ext uri="{FF2B5EF4-FFF2-40B4-BE49-F238E27FC236}">
                <a16:creationId xmlns:a16="http://schemas.microsoft.com/office/drawing/2014/main" id="{13DAB43E-F19B-7DFB-96DE-A5B4E7ADA7E1}"/>
              </a:ext>
            </a:extLst>
          </p:cNvPr>
          <p:cNvSpPr>
            <a:spLocks noGrp="1"/>
          </p:cNvSpPr>
          <p:nvPr>
            <p:ph type="sldNum" sz="quarter" idx="12"/>
          </p:nvPr>
        </p:nvSpPr>
        <p:spPr/>
        <p:txBody>
          <a:bodyPr/>
          <a:lstStyle/>
          <a:p>
            <a:fld id="{1B78CDEA-0C49-4D40-B6A6-C736D5A39426}" type="slidenum">
              <a:rPr lang="en-IN" smtClean="0"/>
              <a:t>22</a:t>
            </a:fld>
            <a:endParaRPr lang="en-IN"/>
          </a:p>
        </p:txBody>
      </p:sp>
      <p:sp>
        <p:nvSpPr>
          <p:cNvPr id="6" name="Rectangle 1">
            <a:extLst>
              <a:ext uri="{FF2B5EF4-FFF2-40B4-BE49-F238E27FC236}">
                <a16:creationId xmlns:a16="http://schemas.microsoft.com/office/drawing/2014/main" id="{ED49FA45-6200-7EBA-77C9-79FCA842A0E5}"/>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Date Placeholder 6">
            <a:extLst>
              <a:ext uri="{FF2B5EF4-FFF2-40B4-BE49-F238E27FC236}">
                <a16:creationId xmlns:a16="http://schemas.microsoft.com/office/drawing/2014/main" id="{5F4AFC3C-0CB2-0ADD-66C9-3C3F289C7804}"/>
              </a:ext>
            </a:extLst>
          </p:cNvPr>
          <p:cNvSpPr>
            <a:spLocks noGrp="1"/>
          </p:cNvSpPr>
          <p:nvPr>
            <p:ph type="dt" sz="half" idx="10"/>
          </p:nvPr>
        </p:nvSpPr>
        <p:spPr/>
        <p:txBody>
          <a:bodyPr/>
          <a:lstStyle/>
          <a:p>
            <a:fld id="{E17E65E9-92A1-4E48-BADA-76E9D208E2F2}" type="datetime1">
              <a:rPr lang="en-IN" smtClean="0"/>
              <a:t>27-10-2026</a:t>
            </a:fld>
            <a:endParaRPr lang="en-IN"/>
          </a:p>
        </p:txBody>
      </p:sp>
    </p:spTree>
    <p:extLst>
      <p:ext uri="{BB962C8B-B14F-4D97-AF65-F5344CB8AC3E}">
        <p14:creationId xmlns:p14="http://schemas.microsoft.com/office/powerpoint/2010/main" val="2945036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8D8AD8-8942-01BC-E571-FAD813BC3B51}"/>
              </a:ext>
            </a:extLst>
          </p:cNvPr>
          <p:cNvSpPr>
            <a:spLocks noGrp="1"/>
          </p:cNvSpPr>
          <p:nvPr>
            <p:ph idx="1"/>
          </p:nvPr>
        </p:nvSpPr>
        <p:spPr>
          <a:xfrm>
            <a:off x="338328" y="521208"/>
            <a:ext cx="11740896" cy="5655755"/>
          </a:xfrm>
        </p:spPr>
        <p:txBody>
          <a:bodyPr>
            <a:normAutofit/>
          </a:bodyPr>
          <a:lstStyle/>
          <a:p>
            <a:pPr algn="l"/>
            <a:r>
              <a:rPr lang="en-US" sz="3600" b="0" i="0" u="none" strike="noStrike" baseline="0" dirty="0">
                <a:latin typeface="xmetr"/>
              </a:rPr>
              <a:t>Here’s how quantum teleportation works. Alice and Bob met long ago but now live far apart. </a:t>
            </a:r>
          </a:p>
          <a:p>
            <a:pPr algn="l"/>
            <a:r>
              <a:rPr lang="en-US" sz="3600" b="0" i="0" u="none" strike="noStrike" baseline="0" dirty="0">
                <a:latin typeface="xmetr"/>
              </a:rPr>
              <a:t>While together they generated an EPR pair, each taking one qubit of the EPR pair when they separated. </a:t>
            </a:r>
          </a:p>
          <a:p>
            <a:pPr algn="l"/>
            <a:r>
              <a:rPr lang="en-US" sz="3600" b="0" i="0" u="none" strike="noStrike" baseline="0" dirty="0">
                <a:latin typeface="xmetr"/>
              </a:rPr>
              <a:t>Many years later, Bob is in hiding, and Alice’s mission, should she choose to accept it, is to deliver a qubit </a:t>
            </a:r>
            <a:r>
              <a:rPr lang="en-US" sz="3600" b="0" i="0" u="none" strike="noStrike" baseline="0" dirty="0">
                <a:latin typeface="CMSY10"/>
              </a:rPr>
              <a:t>|</a:t>
            </a:r>
            <a:r>
              <a:rPr lang="en-US" sz="3600" b="0" i="0" u="none" strike="noStrike" baseline="0" dirty="0">
                <a:latin typeface="CMMI10"/>
              </a:rPr>
              <a:t>ψ&gt;</a:t>
            </a:r>
            <a:r>
              <a:rPr lang="en-US" sz="3600" b="0" i="0" u="none" strike="noStrike" baseline="0" dirty="0">
                <a:latin typeface="CMSY10"/>
              </a:rPr>
              <a:t> </a:t>
            </a:r>
            <a:r>
              <a:rPr lang="en-US" sz="3600" b="0" i="0" u="none" strike="noStrike" baseline="0" dirty="0">
                <a:latin typeface="xmetr"/>
              </a:rPr>
              <a:t>to Bob. </a:t>
            </a:r>
          </a:p>
          <a:p>
            <a:pPr algn="l"/>
            <a:r>
              <a:rPr lang="en-US" sz="3600" b="0" i="0" u="none" strike="noStrike" baseline="0" dirty="0">
                <a:latin typeface="xmetr"/>
              </a:rPr>
              <a:t>She does not know the state of the qubit, and moreover can only send </a:t>
            </a:r>
            <a:r>
              <a:rPr lang="en-US" sz="3600" b="0" i="0" u="none" strike="noStrike" baseline="0" dirty="0">
                <a:latin typeface="xmiiri"/>
              </a:rPr>
              <a:t>classical </a:t>
            </a:r>
            <a:r>
              <a:rPr lang="en-US" sz="3600" b="0" i="0" u="none" strike="noStrike" baseline="0" dirty="0">
                <a:latin typeface="xmetr"/>
              </a:rPr>
              <a:t>information to Bob. </a:t>
            </a:r>
          </a:p>
          <a:p>
            <a:pPr algn="l"/>
            <a:r>
              <a:rPr lang="en-US" sz="3600" b="0" i="0" u="none" strike="noStrike" baseline="0" dirty="0">
                <a:latin typeface="xmetr"/>
              </a:rPr>
              <a:t>Should Alice accept </a:t>
            </a:r>
            <a:r>
              <a:rPr lang="en-IN" sz="3600" b="0" i="0" u="none" strike="noStrike" baseline="0" dirty="0">
                <a:latin typeface="xmetr"/>
              </a:rPr>
              <a:t>the mission?</a:t>
            </a:r>
            <a:endParaRPr lang="en-IN" sz="4800" dirty="0"/>
          </a:p>
        </p:txBody>
      </p:sp>
      <p:sp>
        <p:nvSpPr>
          <p:cNvPr id="5" name="Slide Number Placeholder 4">
            <a:extLst>
              <a:ext uri="{FF2B5EF4-FFF2-40B4-BE49-F238E27FC236}">
                <a16:creationId xmlns:a16="http://schemas.microsoft.com/office/drawing/2014/main" id="{93A97A07-5063-03D2-C45C-F33DB9B28F16}"/>
              </a:ext>
            </a:extLst>
          </p:cNvPr>
          <p:cNvSpPr>
            <a:spLocks noGrp="1"/>
          </p:cNvSpPr>
          <p:nvPr>
            <p:ph type="sldNum" sz="quarter" idx="12"/>
          </p:nvPr>
        </p:nvSpPr>
        <p:spPr/>
        <p:txBody>
          <a:bodyPr/>
          <a:lstStyle/>
          <a:p>
            <a:fld id="{1B78CDEA-0C49-4D40-B6A6-C736D5A39426}" type="slidenum">
              <a:rPr lang="en-IN" smtClean="0"/>
              <a:t>23</a:t>
            </a:fld>
            <a:endParaRPr lang="en-IN"/>
          </a:p>
        </p:txBody>
      </p:sp>
      <p:sp>
        <p:nvSpPr>
          <p:cNvPr id="2" name="Date Placeholder 1">
            <a:extLst>
              <a:ext uri="{FF2B5EF4-FFF2-40B4-BE49-F238E27FC236}">
                <a16:creationId xmlns:a16="http://schemas.microsoft.com/office/drawing/2014/main" id="{AE8C4208-8533-59A7-A246-F32B1A661F1D}"/>
              </a:ext>
            </a:extLst>
          </p:cNvPr>
          <p:cNvSpPr>
            <a:spLocks noGrp="1"/>
          </p:cNvSpPr>
          <p:nvPr>
            <p:ph type="dt" sz="half" idx="10"/>
          </p:nvPr>
        </p:nvSpPr>
        <p:spPr/>
        <p:txBody>
          <a:bodyPr/>
          <a:lstStyle/>
          <a:p>
            <a:fld id="{2F224389-54F3-4BDB-8CAE-5992BD28C8E0}" type="datetime1">
              <a:rPr lang="en-IN" smtClean="0"/>
              <a:t>27-10-2026</a:t>
            </a:fld>
            <a:endParaRPr lang="en-IN"/>
          </a:p>
        </p:txBody>
      </p:sp>
    </p:spTree>
    <p:extLst>
      <p:ext uri="{BB962C8B-B14F-4D97-AF65-F5344CB8AC3E}">
        <p14:creationId xmlns:p14="http://schemas.microsoft.com/office/powerpoint/2010/main" val="2778850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066E1E-72F9-EC63-8BC3-07736C0E0E73}"/>
              </a:ext>
            </a:extLst>
          </p:cNvPr>
          <p:cNvSpPr>
            <a:spLocks noGrp="1"/>
          </p:cNvSpPr>
          <p:nvPr>
            <p:ph idx="1"/>
          </p:nvPr>
        </p:nvSpPr>
        <p:spPr>
          <a:xfrm>
            <a:off x="649224" y="393192"/>
            <a:ext cx="10704576" cy="5783771"/>
          </a:xfrm>
        </p:spPr>
        <p:txBody>
          <a:bodyPr>
            <a:normAutofit/>
          </a:bodyPr>
          <a:lstStyle/>
          <a:p>
            <a:pPr algn="l"/>
            <a:r>
              <a:rPr lang="en-US" sz="3600" dirty="0">
                <a:latin typeface="xmetr"/>
              </a:rPr>
              <a:t>T</a:t>
            </a:r>
            <a:r>
              <a:rPr lang="en-US" sz="3600" b="0" i="0" u="none" strike="noStrike" baseline="0" dirty="0">
                <a:latin typeface="xmetr"/>
              </a:rPr>
              <a:t>he steps of the solution are as follows: </a:t>
            </a:r>
          </a:p>
          <a:p>
            <a:pPr lvl="1"/>
            <a:r>
              <a:rPr lang="en-US" sz="3200" b="0" i="0" u="none" strike="noStrike" baseline="0" dirty="0">
                <a:latin typeface="xmetr"/>
              </a:rPr>
              <a:t>Alice interacts the qubit </a:t>
            </a:r>
            <a:r>
              <a:rPr lang="en-US" sz="3200" b="0" i="0" u="none" strike="noStrike" baseline="0" dirty="0">
                <a:latin typeface="CMSY10"/>
              </a:rPr>
              <a:t>|</a:t>
            </a:r>
            <a:r>
              <a:rPr lang="en-US" sz="3200" b="0" i="0" u="none" strike="noStrike" baseline="0" dirty="0">
                <a:latin typeface="CMMI10"/>
              </a:rPr>
              <a:t>ψ&gt;</a:t>
            </a:r>
            <a:r>
              <a:rPr lang="en-US" sz="3200" b="0" i="0" u="none" strike="noStrike" baseline="0" dirty="0">
                <a:latin typeface="CMSY10"/>
              </a:rPr>
              <a:t> </a:t>
            </a:r>
            <a:r>
              <a:rPr lang="en-US" sz="3200" b="0" i="0" u="none" strike="noStrike" baseline="0" dirty="0">
                <a:latin typeface="xmetr"/>
              </a:rPr>
              <a:t>with her half of the EPR pair, and then measures the two qubits in her possession, obtaining one of four possible classical results, 00, 01, 10, and 11. </a:t>
            </a:r>
          </a:p>
          <a:p>
            <a:pPr lvl="1"/>
            <a:r>
              <a:rPr lang="en-US" sz="3200" b="0" i="0" u="none" strike="noStrike" baseline="0" dirty="0">
                <a:latin typeface="xmetr"/>
              </a:rPr>
              <a:t>She sends this information to Bob. </a:t>
            </a:r>
          </a:p>
          <a:p>
            <a:pPr lvl="1"/>
            <a:r>
              <a:rPr lang="en-US" sz="3200" b="0" i="0" u="none" strike="noStrike" baseline="0" dirty="0">
                <a:latin typeface="xmetr"/>
              </a:rPr>
              <a:t>Depending on Alice’s classical message, Bob performs one of four operations on his half of the EPR pair.</a:t>
            </a:r>
          </a:p>
          <a:p>
            <a:r>
              <a:rPr lang="en-US" sz="3600" b="0" i="0" u="none" strike="noStrike" baseline="0" dirty="0">
                <a:latin typeface="xmetr"/>
              </a:rPr>
              <a:t>Amazingly, by doing this he can recover the original state </a:t>
            </a:r>
            <a:r>
              <a:rPr lang="en-US" sz="3600" b="0" i="0" u="none" strike="noStrike" baseline="0" dirty="0">
                <a:latin typeface="CMSY10"/>
              </a:rPr>
              <a:t>|</a:t>
            </a:r>
            <a:r>
              <a:rPr lang="en-US" sz="3600" b="0" i="0" u="none" strike="noStrike" baseline="0" dirty="0">
                <a:latin typeface="CMMI10"/>
              </a:rPr>
              <a:t>ψ</a:t>
            </a:r>
            <a:r>
              <a:rPr lang="en-US" sz="3600" dirty="0">
                <a:latin typeface="xmetr"/>
              </a:rPr>
              <a:t>&gt;</a:t>
            </a:r>
            <a:endParaRPr lang="en-IN" sz="3600" dirty="0"/>
          </a:p>
        </p:txBody>
      </p:sp>
      <p:sp>
        <p:nvSpPr>
          <p:cNvPr id="5" name="Slide Number Placeholder 4">
            <a:extLst>
              <a:ext uri="{FF2B5EF4-FFF2-40B4-BE49-F238E27FC236}">
                <a16:creationId xmlns:a16="http://schemas.microsoft.com/office/drawing/2014/main" id="{1432BE8D-E169-5A00-9301-0D6497F6C2C4}"/>
              </a:ext>
            </a:extLst>
          </p:cNvPr>
          <p:cNvSpPr>
            <a:spLocks noGrp="1"/>
          </p:cNvSpPr>
          <p:nvPr>
            <p:ph type="sldNum" sz="quarter" idx="12"/>
          </p:nvPr>
        </p:nvSpPr>
        <p:spPr/>
        <p:txBody>
          <a:bodyPr/>
          <a:lstStyle/>
          <a:p>
            <a:fld id="{1B78CDEA-0C49-4D40-B6A6-C736D5A39426}" type="slidenum">
              <a:rPr lang="en-IN" smtClean="0"/>
              <a:t>24</a:t>
            </a:fld>
            <a:endParaRPr lang="en-IN"/>
          </a:p>
        </p:txBody>
      </p:sp>
      <p:sp>
        <p:nvSpPr>
          <p:cNvPr id="6" name="Rectangle 1">
            <a:extLst>
              <a:ext uri="{FF2B5EF4-FFF2-40B4-BE49-F238E27FC236}">
                <a16:creationId xmlns:a16="http://schemas.microsoft.com/office/drawing/2014/main" id="{F6F50582-B737-5CBA-250B-14D8496CBC09}"/>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Date Placeholder 1">
            <a:extLst>
              <a:ext uri="{FF2B5EF4-FFF2-40B4-BE49-F238E27FC236}">
                <a16:creationId xmlns:a16="http://schemas.microsoft.com/office/drawing/2014/main" id="{5AAA5F28-F891-07B0-87EF-5A379BE4B22A}"/>
              </a:ext>
            </a:extLst>
          </p:cNvPr>
          <p:cNvSpPr>
            <a:spLocks noGrp="1"/>
          </p:cNvSpPr>
          <p:nvPr>
            <p:ph type="dt" sz="half" idx="10"/>
          </p:nvPr>
        </p:nvSpPr>
        <p:spPr/>
        <p:txBody>
          <a:bodyPr/>
          <a:lstStyle/>
          <a:p>
            <a:fld id="{2DFD1CE1-A383-456E-BF0A-A2FEF139D0B9}" type="datetime1">
              <a:rPr lang="en-IN" smtClean="0"/>
              <a:t>27-10-2026</a:t>
            </a:fld>
            <a:endParaRPr lang="en-IN"/>
          </a:p>
        </p:txBody>
      </p:sp>
    </p:spTree>
    <p:extLst>
      <p:ext uri="{BB962C8B-B14F-4D97-AF65-F5344CB8AC3E}">
        <p14:creationId xmlns:p14="http://schemas.microsoft.com/office/powerpoint/2010/main" val="2691888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F98C3B2-BF25-6DFB-420E-5071D6F5D46F}"/>
              </a:ext>
            </a:extLst>
          </p:cNvPr>
          <p:cNvPicPr>
            <a:picLocks noGrp="1" noChangeAspect="1"/>
          </p:cNvPicPr>
          <p:nvPr>
            <p:ph idx="1"/>
          </p:nvPr>
        </p:nvPicPr>
        <p:blipFill>
          <a:blip r:embed="rId2"/>
          <a:stretch>
            <a:fillRect/>
          </a:stretch>
        </p:blipFill>
        <p:spPr>
          <a:xfrm>
            <a:off x="292608" y="627137"/>
            <a:ext cx="11411712" cy="4914127"/>
          </a:xfrm>
        </p:spPr>
      </p:pic>
      <p:sp>
        <p:nvSpPr>
          <p:cNvPr id="5" name="Slide Number Placeholder 4">
            <a:extLst>
              <a:ext uri="{FF2B5EF4-FFF2-40B4-BE49-F238E27FC236}">
                <a16:creationId xmlns:a16="http://schemas.microsoft.com/office/drawing/2014/main" id="{8D5FC203-AAF4-D70E-27BA-18CA20C0035A}"/>
              </a:ext>
            </a:extLst>
          </p:cNvPr>
          <p:cNvSpPr>
            <a:spLocks noGrp="1"/>
          </p:cNvSpPr>
          <p:nvPr>
            <p:ph type="sldNum" sz="quarter" idx="12"/>
          </p:nvPr>
        </p:nvSpPr>
        <p:spPr/>
        <p:txBody>
          <a:bodyPr/>
          <a:lstStyle/>
          <a:p>
            <a:fld id="{1B78CDEA-0C49-4D40-B6A6-C736D5A39426}" type="slidenum">
              <a:rPr lang="en-IN" smtClean="0"/>
              <a:t>25</a:t>
            </a:fld>
            <a:endParaRPr lang="en-IN"/>
          </a:p>
        </p:txBody>
      </p:sp>
      <p:sp>
        <p:nvSpPr>
          <p:cNvPr id="8" name="Rectangle 1">
            <a:extLst>
              <a:ext uri="{FF2B5EF4-FFF2-40B4-BE49-F238E27FC236}">
                <a16:creationId xmlns:a16="http://schemas.microsoft.com/office/drawing/2014/main" id="{B6B2A842-CF1D-A1B8-4EF6-59B261E9052F}"/>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Date Placeholder 1">
            <a:extLst>
              <a:ext uri="{FF2B5EF4-FFF2-40B4-BE49-F238E27FC236}">
                <a16:creationId xmlns:a16="http://schemas.microsoft.com/office/drawing/2014/main" id="{667F1FD5-1545-3E3B-C3E9-E6E7E3948D26}"/>
              </a:ext>
            </a:extLst>
          </p:cNvPr>
          <p:cNvSpPr>
            <a:spLocks noGrp="1"/>
          </p:cNvSpPr>
          <p:nvPr>
            <p:ph type="dt" sz="half" idx="10"/>
          </p:nvPr>
        </p:nvSpPr>
        <p:spPr/>
        <p:txBody>
          <a:bodyPr/>
          <a:lstStyle/>
          <a:p>
            <a:fld id="{9C8CB55A-2C87-4CC7-892E-D99F813497E8}" type="datetime1">
              <a:rPr lang="en-IN" smtClean="0"/>
              <a:t>27-10-2026</a:t>
            </a:fld>
            <a:endParaRPr lang="en-IN"/>
          </a:p>
        </p:txBody>
      </p:sp>
    </p:spTree>
    <p:extLst>
      <p:ext uri="{BB962C8B-B14F-4D97-AF65-F5344CB8AC3E}">
        <p14:creationId xmlns:p14="http://schemas.microsoft.com/office/powerpoint/2010/main" val="3287884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2D028-6FBD-A466-A358-DF7D9F1D2AB7}"/>
              </a:ext>
            </a:extLst>
          </p:cNvPr>
          <p:cNvSpPr>
            <a:spLocks noGrp="1"/>
          </p:cNvSpPr>
          <p:nvPr>
            <p:ph idx="1"/>
          </p:nvPr>
        </p:nvSpPr>
        <p:spPr>
          <a:xfrm>
            <a:off x="713232" y="3191380"/>
            <a:ext cx="10640568" cy="2985584"/>
          </a:xfrm>
        </p:spPr>
        <p:txBody>
          <a:bodyPr>
            <a:normAutofit/>
          </a:bodyPr>
          <a:lstStyle/>
          <a:p>
            <a:pPr algn="l"/>
            <a:r>
              <a:rPr lang="en-US" sz="2400" b="0" i="0" u="none" strike="noStrike" baseline="0" dirty="0">
                <a:latin typeface="xmetr"/>
              </a:rPr>
              <a:t>The state to be teleported is </a:t>
            </a:r>
            <a:r>
              <a:rPr lang="en-US" sz="2400" b="0" i="0" u="none" strike="noStrike" baseline="0" dirty="0">
                <a:latin typeface="CMSY10"/>
              </a:rPr>
              <a:t>|</a:t>
            </a:r>
            <a:r>
              <a:rPr lang="en-US" sz="2400" b="0" i="0" u="none" strike="noStrike" baseline="0" dirty="0">
                <a:latin typeface="CMMI10"/>
              </a:rPr>
              <a:t>ψ&gt;</a:t>
            </a:r>
            <a:r>
              <a:rPr lang="en-US" sz="2400" b="0" i="0" u="none" strike="noStrike" baseline="0" dirty="0">
                <a:latin typeface="CMSY10"/>
              </a:rPr>
              <a:t> </a:t>
            </a:r>
            <a:r>
              <a:rPr lang="en-US" sz="2400" b="0" i="0" u="none" strike="noStrike" baseline="0" dirty="0">
                <a:latin typeface="xmetr"/>
              </a:rPr>
              <a:t>= </a:t>
            </a:r>
            <a:r>
              <a:rPr lang="en-US" sz="2400" b="0" i="0" u="none" strike="noStrike" baseline="0" dirty="0">
                <a:latin typeface="CMMI10"/>
              </a:rPr>
              <a:t>α</a:t>
            </a:r>
            <a:r>
              <a:rPr lang="en-US" sz="2400" b="0" i="0" u="none" strike="noStrike" baseline="0" dirty="0">
                <a:latin typeface="CMSY10"/>
              </a:rPr>
              <a:t>|</a:t>
            </a:r>
            <a:r>
              <a:rPr lang="en-US" sz="2400" b="0" i="0" u="none" strike="noStrike" baseline="0" dirty="0">
                <a:latin typeface="xmetr"/>
              </a:rPr>
              <a:t>0&gt;+</a:t>
            </a:r>
            <a:r>
              <a:rPr lang="en-US" sz="2400" b="0" i="0" u="none" strike="noStrike" baseline="0" dirty="0">
                <a:latin typeface="CMMI10"/>
              </a:rPr>
              <a:t>β</a:t>
            </a:r>
            <a:r>
              <a:rPr lang="en-US" sz="2400" b="0" i="0" u="none" strike="noStrike" baseline="0" dirty="0">
                <a:latin typeface="CMSY10"/>
              </a:rPr>
              <a:t>|</a:t>
            </a:r>
            <a:r>
              <a:rPr lang="en-US" sz="2400" b="0" i="0" u="none" strike="noStrike" baseline="0" dirty="0">
                <a:latin typeface="xmetr"/>
              </a:rPr>
              <a:t>1&gt;, where </a:t>
            </a:r>
            <a:r>
              <a:rPr lang="en-US" sz="2400" b="0" i="0" u="none" strike="noStrike" baseline="0" dirty="0">
                <a:latin typeface="CMMI10"/>
              </a:rPr>
              <a:t>α </a:t>
            </a:r>
            <a:r>
              <a:rPr lang="en-US" sz="2400" b="0" i="0" u="none" strike="noStrike" baseline="0" dirty="0">
                <a:latin typeface="xmetr"/>
              </a:rPr>
              <a:t>and </a:t>
            </a:r>
            <a:r>
              <a:rPr lang="en-US" sz="2400" b="0" i="0" u="none" strike="noStrike" baseline="0" dirty="0">
                <a:latin typeface="CMMI10"/>
              </a:rPr>
              <a:t>β </a:t>
            </a:r>
            <a:r>
              <a:rPr lang="en-US" sz="2400" b="0" i="0" u="none" strike="noStrike" baseline="0" dirty="0">
                <a:latin typeface="xmetr"/>
              </a:rPr>
              <a:t>are unknown amplitudes. </a:t>
            </a:r>
          </a:p>
          <a:p>
            <a:pPr algn="l"/>
            <a:r>
              <a:rPr lang="en-US" sz="2400" b="0" i="0" u="none" strike="noStrike" baseline="0" dirty="0">
                <a:latin typeface="xmetr"/>
              </a:rPr>
              <a:t>The state input into the circuit </a:t>
            </a:r>
            <a:r>
              <a:rPr lang="en-US" sz="2400" b="0" i="0" u="none" strike="noStrike" baseline="0" dirty="0">
                <a:latin typeface="CMSY10"/>
              </a:rPr>
              <a:t>|</a:t>
            </a:r>
            <a:r>
              <a:rPr lang="en-US" sz="2400" b="0" i="0" u="none" strike="noStrike" baseline="0" dirty="0">
                <a:latin typeface="CMMI10"/>
              </a:rPr>
              <a:t>ψ</a:t>
            </a:r>
            <a:r>
              <a:rPr lang="en-US" sz="2400" b="0" i="0" u="none" strike="noStrike" baseline="-25000" dirty="0">
                <a:latin typeface="xmetr"/>
              </a:rPr>
              <a:t>0</a:t>
            </a:r>
            <a:r>
              <a:rPr lang="en-US" sz="2400" b="0" i="0" u="none" strike="noStrike" baseline="0" dirty="0">
                <a:latin typeface="xmetr"/>
              </a:rPr>
              <a:t>&gt;</a:t>
            </a:r>
            <a:r>
              <a:rPr lang="en-US" sz="2400" b="0" i="0" u="none" strike="noStrike" baseline="0" dirty="0">
                <a:latin typeface="CMSY10"/>
              </a:rPr>
              <a:t> </a:t>
            </a:r>
            <a:r>
              <a:rPr lang="en-US" sz="2400" b="0" i="0" u="none" strike="noStrike" baseline="0" dirty="0">
                <a:latin typeface="xmetr"/>
              </a:rPr>
              <a:t>is</a:t>
            </a:r>
          </a:p>
          <a:p>
            <a:pPr algn="l"/>
            <a:endParaRPr lang="en-IN" sz="3600" dirty="0"/>
          </a:p>
        </p:txBody>
      </p:sp>
      <p:sp>
        <p:nvSpPr>
          <p:cNvPr id="5" name="Slide Number Placeholder 4">
            <a:extLst>
              <a:ext uri="{FF2B5EF4-FFF2-40B4-BE49-F238E27FC236}">
                <a16:creationId xmlns:a16="http://schemas.microsoft.com/office/drawing/2014/main" id="{23D9346B-D805-FA7B-7C15-5D0AC7207116}"/>
              </a:ext>
            </a:extLst>
          </p:cNvPr>
          <p:cNvSpPr>
            <a:spLocks noGrp="1"/>
          </p:cNvSpPr>
          <p:nvPr>
            <p:ph type="sldNum" sz="quarter" idx="12"/>
          </p:nvPr>
        </p:nvSpPr>
        <p:spPr/>
        <p:txBody>
          <a:bodyPr/>
          <a:lstStyle/>
          <a:p>
            <a:fld id="{1B78CDEA-0C49-4D40-B6A6-C736D5A39426}" type="slidenum">
              <a:rPr lang="en-IN" smtClean="0"/>
              <a:t>26</a:t>
            </a:fld>
            <a:endParaRPr lang="en-IN"/>
          </a:p>
        </p:txBody>
      </p:sp>
      <p:pic>
        <p:nvPicPr>
          <p:cNvPr id="7" name="Picture 6">
            <a:extLst>
              <a:ext uri="{FF2B5EF4-FFF2-40B4-BE49-F238E27FC236}">
                <a16:creationId xmlns:a16="http://schemas.microsoft.com/office/drawing/2014/main" id="{72703596-DF08-411A-4CE5-B5B589A21067}"/>
              </a:ext>
            </a:extLst>
          </p:cNvPr>
          <p:cNvPicPr>
            <a:picLocks noChangeAspect="1"/>
          </p:cNvPicPr>
          <p:nvPr/>
        </p:nvPicPr>
        <p:blipFill>
          <a:blip r:embed="rId2"/>
          <a:stretch>
            <a:fillRect/>
          </a:stretch>
        </p:blipFill>
        <p:spPr>
          <a:xfrm>
            <a:off x="2928782" y="4613211"/>
            <a:ext cx="2219635" cy="647790"/>
          </a:xfrm>
          <a:prstGeom prst="rect">
            <a:avLst/>
          </a:prstGeom>
        </p:spPr>
      </p:pic>
      <p:pic>
        <p:nvPicPr>
          <p:cNvPr id="9" name="Picture 8">
            <a:extLst>
              <a:ext uri="{FF2B5EF4-FFF2-40B4-BE49-F238E27FC236}">
                <a16:creationId xmlns:a16="http://schemas.microsoft.com/office/drawing/2014/main" id="{B68B7F9B-D8AA-F730-ACE9-89AD2F8FFBB4}"/>
              </a:ext>
            </a:extLst>
          </p:cNvPr>
          <p:cNvPicPr>
            <a:picLocks noChangeAspect="1"/>
          </p:cNvPicPr>
          <p:nvPr/>
        </p:nvPicPr>
        <p:blipFill>
          <a:blip r:embed="rId3"/>
          <a:stretch>
            <a:fillRect/>
          </a:stretch>
        </p:blipFill>
        <p:spPr>
          <a:xfrm>
            <a:off x="1085869" y="342791"/>
            <a:ext cx="1748771" cy="2734565"/>
          </a:xfrm>
          <a:prstGeom prst="rect">
            <a:avLst/>
          </a:prstGeom>
        </p:spPr>
      </p:pic>
      <p:pic>
        <p:nvPicPr>
          <p:cNvPr id="11" name="Picture 10">
            <a:extLst>
              <a:ext uri="{FF2B5EF4-FFF2-40B4-BE49-F238E27FC236}">
                <a16:creationId xmlns:a16="http://schemas.microsoft.com/office/drawing/2014/main" id="{BD87CBC0-70E3-FD65-371C-5A1B55DB98A7}"/>
              </a:ext>
            </a:extLst>
          </p:cNvPr>
          <p:cNvPicPr>
            <a:picLocks noChangeAspect="1"/>
          </p:cNvPicPr>
          <p:nvPr/>
        </p:nvPicPr>
        <p:blipFill rotWithShape="1">
          <a:blip r:embed="rId4"/>
          <a:srcRect t="25000"/>
          <a:stretch/>
        </p:blipFill>
        <p:spPr>
          <a:xfrm>
            <a:off x="3539407" y="5177415"/>
            <a:ext cx="6649378" cy="971686"/>
          </a:xfrm>
          <a:prstGeom prst="rect">
            <a:avLst/>
          </a:prstGeom>
        </p:spPr>
      </p:pic>
      <p:sp>
        <p:nvSpPr>
          <p:cNvPr id="12" name="Rectangle 1">
            <a:extLst>
              <a:ext uri="{FF2B5EF4-FFF2-40B4-BE49-F238E27FC236}">
                <a16:creationId xmlns:a16="http://schemas.microsoft.com/office/drawing/2014/main" id="{DC42D89E-E3FB-188E-2EA1-2EE8E8531408}"/>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Date Placeholder 1">
            <a:extLst>
              <a:ext uri="{FF2B5EF4-FFF2-40B4-BE49-F238E27FC236}">
                <a16:creationId xmlns:a16="http://schemas.microsoft.com/office/drawing/2014/main" id="{87C622C5-A24B-A388-99A0-215BA14ADFC9}"/>
              </a:ext>
            </a:extLst>
          </p:cNvPr>
          <p:cNvSpPr>
            <a:spLocks noGrp="1"/>
          </p:cNvSpPr>
          <p:nvPr>
            <p:ph type="dt" sz="half" idx="10"/>
          </p:nvPr>
        </p:nvSpPr>
        <p:spPr/>
        <p:txBody>
          <a:bodyPr/>
          <a:lstStyle/>
          <a:p>
            <a:fld id="{1B9386A4-F2F2-405A-BC02-CFE250F23CDD}" type="datetime1">
              <a:rPr lang="en-IN" smtClean="0"/>
              <a:t>27-10-2026</a:t>
            </a:fld>
            <a:endParaRPr lang="en-IN"/>
          </a:p>
        </p:txBody>
      </p:sp>
    </p:spTree>
    <p:extLst>
      <p:ext uri="{BB962C8B-B14F-4D97-AF65-F5344CB8AC3E}">
        <p14:creationId xmlns:p14="http://schemas.microsoft.com/office/powerpoint/2010/main" val="2520668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2D028-6FBD-A466-A358-DF7D9F1D2AB7}"/>
              </a:ext>
            </a:extLst>
          </p:cNvPr>
          <p:cNvSpPr>
            <a:spLocks noGrp="1"/>
          </p:cNvSpPr>
          <p:nvPr>
            <p:ph idx="1"/>
          </p:nvPr>
        </p:nvSpPr>
        <p:spPr>
          <a:xfrm>
            <a:off x="838200" y="3429000"/>
            <a:ext cx="10515600" cy="2747963"/>
          </a:xfrm>
        </p:spPr>
        <p:txBody>
          <a:bodyPr>
            <a:normAutofit/>
          </a:bodyPr>
          <a:lstStyle/>
          <a:p>
            <a:pPr algn="l"/>
            <a:r>
              <a:rPr lang="en-US" b="0" i="0" u="none" strike="noStrike" baseline="0" dirty="0">
                <a:latin typeface="xmetr"/>
              </a:rPr>
              <a:t>Alice sends her qubits through a CNOT gate, obtaining</a:t>
            </a:r>
            <a:endParaRPr lang="en-IN" sz="4800" dirty="0"/>
          </a:p>
        </p:txBody>
      </p:sp>
      <p:sp>
        <p:nvSpPr>
          <p:cNvPr id="5" name="Slide Number Placeholder 4">
            <a:extLst>
              <a:ext uri="{FF2B5EF4-FFF2-40B4-BE49-F238E27FC236}">
                <a16:creationId xmlns:a16="http://schemas.microsoft.com/office/drawing/2014/main" id="{23D9346B-D805-FA7B-7C15-5D0AC7207116}"/>
              </a:ext>
            </a:extLst>
          </p:cNvPr>
          <p:cNvSpPr>
            <a:spLocks noGrp="1"/>
          </p:cNvSpPr>
          <p:nvPr>
            <p:ph type="sldNum" sz="quarter" idx="12"/>
          </p:nvPr>
        </p:nvSpPr>
        <p:spPr/>
        <p:txBody>
          <a:bodyPr/>
          <a:lstStyle/>
          <a:p>
            <a:fld id="{1B78CDEA-0C49-4D40-B6A6-C736D5A39426}" type="slidenum">
              <a:rPr lang="en-IN" smtClean="0"/>
              <a:t>27</a:t>
            </a:fld>
            <a:endParaRPr lang="en-IN"/>
          </a:p>
        </p:txBody>
      </p:sp>
      <p:pic>
        <p:nvPicPr>
          <p:cNvPr id="6" name="Picture 5">
            <a:extLst>
              <a:ext uri="{FF2B5EF4-FFF2-40B4-BE49-F238E27FC236}">
                <a16:creationId xmlns:a16="http://schemas.microsoft.com/office/drawing/2014/main" id="{6FF91EF3-5F80-5FAE-F41F-EDB4070C3E49}"/>
              </a:ext>
            </a:extLst>
          </p:cNvPr>
          <p:cNvPicPr>
            <a:picLocks noChangeAspect="1"/>
          </p:cNvPicPr>
          <p:nvPr/>
        </p:nvPicPr>
        <p:blipFill>
          <a:blip r:embed="rId2"/>
          <a:stretch>
            <a:fillRect/>
          </a:stretch>
        </p:blipFill>
        <p:spPr>
          <a:xfrm>
            <a:off x="1858966" y="4086157"/>
            <a:ext cx="7230484" cy="971686"/>
          </a:xfrm>
          <a:prstGeom prst="rect">
            <a:avLst/>
          </a:prstGeom>
        </p:spPr>
      </p:pic>
      <p:pic>
        <p:nvPicPr>
          <p:cNvPr id="10" name="Picture 9">
            <a:extLst>
              <a:ext uri="{FF2B5EF4-FFF2-40B4-BE49-F238E27FC236}">
                <a16:creationId xmlns:a16="http://schemas.microsoft.com/office/drawing/2014/main" id="{85A8FF25-6276-D129-C935-36A9A7F50454}"/>
              </a:ext>
            </a:extLst>
          </p:cNvPr>
          <p:cNvPicPr>
            <a:picLocks noChangeAspect="1"/>
          </p:cNvPicPr>
          <p:nvPr/>
        </p:nvPicPr>
        <p:blipFill rotWithShape="1">
          <a:blip r:embed="rId3"/>
          <a:srcRect r="68418"/>
          <a:stretch/>
        </p:blipFill>
        <p:spPr>
          <a:xfrm>
            <a:off x="1014984" y="149807"/>
            <a:ext cx="3023616" cy="3112215"/>
          </a:xfrm>
          <a:prstGeom prst="rect">
            <a:avLst/>
          </a:prstGeom>
        </p:spPr>
      </p:pic>
      <p:sp>
        <p:nvSpPr>
          <p:cNvPr id="13" name="Rectangle 1">
            <a:extLst>
              <a:ext uri="{FF2B5EF4-FFF2-40B4-BE49-F238E27FC236}">
                <a16:creationId xmlns:a16="http://schemas.microsoft.com/office/drawing/2014/main" id="{4BC487B7-4C85-6175-8919-4623995494E6}"/>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Date Placeholder 1">
            <a:extLst>
              <a:ext uri="{FF2B5EF4-FFF2-40B4-BE49-F238E27FC236}">
                <a16:creationId xmlns:a16="http://schemas.microsoft.com/office/drawing/2014/main" id="{751AB65C-4FA6-6898-CCA6-F6159B776166}"/>
              </a:ext>
            </a:extLst>
          </p:cNvPr>
          <p:cNvSpPr>
            <a:spLocks noGrp="1"/>
          </p:cNvSpPr>
          <p:nvPr>
            <p:ph type="dt" sz="half" idx="10"/>
          </p:nvPr>
        </p:nvSpPr>
        <p:spPr/>
        <p:txBody>
          <a:bodyPr/>
          <a:lstStyle/>
          <a:p>
            <a:fld id="{A8386F9F-6A02-4A96-92D4-9539F5E7BBBA}" type="datetime1">
              <a:rPr lang="en-IN" smtClean="0"/>
              <a:t>27-10-2026</a:t>
            </a:fld>
            <a:endParaRPr lang="en-IN"/>
          </a:p>
        </p:txBody>
      </p:sp>
    </p:spTree>
    <p:extLst>
      <p:ext uri="{BB962C8B-B14F-4D97-AF65-F5344CB8AC3E}">
        <p14:creationId xmlns:p14="http://schemas.microsoft.com/office/powerpoint/2010/main" val="2863152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2D028-6FBD-A466-A358-DF7D9F1D2AB7}"/>
              </a:ext>
            </a:extLst>
          </p:cNvPr>
          <p:cNvSpPr>
            <a:spLocks noGrp="1"/>
          </p:cNvSpPr>
          <p:nvPr>
            <p:ph idx="1"/>
          </p:nvPr>
        </p:nvSpPr>
        <p:spPr>
          <a:xfrm>
            <a:off x="838200" y="3429000"/>
            <a:ext cx="10515600" cy="2747963"/>
          </a:xfrm>
        </p:spPr>
        <p:txBody>
          <a:bodyPr>
            <a:normAutofit/>
          </a:bodyPr>
          <a:lstStyle/>
          <a:p>
            <a:pPr algn="l"/>
            <a:r>
              <a:rPr lang="en-US" sz="2400" b="0" i="0" u="none" strike="noStrike" baseline="0" dirty="0">
                <a:latin typeface="xmetr"/>
              </a:rPr>
              <a:t>She then sends the first qubit through a Hadamard gate, obtaining</a:t>
            </a:r>
          </a:p>
          <a:p>
            <a:pPr algn="l"/>
            <a:endParaRPr lang="en-US" sz="4800" dirty="0">
              <a:latin typeface="xmetr"/>
            </a:endParaRPr>
          </a:p>
          <a:p>
            <a:pPr algn="l"/>
            <a:r>
              <a:rPr lang="en-US" sz="2400" b="0" i="0" u="none" strike="noStrike" baseline="0" dirty="0">
                <a:latin typeface="xmetr"/>
              </a:rPr>
              <a:t>This state may be re-written in the following way, simply by regrouping terms</a:t>
            </a:r>
            <a:endParaRPr lang="en-IN" sz="6000" dirty="0"/>
          </a:p>
        </p:txBody>
      </p:sp>
      <p:sp>
        <p:nvSpPr>
          <p:cNvPr id="5" name="Slide Number Placeholder 4">
            <a:extLst>
              <a:ext uri="{FF2B5EF4-FFF2-40B4-BE49-F238E27FC236}">
                <a16:creationId xmlns:a16="http://schemas.microsoft.com/office/drawing/2014/main" id="{23D9346B-D805-FA7B-7C15-5D0AC7207116}"/>
              </a:ext>
            </a:extLst>
          </p:cNvPr>
          <p:cNvSpPr>
            <a:spLocks noGrp="1"/>
          </p:cNvSpPr>
          <p:nvPr>
            <p:ph type="sldNum" sz="quarter" idx="12"/>
          </p:nvPr>
        </p:nvSpPr>
        <p:spPr/>
        <p:txBody>
          <a:bodyPr/>
          <a:lstStyle/>
          <a:p>
            <a:fld id="{1B78CDEA-0C49-4D40-B6A6-C736D5A39426}" type="slidenum">
              <a:rPr lang="en-IN" smtClean="0"/>
              <a:t>28</a:t>
            </a:fld>
            <a:endParaRPr lang="en-IN"/>
          </a:p>
        </p:txBody>
      </p:sp>
      <p:pic>
        <p:nvPicPr>
          <p:cNvPr id="10" name="Picture 9">
            <a:extLst>
              <a:ext uri="{FF2B5EF4-FFF2-40B4-BE49-F238E27FC236}">
                <a16:creationId xmlns:a16="http://schemas.microsoft.com/office/drawing/2014/main" id="{85A8FF25-6276-D129-C935-36A9A7F50454}"/>
              </a:ext>
            </a:extLst>
          </p:cNvPr>
          <p:cNvPicPr>
            <a:picLocks noChangeAspect="1"/>
          </p:cNvPicPr>
          <p:nvPr/>
        </p:nvPicPr>
        <p:blipFill rotWithShape="1">
          <a:blip r:embed="rId2"/>
          <a:srcRect r="57879"/>
          <a:stretch/>
        </p:blipFill>
        <p:spPr>
          <a:xfrm>
            <a:off x="1014984" y="149807"/>
            <a:ext cx="4032504" cy="3112215"/>
          </a:xfrm>
          <a:prstGeom prst="rect">
            <a:avLst/>
          </a:prstGeom>
        </p:spPr>
      </p:pic>
      <p:pic>
        <p:nvPicPr>
          <p:cNvPr id="7" name="Picture 6">
            <a:extLst>
              <a:ext uri="{FF2B5EF4-FFF2-40B4-BE49-F238E27FC236}">
                <a16:creationId xmlns:a16="http://schemas.microsoft.com/office/drawing/2014/main" id="{C53D7340-DBEB-6045-92F2-7F87AD8765B2}"/>
              </a:ext>
            </a:extLst>
          </p:cNvPr>
          <p:cNvPicPr>
            <a:picLocks noChangeAspect="1"/>
          </p:cNvPicPr>
          <p:nvPr/>
        </p:nvPicPr>
        <p:blipFill rotWithShape="1">
          <a:blip r:embed="rId3"/>
          <a:srcRect t="13253" b="11996"/>
          <a:stretch/>
        </p:blipFill>
        <p:spPr>
          <a:xfrm>
            <a:off x="1413666" y="3822192"/>
            <a:ext cx="8688012" cy="804672"/>
          </a:xfrm>
          <a:prstGeom prst="rect">
            <a:avLst/>
          </a:prstGeom>
        </p:spPr>
      </p:pic>
      <p:pic>
        <p:nvPicPr>
          <p:cNvPr id="9" name="Picture 8">
            <a:extLst>
              <a:ext uri="{FF2B5EF4-FFF2-40B4-BE49-F238E27FC236}">
                <a16:creationId xmlns:a16="http://schemas.microsoft.com/office/drawing/2014/main" id="{CD57DDA6-FEA1-3A1C-902E-07B8946D9E41}"/>
              </a:ext>
            </a:extLst>
          </p:cNvPr>
          <p:cNvPicPr>
            <a:picLocks noChangeAspect="1"/>
          </p:cNvPicPr>
          <p:nvPr/>
        </p:nvPicPr>
        <p:blipFill>
          <a:blip r:embed="rId4"/>
          <a:stretch>
            <a:fillRect/>
          </a:stretch>
        </p:blipFill>
        <p:spPr>
          <a:xfrm>
            <a:off x="4666435" y="2367621"/>
            <a:ext cx="701093" cy="893894"/>
          </a:xfrm>
          <a:prstGeom prst="rect">
            <a:avLst/>
          </a:prstGeom>
        </p:spPr>
      </p:pic>
      <p:pic>
        <p:nvPicPr>
          <p:cNvPr id="6" name="Picture 5">
            <a:extLst>
              <a:ext uri="{FF2B5EF4-FFF2-40B4-BE49-F238E27FC236}">
                <a16:creationId xmlns:a16="http://schemas.microsoft.com/office/drawing/2014/main" id="{31325A58-9C46-71F1-A2D2-7A89D7A85A22}"/>
              </a:ext>
            </a:extLst>
          </p:cNvPr>
          <p:cNvPicPr>
            <a:picLocks noChangeAspect="1"/>
          </p:cNvPicPr>
          <p:nvPr/>
        </p:nvPicPr>
        <p:blipFill>
          <a:blip r:embed="rId5"/>
          <a:stretch>
            <a:fillRect/>
          </a:stretch>
        </p:blipFill>
        <p:spPr>
          <a:xfrm>
            <a:off x="1350917" y="5020056"/>
            <a:ext cx="6631036" cy="1156907"/>
          </a:xfrm>
          <a:prstGeom prst="rect">
            <a:avLst/>
          </a:prstGeom>
        </p:spPr>
      </p:pic>
      <p:sp>
        <p:nvSpPr>
          <p:cNvPr id="8" name="Rectangle 1">
            <a:extLst>
              <a:ext uri="{FF2B5EF4-FFF2-40B4-BE49-F238E27FC236}">
                <a16:creationId xmlns:a16="http://schemas.microsoft.com/office/drawing/2014/main" id="{408E9322-2F36-26A4-C3CA-1C34E5A23E22}"/>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Date Placeholder 1">
            <a:extLst>
              <a:ext uri="{FF2B5EF4-FFF2-40B4-BE49-F238E27FC236}">
                <a16:creationId xmlns:a16="http://schemas.microsoft.com/office/drawing/2014/main" id="{BFA3A422-2CB8-16B2-C06A-51EA7ABD9620}"/>
              </a:ext>
            </a:extLst>
          </p:cNvPr>
          <p:cNvSpPr>
            <a:spLocks noGrp="1"/>
          </p:cNvSpPr>
          <p:nvPr>
            <p:ph type="dt" sz="half" idx="10"/>
          </p:nvPr>
        </p:nvSpPr>
        <p:spPr/>
        <p:txBody>
          <a:bodyPr/>
          <a:lstStyle/>
          <a:p>
            <a:fld id="{385204F9-8421-4E0F-A706-B8B9CB810A89}" type="datetime1">
              <a:rPr lang="en-IN" smtClean="0"/>
              <a:t>27-10-2026</a:t>
            </a:fld>
            <a:endParaRPr lang="en-IN"/>
          </a:p>
        </p:txBody>
      </p:sp>
    </p:spTree>
    <p:extLst>
      <p:ext uri="{BB962C8B-B14F-4D97-AF65-F5344CB8AC3E}">
        <p14:creationId xmlns:p14="http://schemas.microsoft.com/office/powerpoint/2010/main" val="954732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660CD-D52F-AD63-8D23-C41D64EB310A}"/>
              </a:ext>
            </a:extLst>
          </p:cNvPr>
          <p:cNvSpPr>
            <a:spLocks noGrp="1"/>
          </p:cNvSpPr>
          <p:nvPr>
            <p:ph idx="1"/>
          </p:nvPr>
        </p:nvSpPr>
        <p:spPr>
          <a:xfrm>
            <a:off x="169333" y="337130"/>
            <a:ext cx="11184467" cy="5839833"/>
          </a:xfrm>
        </p:spPr>
        <p:txBody>
          <a:bodyPr>
            <a:normAutofit lnSpcReduction="10000"/>
          </a:bodyPr>
          <a:lstStyle/>
          <a:p>
            <a:endParaRPr lang="en-US" sz="1800" b="0" i="0" u="none" strike="noStrike" baseline="0" dirty="0">
              <a:latin typeface="xmetr"/>
            </a:endParaRPr>
          </a:p>
          <a:p>
            <a:endParaRPr lang="en-US" sz="1800" dirty="0">
              <a:latin typeface="xmetr"/>
            </a:endParaRPr>
          </a:p>
          <a:p>
            <a:r>
              <a:rPr lang="en-US" sz="2400" b="0" i="0" u="none" strike="noStrike" baseline="0" dirty="0">
                <a:latin typeface="xmetr"/>
              </a:rPr>
              <a:t>This expression naturally breaks down into four terms</a:t>
            </a:r>
          </a:p>
          <a:p>
            <a:pPr algn="l"/>
            <a:r>
              <a:rPr lang="en-US" sz="2400" b="0" i="0" u="none" strike="noStrike" baseline="0" dirty="0">
                <a:latin typeface="xmetr"/>
              </a:rPr>
              <a:t>The first term has Alice’s qubits in the state </a:t>
            </a:r>
            <a:r>
              <a:rPr lang="en-US" sz="2400" b="0" i="0" u="none" strike="noStrike" baseline="0" dirty="0">
                <a:latin typeface="CMSY10"/>
              </a:rPr>
              <a:t>|</a:t>
            </a:r>
            <a:r>
              <a:rPr lang="en-US" sz="2400" b="0" i="0" u="none" strike="noStrike" baseline="0" dirty="0">
                <a:latin typeface="xmetr"/>
              </a:rPr>
              <a:t>00&gt;, and Bob’s qubit in the state </a:t>
            </a:r>
            <a:r>
              <a:rPr lang="en-US" sz="2400" b="0" i="0" u="none" strike="noStrike" baseline="0" dirty="0">
                <a:latin typeface="CMMI10"/>
              </a:rPr>
              <a:t>α</a:t>
            </a:r>
            <a:r>
              <a:rPr lang="en-US" sz="2400" b="0" i="0" u="none" strike="noStrike" baseline="0" dirty="0">
                <a:latin typeface="CMSY10"/>
              </a:rPr>
              <a:t>|</a:t>
            </a:r>
            <a:r>
              <a:rPr lang="en-US" sz="2400" b="0" i="0" u="none" strike="noStrike" baseline="0" dirty="0">
                <a:latin typeface="xmetr"/>
              </a:rPr>
              <a:t>0&gt;</a:t>
            </a:r>
            <a:r>
              <a:rPr lang="en-US" sz="2400" b="0" i="0" u="none" strike="noStrike" baseline="0" dirty="0">
                <a:latin typeface="CMSY10"/>
              </a:rPr>
              <a:t> </a:t>
            </a:r>
            <a:r>
              <a:rPr lang="en-US" sz="2400" b="0" i="0" u="none" strike="noStrike" baseline="0" dirty="0">
                <a:latin typeface="xmetr"/>
              </a:rPr>
              <a:t>+ </a:t>
            </a:r>
            <a:r>
              <a:rPr lang="en-US" sz="2400" b="0" i="0" u="none" strike="noStrike" baseline="0" dirty="0">
                <a:latin typeface="CMMI10"/>
              </a:rPr>
              <a:t>β</a:t>
            </a:r>
            <a:r>
              <a:rPr lang="en-US" sz="2400" b="0" i="0" u="none" strike="noStrike" baseline="0" dirty="0">
                <a:latin typeface="CMSY10"/>
              </a:rPr>
              <a:t>|</a:t>
            </a:r>
            <a:r>
              <a:rPr lang="en-US" sz="2400" b="0" i="0" u="none" strike="noStrike" baseline="0" dirty="0">
                <a:latin typeface="xmetr"/>
              </a:rPr>
              <a:t>1&gt;</a:t>
            </a:r>
            <a:r>
              <a:rPr lang="en-US" sz="2400" b="0" i="0" u="none" strike="noStrike" baseline="0" dirty="0">
                <a:latin typeface="CMSY10"/>
              </a:rPr>
              <a:t> </a:t>
            </a:r>
            <a:r>
              <a:rPr lang="en-US" sz="2400" b="0" i="0" u="none" strike="noStrike" baseline="0" dirty="0">
                <a:latin typeface="xmetr"/>
              </a:rPr>
              <a:t>– which is the original state </a:t>
            </a:r>
            <a:r>
              <a:rPr lang="el-GR" sz="2400" b="0" i="0" u="none" strike="noStrike" baseline="0" dirty="0">
                <a:latin typeface="CMSY10"/>
              </a:rPr>
              <a:t>|</a:t>
            </a:r>
            <a:r>
              <a:rPr lang="el-GR" sz="2400" b="0" i="0" u="none" strike="noStrike" baseline="0" dirty="0">
                <a:latin typeface="CMMI10"/>
              </a:rPr>
              <a:t>ψ</a:t>
            </a:r>
            <a:r>
              <a:rPr lang="en-US" sz="2400" b="0" i="0" u="none" strike="noStrike" baseline="0" dirty="0">
                <a:latin typeface="CMMI10"/>
              </a:rPr>
              <a:t> &gt;</a:t>
            </a:r>
            <a:r>
              <a:rPr lang="el-GR" sz="2400" b="0" i="0" u="none" strike="noStrike" baseline="0" dirty="0">
                <a:latin typeface="xmetr"/>
              </a:rPr>
              <a:t>.</a:t>
            </a:r>
            <a:endParaRPr lang="en-US" sz="2400" b="0" i="0" u="none" strike="noStrike" baseline="0" dirty="0">
              <a:latin typeface="xmetr"/>
            </a:endParaRPr>
          </a:p>
          <a:p>
            <a:pPr algn="l"/>
            <a:r>
              <a:rPr lang="en-US" sz="2400" b="0" i="0" u="none" strike="noStrike" baseline="0" dirty="0">
                <a:latin typeface="xmetr"/>
              </a:rPr>
              <a:t>Similarly, from the previous expression we can read off Bob’s post measurement state, given the result of Alice’s measurement:</a:t>
            </a:r>
          </a:p>
          <a:p>
            <a:pPr algn="l"/>
            <a:endParaRPr lang="en-US" sz="2400" dirty="0">
              <a:latin typeface="xmetr"/>
            </a:endParaRPr>
          </a:p>
          <a:p>
            <a:pPr algn="l"/>
            <a:endParaRPr lang="en-US" sz="2400" dirty="0">
              <a:latin typeface="xmetr"/>
            </a:endParaRPr>
          </a:p>
          <a:p>
            <a:pPr algn="l"/>
            <a:endParaRPr lang="en-US" sz="2400" dirty="0">
              <a:latin typeface="xmetr"/>
            </a:endParaRPr>
          </a:p>
          <a:p>
            <a:pPr algn="l"/>
            <a:endParaRPr lang="en-US" sz="2400" dirty="0">
              <a:latin typeface="xmetr"/>
            </a:endParaRPr>
          </a:p>
          <a:p>
            <a:pPr algn="l"/>
            <a:endParaRPr lang="en-US" sz="2400" dirty="0">
              <a:latin typeface="xmetr"/>
            </a:endParaRPr>
          </a:p>
          <a:p>
            <a:pPr algn="l"/>
            <a:endParaRPr lang="en-US" sz="2400" dirty="0">
              <a:latin typeface="xmetr"/>
            </a:endParaRPr>
          </a:p>
          <a:p>
            <a:pPr algn="l"/>
            <a:r>
              <a:rPr lang="en-US" sz="2400" b="0" i="0" u="none" strike="noStrike" baseline="0" dirty="0">
                <a:latin typeface="xmetr"/>
              </a:rPr>
              <a:t>Depending on Alice’s measurement outcome, Bob’s qubit will end up in one of these </a:t>
            </a:r>
            <a:r>
              <a:rPr lang="en-IN" sz="2400" b="0" i="0" u="none" strike="noStrike" baseline="0" dirty="0">
                <a:latin typeface="xmetr"/>
              </a:rPr>
              <a:t>four possible states</a:t>
            </a:r>
            <a:endParaRPr lang="en-IN" sz="3200" dirty="0"/>
          </a:p>
        </p:txBody>
      </p:sp>
      <p:sp>
        <p:nvSpPr>
          <p:cNvPr id="5" name="Slide Number Placeholder 4">
            <a:extLst>
              <a:ext uri="{FF2B5EF4-FFF2-40B4-BE49-F238E27FC236}">
                <a16:creationId xmlns:a16="http://schemas.microsoft.com/office/drawing/2014/main" id="{DC1E2C26-99ED-3CE5-BF0D-1A1DD1BD76FD}"/>
              </a:ext>
            </a:extLst>
          </p:cNvPr>
          <p:cNvSpPr>
            <a:spLocks noGrp="1"/>
          </p:cNvSpPr>
          <p:nvPr>
            <p:ph type="sldNum" sz="quarter" idx="12"/>
          </p:nvPr>
        </p:nvSpPr>
        <p:spPr/>
        <p:txBody>
          <a:bodyPr/>
          <a:lstStyle/>
          <a:p>
            <a:fld id="{1B78CDEA-0C49-4D40-B6A6-C736D5A39426}" type="slidenum">
              <a:rPr lang="en-IN" smtClean="0"/>
              <a:t>29</a:t>
            </a:fld>
            <a:endParaRPr lang="en-IN"/>
          </a:p>
        </p:txBody>
      </p:sp>
      <p:pic>
        <p:nvPicPr>
          <p:cNvPr id="9" name="Picture 8">
            <a:extLst>
              <a:ext uri="{FF2B5EF4-FFF2-40B4-BE49-F238E27FC236}">
                <a16:creationId xmlns:a16="http://schemas.microsoft.com/office/drawing/2014/main" id="{58C5B4B7-1A59-FCD9-C8C1-8FAB575C8800}"/>
              </a:ext>
            </a:extLst>
          </p:cNvPr>
          <p:cNvPicPr>
            <a:picLocks noChangeAspect="1"/>
          </p:cNvPicPr>
          <p:nvPr/>
        </p:nvPicPr>
        <p:blipFill rotWithShape="1">
          <a:blip r:embed="rId2"/>
          <a:srcRect b="47019"/>
          <a:stretch/>
        </p:blipFill>
        <p:spPr>
          <a:xfrm>
            <a:off x="387669" y="337130"/>
            <a:ext cx="6299012" cy="700524"/>
          </a:xfrm>
          <a:prstGeom prst="rect">
            <a:avLst/>
          </a:prstGeom>
        </p:spPr>
      </p:pic>
      <p:pic>
        <p:nvPicPr>
          <p:cNvPr id="11" name="Picture 10">
            <a:extLst>
              <a:ext uri="{FF2B5EF4-FFF2-40B4-BE49-F238E27FC236}">
                <a16:creationId xmlns:a16="http://schemas.microsoft.com/office/drawing/2014/main" id="{4F6E6894-F6AF-B73C-A5CB-39792A723660}"/>
              </a:ext>
            </a:extLst>
          </p:cNvPr>
          <p:cNvPicPr>
            <a:picLocks noChangeAspect="1"/>
          </p:cNvPicPr>
          <p:nvPr/>
        </p:nvPicPr>
        <p:blipFill>
          <a:blip r:embed="rId3"/>
          <a:stretch>
            <a:fillRect/>
          </a:stretch>
        </p:blipFill>
        <p:spPr>
          <a:xfrm>
            <a:off x="6517542" y="534684"/>
            <a:ext cx="4836258" cy="502970"/>
          </a:xfrm>
          <a:prstGeom prst="rect">
            <a:avLst/>
          </a:prstGeom>
        </p:spPr>
      </p:pic>
      <p:pic>
        <p:nvPicPr>
          <p:cNvPr id="13" name="Picture 12">
            <a:extLst>
              <a:ext uri="{FF2B5EF4-FFF2-40B4-BE49-F238E27FC236}">
                <a16:creationId xmlns:a16="http://schemas.microsoft.com/office/drawing/2014/main" id="{7176937A-3A84-9EAB-51E0-894F9AA1F0E4}"/>
              </a:ext>
            </a:extLst>
          </p:cNvPr>
          <p:cNvPicPr>
            <a:picLocks noChangeAspect="1"/>
          </p:cNvPicPr>
          <p:nvPr/>
        </p:nvPicPr>
        <p:blipFill>
          <a:blip r:embed="rId4"/>
          <a:stretch>
            <a:fillRect/>
          </a:stretch>
        </p:blipFill>
        <p:spPr>
          <a:xfrm>
            <a:off x="3336280" y="2930429"/>
            <a:ext cx="3732032" cy="2361854"/>
          </a:xfrm>
          <a:prstGeom prst="rect">
            <a:avLst/>
          </a:prstGeom>
        </p:spPr>
      </p:pic>
      <p:sp>
        <p:nvSpPr>
          <p:cNvPr id="14" name="Rectangle 1">
            <a:extLst>
              <a:ext uri="{FF2B5EF4-FFF2-40B4-BE49-F238E27FC236}">
                <a16:creationId xmlns:a16="http://schemas.microsoft.com/office/drawing/2014/main" id="{314EF217-E0A1-CEEE-E5E3-031CF1313B39}"/>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Date Placeholder 1">
            <a:extLst>
              <a:ext uri="{FF2B5EF4-FFF2-40B4-BE49-F238E27FC236}">
                <a16:creationId xmlns:a16="http://schemas.microsoft.com/office/drawing/2014/main" id="{71470E88-872B-993E-8A9A-DE8399301E18}"/>
              </a:ext>
            </a:extLst>
          </p:cNvPr>
          <p:cNvSpPr>
            <a:spLocks noGrp="1"/>
          </p:cNvSpPr>
          <p:nvPr>
            <p:ph type="dt" sz="half" idx="10"/>
          </p:nvPr>
        </p:nvSpPr>
        <p:spPr/>
        <p:txBody>
          <a:bodyPr/>
          <a:lstStyle/>
          <a:p>
            <a:fld id="{EA23DFF9-35A9-4A5B-A461-2C89C30E6AC6}" type="datetime1">
              <a:rPr lang="en-IN" smtClean="0"/>
              <a:t>27-10-2026</a:t>
            </a:fld>
            <a:endParaRPr lang="en-IN"/>
          </a:p>
        </p:txBody>
      </p:sp>
    </p:spTree>
    <p:extLst>
      <p:ext uri="{BB962C8B-B14F-4D97-AF65-F5344CB8AC3E}">
        <p14:creationId xmlns:p14="http://schemas.microsoft.com/office/powerpoint/2010/main" val="2289450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EB1BC-2BCB-7E9F-9662-A7C9E70E7C5E}"/>
              </a:ext>
            </a:extLst>
          </p:cNvPr>
          <p:cNvSpPr>
            <a:spLocks noGrp="1"/>
          </p:cNvSpPr>
          <p:nvPr>
            <p:ph idx="1"/>
          </p:nvPr>
        </p:nvSpPr>
        <p:spPr>
          <a:xfrm>
            <a:off x="377258" y="1088814"/>
            <a:ext cx="11069675" cy="4194387"/>
          </a:xfrm>
        </p:spPr>
        <p:txBody>
          <a:bodyPr>
            <a:normAutofit/>
          </a:bodyPr>
          <a:lstStyle/>
          <a:p>
            <a:pPr marL="342900" indent="-342900" algn="l">
              <a:buFont typeface="Arial" panose="020B0604020202020204" pitchFamily="34" charset="0"/>
              <a:buChar char="•"/>
            </a:pPr>
            <a:r>
              <a:rPr lang="en-US" sz="2800" b="0" i="0" u="none" strike="noStrike" baseline="0" dirty="0">
                <a:latin typeface="xmetr"/>
              </a:rPr>
              <a:t>Once Bob has learned the measurement outcome, Bob can ‘fix up’ his state, recovering </a:t>
            </a:r>
            <a:r>
              <a:rPr lang="en-US" sz="2800" b="0" i="0" u="none" strike="noStrike" baseline="0" dirty="0">
                <a:latin typeface="CMSY10"/>
              </a:rPr>
              <a:t>|</a:t>
            </a:r>
            <a:r>
              <a:rPr lang="en-US" sz="2800" b="0" i="0" u="none" strike="noStrike" baseline="0" dirty="0">
                <a:latin typeface="CMMI10"/>
              </a:rPr>
              <a:t>ψ&gt;</a:t>
            </a:r>
            <a:r>
              <a:rPr lang="en-US" sz="2800" b="0" i="0" u="none" strike="noStrike" baseline="0" dirty="0">
                <a:latin typeface="xmetr"/>
              </a:rPr>
              <a:t>, by applying the appropriate quantum gate. </a:t>
            </a:r>
          </a:p>
          <a:p>
            <a:pPr marL="342900" indent="-342900" algn="l">
              <a:buFont typeface="Arial" panose="020B0604020202020204" pitchFamily="34" charset="0"/>
              <a:buChar char="•"/>
            </a:pPr>
            <a:r>
              <a:rPr lang="en-US" sz="2800" b="0" i="0" u="none" strike="noStrike" baseline="0" dirty="0">
                <a:latin typeface="xmetr"/>
              </a:rPr>
              <a:t>For example, in the case where the measurement yields 00, Bob doesn’t need to do anything. If the measurement is 01 then Bob can fix up his state by applying the </a:t>
            </a:r>
            <a:r>
              <a:rPr lang="en-US" sz="2800" b="0" i="0" u="none" strike="noStrike" baseline="0" dirty="0">
                <a:latin typeface="CMMI10"/>
              </a:rPr>
              <a:t>X </a:t>
            </a:r>
            <a:r>
              <a:rPr lang="en-US" sz="2800" b="0" i="0" u="none" strike="noStrike" baseline="0" dirty="0">
                <a:latin typeface="xmetr"/>
              </a:rPr>
              <a:t>gate. </a:t>
            </a:r>
          </a:p>
          <a:p>
            <a:pPr marL="342900" indent="-342900" algn="l">
              <a:buFont typeface="Arial" panose="020B0604020202020204" pitchFamily="34" charset="0"/>
              <a:buChar char="•"/>
            </a:pPr>
            <a:r>
              <a:rPr lang="en-US" sz="2800" b="0" i="0" u="none" strike="noStrike" baseline="0" dirty="0">
                <a:latin typeface="xmetr"/>
              </a:rPr>
              <a:t>If the measurement is 10 then Bob can fix up his state by applying the </a:t>
            </a:r>
            <a:r>
              <a:rPr lang="en-US" sz="2800" b="0" i="0" u="none" strike="noStrike" baseline="0" dirty="0">
                <a:latin typeface="CMMI10"/>
              </a:rPr>
              <a:t>Z </a:t>
            </a:r>
            <a:r>
              <a:rPr lang="en-US" sz="2800" b="0" i="0" u="none" strike="noStrike" baseline="0" dirty="0">
                <a:latin typeface="xmetr"/>
              </a:rPr>
              <a:t>gate. </a:t>
            </a:r>
          </a:p>
          <a:p>
            <a:pPr marL="342900" indent="-342900" algn="l">
              <a:buFont typeface="Arial" panose="020B0604020202020204" pitchFamily="34" charset="0"/>
              <a:buChar char="•"/>
            </a:pPr>
            <a:r>
              <a:rPr lang="en-US" sz="2800" b="0" i="0" u="none" strike="noStrike" baseline="0" dirty="0">
                <a:latin typeface="xmetr"/>
              </a:rPr>
              <a:t>If the measurement is 11 then Bob can fix up his state by applying first an </a:t>
            </a:r>
            <a:r>
              <a:rPr lang="en-US" sz="2800" b="0" i="0" u="none" strike="noStrike" baseline="0" dirty="0">
                <a:latin typeface="CMMI10"/>
              </a:rPr>
              <a:t>X </a:t>
            </a:r>
            <a:r>
              <a:rPr lang="en-US" sz="2800" b="0" i="0" u="none" strike="noStrike" baseline="0" dirty="0">
                <a:latin typeface="xmetr"/>
              </a:rPr>
              <a:t>and then a </a:t>
            </a:r>
            <a:r>
              <a:rPr lang="en-US" sz="2800" b="0" i="0" u="none" strike="noStrike" baseline="0" dirty="0">
                <a:latin typeface="CMMI10"/>
              </a:rPr>
              <a:t>Z </a:t>
            </a:r>
            <a:r>
              <a:rPr lang="en-US" sz="2800" b="0" i="0" u="none" strike="noStrike" baseline="0" dirty="0">
                <a:latin typeface="xmetr"/>
              </a:rPr>
              <a:t>gate. </a:t>
            </a:r>
          </a:p>
        </p:txBody>
      </p:sp>
      <p:sp>
        <p:nvSpPr>
          <p:cNvPr id="5" name="Slide Number Placeholder 4">
            <a:extLst>
              <a:ext uri="{FF2B5EF4-FFF2-40B4-BE49-F238E27FC236}">
                <a16:creationId xmlns:a16="http://schemas.microsoft.com/office/drawing/2014/main" id="{F465654F-7A19-E7CA-D2B6-0689BFB34D9F}"/>
              </a:ext>
            </a:extLst>
          </p:cNvPr>
          <p:cNvSpPr>
            <a:spLocks noGrp="1"/>
          </p:cNvSpPr>
          <p:nvPr>
            <p:ph type="sldNum" sz="quarter" idx="12"/>
          </p:nvPr>
        </p:nvSpPr>
        <p:spPr/>
        <p:txBody>
          <a:bodyPr/>
          <a:lstStyle/>
          <a:p>
            <a:fld id="{1B78CDEA-0C49-4D40-B6A6-C736D5A39426}" type="slidenum">
              <a:rPr lang="en-IN" smtClean="0"/>
              <a:t>30</a:t>
            </a:fld>
            <a:endParaRPr lang="en-IN"/>
          </a:p>
        </p:txBody>
      </p:sp>
      <p:sp>
        <p:nvSpPr>
          <p:cNvPr id="6" name="Rectangle 1">
            <a:extLst>
              <a:ext uri="{FF2B5EF4-FFF2-40B4-BE49-F238E27FC236}">
                <a16:creationId xmlns:a16="http://schemas.microsoft.com/office/drawing/2014/main" id="{923EC1E0-2A38-0963-6124-18A1E2D9221E}"/>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Date Placeholder 1">
            <a:extLst>
              <a:ext uri="{FF2B5EF4-FFF2-40B4-BE49-F238E27FC236}">
                <a16:creationId xmlns:a16="http://schemas.microsoft.com/office/drawing/2014/main" id="{E81B9FAE-60F3-9DA8-CDE7-F6BAA0FF89F0}"/>
              </a:ext>
            </a:extLst>
          </p:cNvPr>
          <p:cNvSpPr>
            <a:spLocks noGrp="1"/>
          </p:cNvSpPr>
          <p:nvPr>
            <p:ph type="dt" sz="half" idx="10"/>
          </p:nvPr>
        </p:nvSpPr>
        <p:spPr/>
        <p:txBody>
          <a:bodyPr/>
          <a:lstStyle/>
          <a:p>
            <a:fld id="{4AA1FA6C-6F62-49D6-BDD1-05CC0BB23EBD}" type="datetime1">
              <a:rPr lang="en-IN" smtClean="0"/>
              <a:t>27-10-2026</a:t>
            </a:fld>
            <a:endParaRPr lang="en-IN"/>
          </a:p>
        </p:txBody>
      </p:sp>
    </p:spTree>
    <p:extLst>
      <p:ext uri="{BB962C8B-B14F-4D97-AF65-F5344CB8AC3E}">
        <p14:creationId xmlns:p14="http://schemas.microsoft.com/office/powerpoint/2010/main" val="2860156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2D028-6FBD-A466-A358-DF7D9F1D2AB7}"/>
              </a:ext>
            </a:extLst>
          </p:cNvPr>
          <p:cNvSpPr>
            <a:spLocks noGrp="1"/>
          </p:cNvSpPr>
          <p:nvPr>
            <p:ph idx="1"/>
          </p:nvPr>
        </p:nvSpPr>
        <p:spPr>
          <a:xfrm>
            <a:off x="502920" y="3721608"/>
            <a:ext cx="10850880" cy="1400725"/>
          </a:xfrm>
        </p:spPr>
        <p:txBody>
          <a:bodyPr>
            <a:normAutofit/>
          </a:bodyPr>
          <a:lstStyle/>
          <a:p>
            <a:r>
              <a:rPr lang="en-US" sz="2400" b="0" i="0" u="none" strike="noStrike" baseline="0" dirty="0">
                <a:latin typeface="xmetr"/>
              </a:rPr>
              <a:t>Summing up, Bob needs to apply the transformation </a:t>
            </a:r>
            <a:r>
              <a:rPr lang="en-US" sz="2400" b="0" i="0" u="none" strike="noStrike" baseline="0" dirty="0">
                <a:latin typeface="CMMI10"/>
              </a:rPr>
              <a:t>Z</a:t>
            </a:r>
            <a:r>
              <a:rPr lang="en-US" sz="2400" b="0" i="0" u="none" strike="noStrike" baseline="30000" dirty="0">
                <a:latin typeface="CMMI7"/>
              </a:rPr>
              <a:t>M</a:t>
            </a:r>
            <a:r>
              <a:rPr lang="en-US" sz="2400" b="0" i="0" u="none" strike="noStrike" baseline="30000" dirty="0">
                <a:latin typeface="xmetr"/>
              </a:rPr>
              <a:t>1</a:t>
            </a:r>
            <a:r>
              <a:rPr lang="en-US" sz="2400" b="0" i="0" u="none" strike="noStrike" baseline="0" dirty="0">
                <a:latin typeface="CMMI10"/>
              </a:rPr>
              <a:t>X</a:t>
            </a:r>
            <a:r>
              <a:rPr lang="en-US" sz="2400" b="0" i="0" u="none" strike="noStrike" baseline="30000" dirty="0">
                <a:latin typeface="CMMI7"/>
              </a:rPr>
              <a:t>M</a:t>
            </a:r>
            <a:r>
              <a:rPr lang="en-US" sz="2400" b="0" i="0" u="none" strike="noStrike" baseline="30000" dirty="0">
                <a:latin typeface="xmetr"/>
              </a:rPr>
              <a:t>2</a:t>
            </a:r>
            <a:r>
              <a:rPr lang="en-US" sz="2400" b="0" i="0" u="none" strike="noStrike" baseline="0" dirty="0">
                <a:latin typeface="xmetr"/>
              </a:rPr>
              <a:t> (note how time goes from left to right in circuit diagrams, but in matrix products terms on the </a:t>
            </a:r>
            <a:r>
              <a:rPr lang="en-US" sz="2400" b="0" i="0" u="none" strike="noStrike" baseline="0" dirty="0">
                <a:latin typeface="xmiiri"/>
              </a:rPr>
              <a:t>right </a:t>
            </a:r>
            <a:r>
              <a:rPr lang="en-US" sz="2400" b="0" i="0" u="none" strike="noStrike" baseline="0" dirty="0">
                <a:latin typeface="xmetr"/>
              </a:rPr>
              <a:t>happen </a:t>
            </a:r>
            <a:r>
              <a:rPr lang="en-US" sz="2400" b="0" i="0" u="none" strike="noStrike" baseline="0" dirty="0">
                <a:latin typeface="xmiiri"/>
              </a:rPr>
              <a:t>first</a:t>
            </a:r>
            <a:r>
              <a:rPr lang="en-US" sz="2400" b="0" i="0" u="none" strike="noStrike" baseline="0" dirty="0">
                <a:latin typeface="xmetr"/>
              </a:rPr>
              <a:t>) to his qubit, and he will recover the state </a:t>
            </a:r>
            <a:r>
              <a:rPr lang="en-US" sz="2400" b="0" i="0" u="none" strike="noStrike" baseline="0" dirty="0">
                <a:latin typeface="CMSY10"/>
              </a:rPr>
              <a:t>|</a:t>
            </a:r>
            <a:r>
              <a:rPr lang="en-US" sz="2400" b="0" i="0" u="none" strike="noStrike" baseline="0" dirty="0">
                <a:latin typeface="CMMI10"/>
              </a:rPr>
              <a:t>ψ&gt;</a:t>
            </a:r>
            <a:r>
              <a:rPr lang="en-US" sz="2400" b="0" i="0" u="none" strike="noStrike" baseline="0" dirty="0">
                <a:latin typeface="xmetr"/>
              </a:rPr>
              <a:t>.</a:t>
            </a:r>
            <a:endParaRPr lang="en-IN" sz="4800" dirty="0"/>
          </a:p>
          <a:p>
            <a:pPr marL="0" indent="0" algn="l">
              <a:buNone/>
            </a:pPr>
            <a:endParaRPr lang="en-IN" dirty="0"/>
          </a:p>
        </p:txBody>
      </p:sp>
      <p:sp>
        <p:nvSpPr>
          <p:cNvPr id="5" name="Slide Number Placeholder 4">
            <a:extLst>
              <a:ext uri="{FF2B5EF4-FFF2-40B4-BE49-F238E27FC236}">
                <a16:creationId xmlns:a16="http://schemas.microsoft.com/office/drawing/2014/main" id="{23D9346B-D805-FA7B-7C15-5D0AC7207116}"/>
              </a:ext>
            </a:extLst>
          </p:cNvPr>
          <p:cNvSpPr>
            <a:spLocks noGrp="1"/>
          </p:cNvSpPr>
          <p:nvPr>
            <p:ph type="sldNum" sz="quarter" idx="12"/>
          </p:nvPr>
        </p:nvSpPr>
        <p:spPr/>
        <p:txBody>
          <a:bodyPr/>
          <a:lstStyle/>
          <a:p>
            <a:fld id="{1B78CDEA-0C49-4D40-B6A6-C736D5A39426}" type="slidenum">
              <a:rPr lang="en-IN" smtClean="0"/>
              <a:t>31</a:t>
            </a:fld>
            <a:endParaRPr lang="en-IN"/>
          </a:p>
        </p:txBody>
      </p:sp>
      <p:pic>
        <p:nvPicPr>
          <p:cNvPr id="10" name="Picture 9">
            <a:extLst>
              <a:ext uri="{FF2B5EF4-FFF2-40B4-BE49-F238E27FC236}">
                <a16:creationId xmlns:a16="http://schemas.microsoft.com/office/drawing/2014/main" id="{85A8FF25-6276-D129-C935-36A9A7F50454}"/>
              </a:ext>
            </a:extLst>
          </p:cNvPr>
          <p:cNvPicPr>
            <a:picLocks noChangeAspect="1"/>
          </p:cNvPicPr>
          <p:nvPr/>
        </p:nvPicPr>
        <p:blipFill rotWithShape="1">
          <a:blip r:embed="rId2"/>
          <a:srcRect l="-1" r="-1433"/>
          <a:stretch/>
        </p:blipFill>
        <p:spPr>
          <a:xfrm>
            <a:off x="1014984" y="149807"/>
            <a:ext cx="9710928" cy="3112215"/>
          </a:xfrm>
          <a:prstGeom prst="rect">
            <a:avLst/>
          </a:prstGeom>
        </p:spPr>
      </p:pic>
      <p:sp>
        <p:nvSpPr>
          <p:cNvPr id="2" name="Rectangle 1">
            <a:extLst>
              <a:ext uri="{FF2B5EF4-FFF2-40B4-BE49-F238E27FC236}">
                <a16:creationId xmlns:a16="http://schemas.microsoft.com/office/drawing/2014/main" id="{68F31368-E535-2150-7C74-F020D5BF8865}"/>
              </a:ext>
            </a:extLst>
          </p:cNvPr>
          <p:cNvSpPr>
            <a:spLocks noChangeArrowheads="1"/>
          </p:cNvSpPr>
          <p:nvPr/>
        </p:nvSpPr>
        <p:spPr bwMode="auto">
          <a:xfrm>
            <a:off x="502920" y="6171684"/>
            <a:ext cx="95829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 : Nielsen, M. A., &amp; Chuang, I. L. (2010).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computation and quantum information: 10th Anniversary Edition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Cambridge University Press.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Date Placeholder 5">
            <a:extLst>
              <a:ext uri="{FF2B5EF4-FFF2-40B4-BE49-F238E27FC236}">
                <a16:creationId xmlns:a16="http://schemas.microsoft.com/office/drawing/2014/main" id="{6FB40CFD-2E2E-5D0A-9B60-97F31F02187E}"/>
              </a:ext>
            </a:extLst>
          </p:cNvPr>
          <p:cNvSpPr>
            <a:spLocks noGrp="1"/>
          </p:cNvSpPr>
          <p:nvPr>
            <p:ph type="dt" sz="half" idx="10"/>
          </p:nvPr>
        </p:nvSpPr>
        <p:spPr/>
        <p:txBody>
          <a:bodyPr/>
          <a:lstStyle/>
          <a:p>
            <a:fld id="{15FD073C-7E14-4813-9C4F-CC4185692FE6}" type="datetime1">
              <a:rPr lang="en-IN" smtClean="0"/>
              <a:t>27-10-2026</a:t>
            </a:fld>
            <a:endParaRPr lang="en-IN"/>
          </a:p>
        </p:txBody>
      </p:sp>
    </p:spTree>
    <p:extLst>
      <p:ext uri="{BB962C8B-B14F-4D97-AF65-F5344CB8AC3E}">
        <p14:creationId xmlns:p14="http://schemas.microsoft.com/office/powerpoint/2010/main" val="3691164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90F7B-1EE6-10A4-8F00-2BE250D2403A}"/>
              </a:ext>
            </a:extLst>
          </p:cNvPr>
          <p:cNvSpPr>
            <a:spLocks noGrp="1"/>
          </p:cNvSpPr>
          <p:nvPr>
            <p:ph type="title"/>
          </p:nvPr>
        </p:nvSpPr>
        <p:spPr/>
        <p:txBody>
          <a:bodyPr/>
          <a:lstStyle/>
          <a:p>
            <a:r>
              <a:rPr lang="en-US" dirty="0" err="1"/>
              <a:t>Colab</a:t>
            </a:r>
            <a:r>
              <a:rPr lang="en-US" dirty="0"/>
              <a:t> Notebook</a:t>
            </a:r>
            <a:endParaRPr lang="en-IN" dirty="0"/>
          </a:p>
        </p:txBody>
      </p:sp>
      <p:sp>
        <p:nvSpPr>
          <p:cNvPr id="3" name="Content Placeholder 2">
            <a:extLst>
              <a:ext uri="{FF2B5EF4-FFF2-40B4-BE49-F238E27FC236}">
                <a16:creationId xmlns:a16="http://schemas.microsoft.com/office/drawing/2014/main" id="{A1E29FA0-46A6-4507-5568-22DA49B30025}"/>
              </a:ext>
            </a:extLst>
          </p:cNvPr>
          <p:cNvSpPr>
            <a:spLocks noGrp="1"/>
          </p:cNvSpPr>
          <p:nvPr>
            <p:ph idx="1"/>
          </p:nvPr>
        </p:nvSpPr>
        <p:spPr/>
        <p:txBody>
          <a:bodyPr/>
          <a:lstStyle/>
          <a:p>
            <a:r>
              <a:rPr lang="en-IN" dirty="0">
                <a:hlinkClick r:id="rId2"/>
              </a:rPr>
              <a:t>https://colab.research.google.com/drive/1u1p3OwKsPK--h1LVLyMOxHO__57EnQFl</a:t>
            </a:r>
            <a:endParaRPr lang="en-IN" dirty="0"/>
          </a:p>
          <a:p>
            <a:endParaRPr lang="en-IN" dirty="0"/>
          </a:p>
        </p:txBody>
      </p:sp>
      <p:sp>
        <p:nvSpPr>
          <p:cNvPr id="4" name="Date Placeholder 3">
            <a:extLst>
              <a:ext uri="{FF2B5EF4-FFF2-40B4-BE49-F238E27FC236}">
                <a16:creationId xmlns:a16="http://schemas.microsoft.com/office/drawing/2014/main" id="{333E18B8-8607-5AAE-93FA-CC40165D67CA}"/>
              </a:ext>
            </a:extLst>
          </p:cNvPr>
          <p:cNvSpPr>
            <a:spLocks noGrp="1"/>
          </p:cNvSpPr>
          <p:nvPr>
            <p:ph type="dt" sz="half" idx="10"/>
          </p:nvPr>
        </p:nvSpPr>
        <p:spPr/>
        <p:txBody>
          <a:bodyPr/>
          <a:lstStyle/>
          <a:p>
            <a:fld id="{8B088324-F001-4722-8652-C71C5755400E}" type="datetime1">
              <a:rPr lang="en-IN" smtClean="0"/>
              <a:t>27-10-2026</a:t>
            </a:fld>
            <a:endParaRPr lang="en-IN"/>
          </a:p>
        </p:txBody>
      </p:sp>
      <p:sp>
        <p:nvSpPr>
          <p:cNvPr id="5" name="Slide Number Placeholder 4">
            <a:extLst>
              <a:ext uri="{FF2B5EF4-FFF2-40B4-BE49-F238E27FC236}">
                <a16:creationId xmlns:a16="http://schemas.microsoft.com/office/drawing/2014/main" id="{A5B827A9-3F72-3007-45FC-828D78E1C19D}"/>
              </a:ext>
            </a:extLst>
          </p:cNvPr>
          <p:cNvSpPr>
            <a:spLocks noGrp="1"/>
          </p:cNvSpPr>
          <p:nvPr>
            <p:ph type="sldNum" sz="quarter" idx="12"/>
          </p:nvPr>
        </p:nvSpPr>
        <p:spPr/>
        <p:txBody>
          <a:bodyPr/>
          <a:lstStyle/>
          <a:p>
            <a:fld id="{6B099C0A-8617-4058-9F88-1F31CC4D8927}" type="slidenum">
              <a:rPr lang="en-IN" smtClean="0"/>
              <a:t>32</a:t>
            </a:fld>
            <a:endParaRPr lang="en-IN"/>
          </a:p>
        </p:txBody>
      </p:sp>
    </p:spTree>
    <p:extLst>
      <p:ext uri="{BB962C8B-B14F-4D97-AF65-F5344CB8AC3E}">
        <p14:creationId xmlns:p14="http://schemas.microsoft.com/office/powerpoint/2010/main" val="2071544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D265A-B0EA-AF24-820C-4924D3830150}"/>
              </a:ext>
            </a:extLst>
          </p:cNvPr>
          <p:cNvSpPr>
            <a:spLocks noGrp="1"/>
          </p:cNvSpPr>
          <p:nvPr>
            <p:ph type="title"/>
          </p:nvPr>
        </p:nvSpPr>
        <p:spPr/>
        <p:txBody>
          <a:bodyPr/>
          <a:lstStyle/>
          <a:p>
            <a:r>
              <a:rPr lang="en-IN" b="0" dirty="0"/>
              <a:t>The Quantum Mechanics Visualisation Project</a:t>
            </a:r>
            <a:endParaRPr lang="en-IN" dirty="0"/>
          </a:p>
        </p:txBody>
      </p:sp>
      <p:sp>
        <p:nvSpPr>
          <p:cNvPr id="3" name="Content Placeholder 2">
            <a:extLst>
              <a:ext uri="{FF2B5EF4-FFF2-40B4-BE49-F238E27FC236}">
                <a16:creationId xmlns:a16="http://schemas.microsoft.com/office/drawing/2014/main" id="{0E2F35C5-66BA-D049-540D-B848B4592769}"/>
              </a:ext>
            </a:extLst>
          </p:cNvPr>
          <p:cNvSpPr>
            <a:spLocks noGrp="1"/>
          </p:cNvSpPr>
          <p:nvPr>
            <p:ph idx="1"/>
          </p:nvPr>
        </p:nvSpPr>
        <p:spPr>
          <a:xfrm>
            <a:off x="838200" y="1825624"/>
            <a:ext cx="3028950" cy="3517901"/>
          </a:xfrm>
        </p:spPr>
        <p:txBody>
          <a:bodyPr>
            <a:normAutofit/>
          </a:bodyPr>
          <a:lstStyle/>
          <a:p>
            <a:r>
              <a:rPr lang="en-IN" dirty="0">
                <a:hlinkClick r:id="rId2"/>
              </a:rPr>
              <a:t>https://www.st-andrews.ac.uk/physics/quvis/</a:t>
            </a:r>
            <a:endParaRPr lang="en-IN" dirty="0"/>
          </a:p>
        </p:txBody>
      </p:sp>
      <p:sp>
        <p:nvSpPr>
          <p:cNvPr id="4" name="Footer Placeholder 3">
            <a:extLst>
              <a:ext uri="{FF2B5EF4-FFF2-40B4-BE49-F238E27FC236}">
                <a16:creationId xmlns:a16="http://schemas.microsoft.com/office/drawing/2014/main" id="{022EEA92-6ECD-244F-F0C0-AC1DE37B1C64}"/>
              </a:ext>
            </a:extLst>
          </p:cNvPr>
          <p:cNvSpPr>
            <a:spLocks noGrp="1"/>
          </p:cNvSpPr>
          <p:nvPr>
            <p:ph type="ftr" sz="quarter" idx="11"/>
          </p:nvPr>
        </p:nvSpPr>
        <p:spPr/>
        <p:txBody>
          <a:bodyPr/>
          <a:lstStyle/>
          <a:p>
            <a:r>
              <a:rPr lang="en-IN"/>
              <a:t>Session 1: Introduction to Quantum Computing</a:t>
            </a:r>
          </a:p>
        </p:txBody>
      </p:sp>
      <p:sp>
        <p:nvSpPr>
          <p:cNvPr id="5" name="Slide Number Placeholder 4">
            <a:extLst>
              <a:ext uri="{FF2B5EF4-FFF2-40B4-BE49-F238E27FC236}">
                <a16:creationId xmlns:a16="http://schemas.microsoft.com/office/drawing/2014/main" id="{5EDC02B6-EDB7-CC98-75F6-B26817230697}"/>
              </a:ext>
            </a:extLst>
          </p:cNvPr>
          <p:cNvSpPr>
            <a:spLocks noGrp="1"/>
          </p:cNvSpPr>
          <p:nvPr>
            <p:ph type="sldNum" sz="quarter" idx="12"/>
          </p:nvPr>
        </p:nvSpPr>
        <p:spPr/>
        <p:txBody>
          <a:bodyPr/>
          <a:lstStyle/>
          <a:p>
            <a:fld id="{9268B971-EF02-4AE9-ADFE-B383B5071C98}" type="slidenum">
              <a:rPr lang="en-IN" smtClean="0"/>
              <a:t>33</a:t>
            </a:fld>
            <a:endParaRPr lang="en-IN"/>
          </a:p>
        </p:txBody>
      </p:sp>
      <p:pic>
        <p:nvPicPr>
          <p:cNvPr id="7" name="Picture 6" descr="A screenshot of a computer&#10;&#10;AI-generated content may be incorrect.">
            <a:extLst>
              <a:ext uri="{FF2B5EF4-FFF2-40B4-BE49-F238E27FC236}">
                <a16:creationId xmlns:a16="http://schemas.microsoft.com/office/drawing/2014/main" id="{BAAB2433-B63A-4D89-B28D-5835C90DCBDA}"/>
              </a:ext>
            </a:extLst>
          </p:cNvPr>
          <p:cNvPicPr>
            <a:picLocks noChangeAspect="1"/>
          </p:cNvPicPr>
          <p:nvPr/>
        </p:nvPicPr>
        <p:blipFill>
          <a:blip r:embed="rId3"/>
          <a:stretch>
            <a:fillRect/>
          </a:stretch>
        </p:blipFill>
        <p:spPr>
          <a:xfrm>
            <a:off x="4781550" y="1690688"/>
            <a:ext cx="7160570" cy="4206835"/>
          </a:xfrm>
          <a:prstGeom prst="rect">
            <a:avLst/>
          </a:prstGeom>
        </p:spPr>
      </p:pic>
    </p:spTree>
    <p:extLst>
      <p:ext uri="{BB962C8B-B14F-4D97-AF65-F5344CB8AC3E}">
        <p14:creationId xmlns:p14="http://schemas.microsoft.com/office/powerpoint/2010/main" val="1502875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81AE7-03DC-CE16-9746-F0994E839FC1}"/>
              </a:ext>
            </a:extLst>
          </p:cNvPr>
          <p:cNvSpPr>
            <a:spLocks noGrp="1"/>
          </p:cNvSpPr>
          <p:nvPr>
            <p:ph type="title"/>
          </p:nvPr>
        </p:nvSpPr>
        <p:spPr/>
        <p:txBody>
          <a:bodyPr/>
          <a:lstStyle/>
          <a:p>
            <a:r>
              <a:rPr lang="en-IN" b="1" dirty="0"/>
              <a:t>Hybrid Classical–Quantum Loop</a:t>
            </a:r>
            <a:endParaRPr lang="en-IN" dirty="0"/>
          </a:p>
        </p:txBody>
      </p:sp>
      <p:sp>
        <p:nvSpPr>
          <p:cNvPr id="3" name="Content Placeholder 2">
            <a:extLst>
              <a:ext uri="{FF2B5EF4-FFF2-40B4-BE49-F238E27FC236}">
                <a16:creationId xmlns:a16="http://schemas.microsoft.com/office/drawing/2014/main" id="{EE206CBE-3306-CFFD-BE33-A9A0D509D542}"/>
              </a:ext>
            </a:extLst>
          </p:cNvPr>
          <p:cNvSpPr>
            <a:spLocks noGrp="1"/>
          </p:cNvSpPr>
          <p:nvPr>
            <p:ph idx="1"/>
          </p:nvPr>
        </p:nvSpPr>
        <p:spPr/>
        <p:txBody>
          <a:bodyPr/>
          <a:lstStyle/>
          <a:p>
            <a:r>
              <a:rPr lang="en-IN" dirty="0"/>
              <a:t>Classical data preprocessing</a:t>
            </a:r>
          </a:p>
          <a:p>
            <a:r>
              <a:rPr lang="en-IN" dirty="0"/>
              <a:t>Quantum circuit execution</a:t>
            </a:r>
          </a:p>
          <a:p>
            <a:r>
              <a:rPr lang="en-IN" dirty="0"/>
              <a:t>Classical optimizer feedback loop</a:t>
            </a:r>
          </a:p>
          <a:p>
            <a:endParaRPr lang="en-IN" dirty="0"/>
          </a:p>
        </p:txBody>
      </p:sp>
    </p:spTree>
    <p:extLst>
      <p:ext uri="{BB962C8B-B14F-4D97-AF65-F5344CB8AC3E}">
        <p14:creationId xmlns:p14="http://schemas.microsoft.com/office/powerpoint/2010/main" val="1701935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15F1DE-7D2C-48B0-9E0E-7DF04FE8DF6A}"/>
              </a:ext>
            </a:extLst>
          </p:cNvPr>
          <p:cNvSpPr>
            <a:spLocks noGrp="1"/>
          </p:cNvSpPr>
          <p:nvPr>
            <p:ph type="title"/>
          </p:nvPr>
        </p:nvSpPr>
        <p:spPr/>
        <p:txBody>
          <a:bodyPr/>
          <a:lstStyle/>
          <a:p>
            <a:pPr algn="ctr"/>
            <a:r>
              <a:rPr lang="en-IN" dirty="0"/>
              <a:t>QML Circuit</a:t>
            </a:r>
          </a:p>
        </p:txBody>
      </p:sp>
      <p:pic>
        <p:nvPicPr>
          <p:cNvPr id="5" name="Content Placeholder 4">
            <a:extLst>
              <a:ext uri="{FF2B5EF4-FFF2-40B4-BE49-F238E27FC236}">
                <a16:creationId xmlns:a16="http://schemas.microsoft.com/office/drawing/2014/main" id="{9B25CA80-F7A9-40F7-B219-D0B7D4A24D2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846386"/>
            <a:ext cx="10008452" cy="2907564"/>
          </a:xfrm>
        </p:spPr>
      </p:pic>
    </p:spTree>
    <p:extLst>
      <p:ext uri="{BB962C8B-B14F-4D97-AF65-F5344CB8AC3E}">
        <p14:creationId xmlns:p14="http://schemas.microsoft.com/office/powerpoint/2010/main" val="1663324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15F1DE-7D2C-48B0-9E0E-7DF04FE8DF6A}"/>
              </a:ext>
            </a:extLst>
          </p:cNvPr>
          <p:cNvSpPr>
            <a:spLocks noGrp="1"/>
          </p:cNvSpPr>
          <p:nvPr>
            <p:ph type="title"/>
          </p:nvPr>
        </p:nvSpPr>
        <p:spPr>
          <a:xfrm>
            <a:off x="914400" y="215656"/>
            <a:ext cx="10515600" cy="654783"/>
          </a:xfrm>
        </p:spPr>
        <p:txBody>
          <a:bodyPr>
            <a:normAutofit fontScale="90000"/>
          </a:bodyPr>
          <a:lstStyle/>
          <a:p>
            <a:r>
              <a:rPr lang="en-IN" dirty="0"/>
              <a:t>Feature encoding approaches</a:t>
            </a:r>
          </a:p>
        </p:txBody>
      </p:sp>
      <p:pic>
        <p:nvPicPr>
          <p:cNvPr id="5" name="Content Placeholder 4">
            <a:extLst>
              <a:ext uri="{FF2B5EF4-FFF2-40B4-BE49-F238E27FC236}">
                <a16:creationId xmlns:a16="http://schemas.microsoft.com/office/drawing/2014/main" id="{9B25CA80-F7A9-40F7-B219-D0B7D4A24D2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14400" y="953846"/>
            <a:ext cx="5181600" cy="1505311"/>
          </a:xfrm>
        </p:spPr>
      </p:pic>
      <p:sp>
        <p:nvSpPr>
          <p:cNvPr id="7" name="TextBox 6">
            <a:extLst>
              <a:ext uri="{FF2B5EF4-FFF2-40B4-BE49-F238E27FC236}">
                <a16:creationId xmlns:a16="http://schemas.microsoft.com/office/drawing/2014/main" id="{EA0B8CA2-23E5-44D5-8B03-203351E247B5}"/>
              </a:ext>
            </a:extLst>
          </p:cNvPr>
          <p:cNvSpPr txBox="1"/>
          <p:nvPr/>
        </p:nvSpPr>
        <p:spPr>
          <a:xfrm>
            <a:off x="689464" y="2813794"/>
            <a:ext cx="4952268" cy="3170099"/>
          </a:xfrm>
          <a:noFill/>
          <a:ln>
            <a:solidFill>
              <a:schemeClr val="tx1"/>
            </a:solidFill>
          </a:ln>
        </p:spPr>
        <p:txBody>
          <a:bodyPr wrap="square" rtlCol="0">
            <a:spAutoFit/>
          </a:bodyPr>
          <a:lstStyle>
            <a:defPPr>
              <a:defRPr lang="en-US"/>
            </a:defPPr>
            <a:lvl1pPr marL="342900" indent="-342900">
              <a:buFont typeface="Arial" panose="020B0604020202020204" pitchFamily="34" charset="0"/>
              <a:buChar char="•"/>
              <a:defRPr sz="2000"/>
            </a:lvl1pPr>
          </a:lstStyle>
          <a:p>
            <a:r>
              <a:rPr lang="en-IN" dirty="0"/>
              <a:t>Amplitude Encoding</a:t>
            </a:r>
          </a:p>
          <a:p>
            <a:r>
              <a:rPr lang="en-IN" dirty="0"/>
              <a:t>Phase Encoding</a:t>
            </a:r>
          </a:p>
          <a:p>
            <a:r>
              <a:rPr lang="en-IN" dirty="0"/>
              <a:t>Angle Encoding</a:t>
            </a:r>
          </a:p>
          <a:p>
            <a:r>
              <a:rPr lang="en-IN" dirty="0"/>
              <a:t>RX Encoding</a:t>
            </a:r>
          </a:p>
          <a:p>
            <a:r>
              <a:rPr lang="en-IN" dirty="0"/>
              <a:t>RY Encoding</a:t>
            </a:r>
          </a:p>
          <a:p>
            <a:r>
              <a:rPr lang="en-IN" dirty="0"/>
              <a:t>RZ Encoding</a:t>
            </a:r>
          </a:p>
          <a:p>
            <a:r>
              <a:rPr lang="en-IN" dirty="0" err="1"/>
              <a:t>ZFeatureMap</a:t>
            </a:r>
            <a:endParaRPr lang="en-IN" dirty="0"/>
          </a:p>
          <a:p>
            <a:r>
              <a:rPr lang="en-IN" dirty="0" err="1"/>
              <a:t>ZZFeatureMap</a:t>
            </a:r>
            <a:endParaRPr lang="en-IN" dirty="0"/>
          </a:p>
          <a:p>
            <a:r>
              <a:rPr lang="en-IN" dirty="0"/>
              <a:t>Pauli-Z Feature Map</a:t>
            </a:r>
          </a:p>
          <a:p>
            <a:r>
              <a:rPr lang="en-IN" dirty="0"/>
              <a:t>Pauli-ZZ Feature Map</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D052847-6656-4C3A-BC5D-5BCE5678F34A}"/>
                  </a:ext>
                </a:extLst>
              </p:cNvPr>
              <p:cNvSpPr txBox="1"/>
              <p:nvPr/>
            </p:nvSpPr>
            <p:spPr>
              <a:xfrm>
                <a:off x="6550270" y="1034967"/>
                <a:ext cx="5316416" cy="4401205"/>
              </a:xfrm>
              <a:custGeom>
                <a:avLst/>
                <a:gdLst>
                  <a:gd name="csX0" fmla="*/ 0 w 5316416"/>
                  <a:gd name="csY0" fmla="*/ 0 h 4401205"/>
                  <a:gd name="csX1" fmla="*/ 611388 w 5316416"/>
                  <a:gd name="csY1" fmla="*/ 0 h 4401205"/>
                  <a:gd name="csX2" fmla="*/ 1275940 w 5316416"/>
                  <a:gd name="csY2" fmla="*/ 0 h 4401205"/>
                  <a:gd name="csX3" fmla="*/ 1834164 w 5316416"/>
                  <a:gd name="csY3" fmla="*/ 0 h 4401205"/>
                  <a:gd name="csX4" fmla="*/ 2551880 w 5316416"/>
                  <a:gd name="csY4" fmla="*/ 0 h 4401205"/>
                  <a:gd name="csX5" fmla="*/ 3322760 w 5316416"/>
                  <a:gd name="csY5" fmla="*/ 0 h 4401205"/>
                  <a:gd name="csX6" fmla="*/ 4040476 w 5316416"/>
                  <a:gd name="csY6" fmla="*/ 0 h 4401205"/>
                  <a:gd name="csX7" fmla="*/ 5316416 w 5316416"/>
                  <a:gd name="csY7" fmla="*/ 0 h 4401205"/>
                  <a:gd name="csX8" fmla="*/ 5316416 w 5316416"/>
                  <a:gd name="csY8" fmla="*/ 672756 h 4401205"/>
                  <a:gd name="csX9" fmla="*/ 5316416 w 5316416"/>
                  <a:gd name="csY9" fmla="*/ 1389523 h 4401205"/>
                  <a:gd name="csX10" fmla="*/ 5316416 w 5316416"/>
                  <a:gd name="csY10" fmla="*/ 1886231 h 4401205"/>
                  <a:gd name="csX11" fmla="*/ 5316416 w 5316416"/>
                  <a:gd name="csY11" fmla="*/ 2382938 h 4401205"/>
                  <a:gd name="csX12" fmla="*/ 5316416 w 5316416"/>
                  <a:gd name="csY12" fmla="*/ 2967670 h 4401205"/>
                  <a:gd name="csX13" fmla="*/ 5316416 w 5316416"/>
                  <a:gd name="csY13" fmla="*/ 3640425 h 4401205"/>
                  <a:gd name="csX14" fmla="*/ 5316416 w 5316416"/>
                  <a:gd name="csY14" fmla="*/ 4401205 h 4401205"/>
                  <a:gd name="csX15" fmla="*/ 4545536 w 5316416"/>
                  <a:gd name="csY15" fmla="*/ 4401205 h 4401205"/>
                  <a:gd name="csX16" fmla="*/ 4040476 w 5316416"/>
                  <a:gd name="csY16" fmla="*/ 4401205 h 4401205"/>
                  <a:gd name="csX17" fmla="*/ 3429088 w 5316416"/>
                  <a:gd name="csY17" fmla="*/ 4401205 h 4401205"/>
                  <a:gd name="csX18" fmla="*/ 2817700 w 5316416"/>
                  <a:gd name="csY18" fmla="*/ 4401205 h 4401205"/>
                  <a:gd name="csX19" fmla="*/ 2153148 w 5316416"/>
                  <a:gd name="csY19" fmla="*/ 4401205 h 4401205"/>
                  <a:gd name="csX20" fmla="*/ 1488596 w 5316416"/>
                  <a:gd name="csY20" fmla="*/ 4401205 h 4401205"/>
                  <a:gd name="csX21" fmla="*/ 770880 w 5316416"/>
                  <a:gd name="csY21" fmla="*/ 4401205 h 4401205"/>
                  <a:gd name="csX22" fmla="*/ 0 w 5316416"/>
                  <a:gd name="csY22" fmla="*/ 4401205 h 4401205"/>
                  <a:gd name="csX23" fmla="*/ 0 w 5316416"/>
                  <a:gd name="csY23" fmla="*/ 3816473 h 4401205"/>
                  <a:gd name="csX24" fmla="*/ 0 w 5316416"/>
                  <a:gd name="csY24" fmla="*/ 3275754 h 4401205"/>
                  <a:gd name="csX25" fmla="*/ 0 w 5316416"/>
                  <a:gd name="csY25" fmla="*/ 2691022 h 4401205"/>
                  <a:gd name="csX26" fmla="*/ 0 w 5316416"/>
                  <a:gd name="csY26" fmla="*/ 2018267 h 4401205"/>
                  <a:gd name="csX27" fmla="*/ 0 w 5316416"/>
                  <a:gd name="csY27" fmla="*/ 1521559 h 4401205"/>
                  <a:gd name="csX28" fmla="*/ 0 w 5316416"/>
                  <a:gd name="csY28" fmla="*/ 848804 h 4401205"/>
                  <a:gd name="csX29" fmla="*/ 0 w 5316416"/>
                  <a:gd name="csY29" fmla="*/ 0 h 4401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316416" h="4401205" extrusionOk="0">
                    <a:moveTo>
                      <a:pt x="0" y="0"/>
                    </a:moveTo>
                    <a:cubicBezTo>
                      <a:pt x="128484" y="-6931"/>
                      <a:pt x="425711" y="1418"/>
                      <a:pt x="611388" y="0"/>
                    </a:cubicBezTo>
                    <a:cubicBezTo>
                      <a:pt x="797065" y="-1418"/>
                      <a:pt x="1141497" y="-21182"/>
                      <a:pt x="1275940" y="0"/>
                    </a:cubicBezTo>
                    <a:cubicBezTo>
                      <a:pt x="1410383" y="21182"/>
                      <a:pt x="1711315" y="21747"/>
                      <a:pt x="1834164" y="0"/>
                    </a:cubicBezTo>
                    <a:cubicBezTo>
                      <a:pt x="1957013" y="-21747"/>
                      <a:pt x="2316769" y="-14099"/>
                      <a:pt x="2551880" y="0"/>
                    </a:cubicBezTo>
                    <a:cubicBezTo>
                      <a:pt x="2786991" y="14099"/>
                      <a:pt x="2972676" y="27033"/>
                      <a:pt x="3322760" y="0"/>
                    </a:cubicBezTo>
                    <a:cubicBezTo>
                      <a:pt x="3672844" y="-27033"/>
                      <a:pt x="3692447" y="29885"/>
                      <a:pt x="4040476" y="0"/>
                    </a:cubicBezTo>
                    <a:cubicBezTo>
                      <a:pt x="4388505" y="-29885"/>
                      <a:pt x="4897898" y="-35933"/>
                      <a:pt x="5316416" y="0"/>
                    </a:cubicBezTo>
                    <a:cubicBezTo>
                      <a:pt x="5347849" y="238779"/>
                      <a:pt x="5336155" y="486139"/>
                      <a:pt x="5316416" y="672756"/>
                    </a:cubicBezTo>
                    <a:cubicBezTo>
                      <a:pt x="5296677" y="859373"/>
                      <a:pt x="5282716" y="1049852"/>
                      <a:pt x="5316416" y="1389523"/>
                    </a:cubicBezTo>
                    <a:cubicBezTo>
                      <a:pt x="5350116" y="1729194"/>
                      <a:pt x="5320033" y="1721172"/>
                      <a:pt x="5316416" y="1886231"/>
                    </a:cubicBezTo>
                    <a:cubicBezTo>
                      <a:pt x="5312799" y="2051290"/>
                      <a:pt x="5318163" y="2246994"/>
                      <a:pt x="5316416" y="2382938"/>
                    </a:cubicBezTo>
                    <a:cubicBezTo>
                      <a:pt x="5314669" y="2518882"/>
                      <a:pt x="5311611" y="2818825"/>
                      <a:pt x="5316416" y="2967670"/>
                    </a:cubicBezTo>
                    <a:cubicBezTo>
                      <a:pt x="5321221" y="3116515"/>
                      <a:pt x="5289830" y="3463675"/>
                      <a:pt x="5316416" y="3640425"/>
                    </a:cubicBezTo>
                    <a:cubicBezTo>
                      <a:pt x="5343002" y="3817175"/>
                      <a:pt x="5284951" y="4246979"/>
                      <a:pt x="5316416" y="4401205"/>
                    </a:cubicBezTo>
                    <a:cubicBezTo>
                      <a:pt x="4953263" y="4413878"/>
                      <a:pt x="4902933" y="4393802"/>
                      <a:pt x="4545536" y="4401205"/>
                    </a:cubicBezTo>
                    <a:cubicBezTo>
                      <a:pt x="4188139" y="4408608"/>
                      <a:pt x="4199198" y="4425963"/>
                      <a:pt x="4040476" y="4401205"/>
                    </a:cubicBezTo>
                    <a:cubicBezTo>
                      <a:pt x="3881754" y="4376447"/>
                      <a:pt x="3600405" y="4411110"/>
                      <a:pt x="3429088" y="4401205"/>
                    </a:cubicBezTo>
                    <a:cubicBezTo>
                      <a:pt x="3257771" y="4391300"/>
                      <a:pt x="3084151" y="4392128"/>
                      <a:pt x="2817700" y="4401205"/>
                    </a:cubicBezTo>
                    <a:cubicBezTo>
                      <a:pt x="2551249" y="4410282"/>
                      <a:pt x="2301563" y="4385284"/>
                      <a:pt x="2153148" y="4401205"/>
                    </a:cubicBezTo>
                    <a:cubicBezTo>
                      <a:pt x="2004733" y="4417126"/>
                      <a:pt x="1820718" y="4421710"/>
                      <a:pt x="1488596" y="4401205"/>
                    </a:cubicBezTo>
                    <a:cubicBezTo>
                      <a:pt x="1156474" y="4380700"/>
                      <a:pt x="967416" y="4407382"/>
                      <a:pt x="770880" y="4401205"/>
                    </a:cubicBezTo>
                    <a:cubicBezTo>
                      <a:pt x="574344" y="4395028"/>
                      <a:pt x="356848" y="4423331"/>
                      <a:pt x="0" y="4401205"/>
                    </a:cubicBezTo>
                    <a:cubicBezTo>
                      <a:pt x="27419" y="4126594"/>
                      <a:pt x="27577" y="4092468"/>
                      <a:pt x="0" y="3816473"/>
                    </a:cubicBezTo>
                    <a:cubicBezTo>
                      <a:pt x="-27577" y="3540478"/>
                      <a:pt x="-12640" y="3537902"/>
                      <a:pt x="0" y="3275754"/>
                    </a:cubicBezTo>
                    <a:cubicBezTo>
                      <a:pt x="12640" y="3013606"/>
                      <a:pt x="-24808" y="2949398"/>
                      <a:pt x="0" y="2691022"/>
                    </a:cubicBezTo>
                    <a:cubicBezTo>
                      <a:pt x="24808" y="2432646"/>
                      <a:pt x="27624" y="2232235"/>
                      <a:pt x="0" y="2018267"/>
                    </a:cubicBezTo>
                    <a:cubicBezTo>
                      <a:pt x="-27624" y="1804300"/>
                      <a:pt x="9907" y="1750778"/>
                      <a:pt x="0" y="1521559"/>
                    </a:cubicBezTo>
                    <a:cubicBezTo>
                      <a:pt x="-9907" y="1292340"/>
                      <a:pt x="-17499" y="1141264"/>
                      <a:pt x="0" y="848804"/>
                    </a:cubicBezTo>
                    <a:cubicBezTo>
                      <a:pt x="17499" y="556345"/>
                      <a:pt x="-39396" y="360157"/>
                      <a:pt x="0" y="0"/>
                    </a:cubicBezTo>
                    <a:close/>
                  </a:path>
                </a:pathLst>
              </a:custGeom>
              <a:noFill/>
              <a:ln>
                <a:solidFill>
                  <a:schemeClr val="tx1"/>
                </a:solidFill>
                <a:extLst>
                  <a:ext uri="{C807C97D-BFC1-408E-A445-0C87EB9F89A2}">
                    <ask:lineSketchStyleProps xmlns:ask="http://schemas.microsoft.com/office/drawing/2018/sketchyshapes" sd="1509699547">
                      <a:prstGeom prst="rect">
                        <a:avLst/>
                      </a:prstGeom>
                      <ask:type>
                        <ask:lineSketchFreehand/>
                      </ask:type>
                    </ask:lineSketchStyleProps>
                  </a:ext>
                </a:extLst>
              </a:ln>
            </p:spPr>
            <p:txBody>
              <a:bodyPr wrap="square" rtlCol="0">
                <a:spAutoFit/>
              </a:bodyPr>
              <a:lstStyle/>
              <a:p>
                <a:pPr marL="342900" indent="-342900">
                  <a:buFont typeface="Arial" panose="020B0604020202020204" pitchFamily="34" charset="0"/>
                  <a:buChar char="•"/>
                </a:pPr>
                <a:r>
                  <a:rPr lang="en-US" sz="2000" dirty="0"/>
                  <a:t>These methods are all </a:t>
                </a:r>
                <a:r>
                  <a:rPr lang="en-US" sz="2000" b="1" dirty="0"/>
                  <a:t>quantum data encoding (feature encoding)</a:t>
                </a:r>
                <a:r>
                  <a:rPr lang="en-US" sz="2000" dirty="0"/>
                  <a:t> techniques. </a:t>
                </a:r>
              </a:p>
              <a:p>
                <a:pPr marL="342900" indent="-342900">
                  <a:buFont typeface="Arial" panose="020B0604020202020204" pitchFamily="34" charset="0"/>
                  <a:buChar char="•"/>
                </a:pPr>
                <a:r>
                  <a:rPr lang="en-US" sz="2000" dirty="0"/>
                  <a:t>Their purpose is to convert a classical feature vector</a:t>
                </a:r>
              </a:p>
              <a:p>
                <a:pPr/>
                <a14:m>
                  <m:oMathPara xmlns:m="http://schemas.openxmlformats.org/officeDocument/2006/math">
                    <m:o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baseline="-25000" dirty="0" smtClean="0">
                          <a:latin typeface="Cambria Math" panose="02040503050406030204" pitchFamily="18" charset="0"/>
                        </a:rPr>
                        <m:t>1</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baseline="-25000" dirty="0" smtClean="0">
                          <a:latin typeface="Cambria Math" panose="02040503050406030204" pitchFamily="18" charset="0"/>
                        </a:rPr>
                        <m:t>2</m:t>
                      </m:r>
                      <m:r>
                        <a:rPr lang="en-US" sz="2000" i="1" dirty="0" smtClean="0">
                          <a:latin typeface="Cambria Math" panose="02040503050406030204" pitchFamily="18" charset="0"/>
                        </a:rPr>
                        <m:t>,…,</m:t>
                      </m:r>
                      <m:r>
                        <a:rPr lang="en-US" sz="2000" i="1" dirty="0" err="1" smtClean="0">
                          <a:latin typeface="Cambria Math" panose="02040503050406030204" pitchFamily="18" charset="0"/>
                        </a:rPr>
                        <m:t>𝑥</m:t>
                      </m:r>
                      <m:r>
                        <a:rPr lang="en-US" sz="2000" i="1" baseline="-25000" dirty="0" err="1" smtClean="0">
                          <a:latin typeface="Cambria Math" panose="02040503050406030204" pitchFamily="18" charset="0"/>
                        </a:rPr>
                        <m:t>𝑛</m:t>
                      </m:r>
                      <m:r>
                        <a:rPr lang="en-US" sz="2000" i="1" dirty="0" smtClean="0">
                          <a:latin typeface="Cambria Math" panose="02040503050406030204" pitchFamily="18" charset="0"/>
                        </a:rPr>
                        <m:t>]</m:t>
                      </m:r>
                    </m:oMath>
                  </m:oMathPara>
                </a14:m>
                <a:endParaRPr lang="en-US" sz="2000" dirty="0"/>
              </a:p>
              <a:p>
                <a:endParaRPr lang="en-US" sz="2000" dirty="0"/>
              </a:p>
              <a:p>
                <a:r>
                  <a:rPr lang="en-US" sz="2000" dirty="0"/>
                  <a:t>into a quantum state that can be processed by a quantum machine learning algorithm such as a </a:t>
                </a:r>
              </a:p>
              <a:p>
                <a:r>
                  <a:rPr lang="en-US" sz="2000" dirty="0"/>
                  <a:t>Variational Quantum Classifier (VQC).</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They differ in </a:t>
                </a:r>
                <a:r>
                  <a:rPr lang="en-US" sz="2000" b="1" dirty="0"/>
                  <a:t>how classical data are embedded into qubits</a:t>
                </a:r>
                <a:r>
                  <a:rPr lang="en-US" sz="2000" dirty="0"/>
                  <a:t>, the amount of information they can represent, and the quantum resources they require.</a:t>
                </a:r>
                <a:endParaRPr lang="en-IN" sz="2000" dirty="0"/>
              </a:p>
            </p:txBody>
          </p:sp>
        </mc:Choice>
        <mc:Fallback xmlns="">
          <p:sp>
            <p:nvSpPr>
              <p:cNvPr id="2" name="TextBox 1">
                <a:extLst>
                  <a:ext uri="{FF2B5EF4-FFF2-40B4-BE49-F238E27FC236}">
                    <a16:creationId xmlns:a16="http://schemas.microsoft.com/office/drawing/2014/main" id="{CD052847-6656-4C3A-BC5D-5BCE5678F34A}"/>
                  </a:ext>
                </a:extLst>
              </p:cNvPr>
              <p:cNvSpPr txBox="1">
                <a:spLocks noRot="1" noChangeAspect="1" noMove="1" noResize="1" noEditPoints="1" noAdjustHandles="1" noChangeArrowheads="1" noChangeShapeType="1" noTextEdit="1"/>
              </p:cNvSpPr>
              <p:nvPr/>
            </p:nvSpPr>
            <p:spPr>
              <a:xfrm>
                <a:off x="6550270" y="1034967"/>
                <a:ext cx="5316416" cy="4401205"/>
              </a:xfrm>
              <a:prstGeom prst="rect">
                <a:avLst/>
              </a:prstGeom>
              <a:blipFill>
                <a:blip r:embed="rId3"/>
                <a:stretch>
                  <a:fillRect l="-795" b="-956"/>
                </a:stretch>
              </a:blipFill>
              <a:ln>
                <a:solidFill>
                  <a:schemeClr val="tx1"/>
                </a:solidFill>
                <a:extLst>
                  <a:ext uri="{C807C97D-BFC1-408E-A445-0C87EB9F89A2}">
                    <ask:lineSketchStyleProps xmlns:ask="http://schemas.microsoft.com/office/drawing/2018/sketchyshapes" sd="1509699547">
                      <a:custGeom>
                        <a:avLst/>
                        <a:gdLst>
                          <a:gd name="connsiteX0" fmla="*/ 0 w 5316416"/>
                          <a:gd name="connsiteY0" fmla="*/ 0 h 4401205"/>
                          <a:gd name="connsiteX1" fmla="*/ 611388 w 5316416"/>
                          <a:gd name="connsiteY1" fmla="*/ 0 h 4401205"/>
                          <a:gd name="connsiteX2" fmla="*/ 1275940 w 5316416"/>
                          <a:gd name="connsiteY2" fmla="*/ 0 h 4401205"/>
                          <a:gd name="connsiteX3" fmla="*/ 1834164 w 5316416"/>
                          <a:gd name="connsiteY3" fmla="*/ 0 h 4401205"/>
                          <a:gd name="connsiteX4" fmla="*/ 2551880 w 5316416"/>
                          <a:gd name="connsiteY4" fmla="*/ 0 h 4401205"/>
                          <a:gd name="connsiteX5" fmla="*/ 3322760 w 5316416"/>
                          <a:gd name="connsiteY5" fmla="*/ 0 h 4401205"/>
                          <a:gd name="connsiteX6" fmla="*/ 4040476 w 5316416"/>
                          <a:gd name="connsiteY6" fmla="*/ 0 h 4401205"/>
                          <a:gd name="connsiteX7" fmla="*/ 5316416 w 5316416"/>
                          <a:gd name="connsiteY7" fmla="*/ 0 h 4401205"/>
                          <a:gd name="connsiteX8" fmla="*/ 5316416 w 5316416"/>
                          <a:gd name="connsiteY8" fmla="*/ 672756 h 4401205"/>
                          <a:gd name="connsiteX9" fmla="*/ 5316416 w 5316416"/>
                          <a:gd name="connsiteY9" fmla="*/ 1389523 h 4401205"/>
                          <a:gd name="connsiteX10" fmla="*/ 5316416 w 5316416"/>
                          <a:gd name="connsiteY10" fmla="*/ 1886231 h 4401205"/>
                          <a:gd name="connsiteX11" fmla="*/ 5316416 w 5316416"/>
                          <a:gd name="connsiteY11" fmla="*/ 2382938 h 4401205"/>
                          <a:gd name="connsiteX12" fmla="*/ 5316416 w 5316416"/>
                          <a:gd name="connsiteY12" fmla="*/ 2967670 h 4401205"/>
                          <a:gd name="connsiteX13" fmla="*/ 5316416 w 5316416"/>
                          <a:gd name="connsiteY13" fmla="*/ 3640425 h 4401205"/>
                          <a:gd name="connsiteX14" fmla="*/ 5316416 w 5316416"/>
                          <a:gd name="connsiteY14" fmla="*/ 4401205 h 4401205"/>
                          <a:gd name="connsiteX15" fmla="*/ 4545536 w 5316416"/>
                          <a:gd name="connsiteY15" fmla="*/ 4401205 h 4401205"/>
                          <a:gd name="connsiteX16" fmla="*/ 4040476 w 5316416"/>
                          <a:gd name="connsiteY16" fmla="*/ 4401205 h 4401205"/>
                          <a:gd name="connsiteX17" fmla="*/ 3429088 w 5316416"/>
                          <a:gd name="connsiteY17" fmla="*/ 4401205 h 4401205"/>
                          <a:gd name="connsiteX18" fmla="*/ 2817700 w 5316416"/>
                          <a:gd name="connsiteY18" fmla="*/ 4401205 h 4401205"/>
                          <a:gd name="connsiteX19" fmla="*/ 2153148 w 5316416"/>
                          <a:gd name="connsiteY19" fmla="*/ 4401205 h 4401205"/>
                          <a:gd name="connsiteX20" fmla="*/ 1488596 w 5316416"/>
                          <a:gd name="connsiteY20" fmla="*/ 4401205 h 4401205"/>
                          <a:gd name="connsiteX21" fmla="*/ 770880 w 5316416"/>
                          <a:gd name="connsiteY21" fmla="*/ 4401205 h 4401205"/>
                          <a:gd name="connsiteX22" fmla="*/ 0 w 5316416"/>
                          <a:gd name="connsiteY22" fmla="*/ 4401205 h 4401205"/>
                          <a:gd name="connsiteX23" fmla="*/ 0 w 5316416"/>
                          <a:gd name="connsiteY23" fmla="*/ 3816473 h 4401205"/>
                          <a:gd name="connsiteX24" fmla="*/ 0 w 5316416"/>
                          <a:gd name="connsiteY24" fmla="*/ 3275754 h 4401205"/>
                          <a:gd name="connsiteX25" fmla="*/ 0 w 5316416"/>
                          <a:gd name="connsiteY25" fmla="*/ 2691022 h 4401205"/>
                          <a:gd name="connsiteX26" fmla="*/ 0 w 5316416"/>
                          <a:gd name="connsiteY26" fmla="*/ 2018267 h 4401205"/>
                          <a:gd name="connsiteX27" fmla="*/ 0 w 5316416"/>
                          <a:gd name="connsiteY27" fmla="*/ 1521559 h 4401205"/>
                          <a:gd name="connsiteX28" fmla="*/ 0 w 5316416"/>
                          <a:gd name="connsiteY28" fmla="*/ 848804 h 4401205"/>
                          <a:gd name="connsiteX29" fmla="*/ 0 w 5316416"/>
                          <a:gd name="connsiteY29" fmla="*/ 0 h 44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316416" h="4401205" extrusionOk="0">
                            <a:moveTo>
                              <a:pt x="0" y="0"/>
                            </a:moveTo>
                            <a:cubicBezTo>
                              <a:pt x="128484" y="-6931"/>
                              <a:pt x="425711" y="1418"/>
                              <a:pt x="611388" y="0"/>
                            </a:cubicBezTo>
                            <a:cubicBezTo>
                              <a:pt x="797065" y="-1418"/>
                              <a:pt x="1141497" y="-21182"/>
                              <a:pt x="1275940" y="0"/>
                            </a:cubicBezTo>
                            <a:cubicBezTo>
                              <a:pt x="1410383" y="21182"/>
                              <a:pt x="1711315" y="21747"/>
                              <a:pt x="1834164" y="0"/>
                            </a:cubicBezTo>
                            <a:cubicBezTo>
                              <a:pt x="1957013" y="-21747"/>
                              <a:pt x="2316769" y="-14099"/>
                              <a:pt x="2551880" y="0"/>
                            </a:cubicBezTo>
                            <a:cubicBezTo>
                              <a:pt x="2786991" y="14099"/>
                              <a:pt x="2972676" y="27033"/>
                              <a:pt x="3322760" y="0"/>
                            </a:cubicBezTo>
                            <a:cubicBezTo>
                              <a:pt x="3672844" y="-27033"/>
                              <a:pt x="3692447" y="29885"/>
                              <a:pt x="4040476" y="0"/>
                            </a:cubicBezTo>
                            <a:cubicBezTo>
                              <a:pt x="4388505" y="-29885"/>
                              <a:pt x="4897898" y="-35933"/>
                              <a:pt x="5316416" y="0"/>
                            </a:cubicBezTo>
                            <a:cubicBezTo>
                              <a:pt x="5347849" y="238779"/>
                              <a:pt x="5336155" y="486139"/>
                              <a:pt x="5316416" y="672756"/>
                            </a:cubicBezTo>
                            <a:cubicBezTo>
                              <a:pt x="5296677" y="859373"/>
                              <a:pt x="5282716" y="1049852"/>
                              <a:pt x="5316416" y="1389523"/>
                            </a:cubicBezTo>
                            <a:cubicBezTo>
                              <a:pt x="5350116" y="1729194"/>
                              <a:pt x="5320033" y="1721172"/>
                              <a:pt x="5316416" y="1886231"/>
                            </a:cubicBezTo>
                            <a:cubicBezTo>
                              <a:pt x="5312799" y="2051290"/>
                              <a:pt x="5318163" y="2246994"/>
                              <a:pt x="5316416" y="2382938"/>
                            </a:cubicBezTo>
                            <a:cubicBezTo>
                              <a:pt x="5314669" y="2518882"/>
                              <a:pt x="5311611" y="2818825"/>
                              <a:pt x="5316416" y="2967670"/>
                            </a:cubicBezTo>
                            <a:cubicBezTo>
                              <a:pt x="5321221" y="3116515"/>
                              <a:pt x="5289830" y="3463675"/>
                              <a:pt x="5316416" y="3640425"/>
                            </a:cubicBezTo>
                            <a:cubicBezTo>
                              <a:pt x="5343002" y="3817175"/>
                              <a:pt x="5284951" y="4246979"/>
                              <a:pt x="5316416" y="4401205"/>
                            </a:cubicBezTo>
                            <a:cubicBezTo>
                              <a:pt x="4953263" y="4413878"/>
                              <a:pt x="4902933" y="4393802"/>
                              <a:pt x="4545536" y="4401205"/>
                            </a:cubicBezTo>
                            <a:cubicBezTo>
                              <a:pt x="4188139" y="4408608"/>
                              <a:pt x="4199198" y="4425963"/>
                              <a:pt x="4040476" y="4401205"/>
                            </a:cubicBezTo>
                            <a:cubicBezTo>
                              <a:pt x="3881754" y="4376447"/>
                              <a:pt x="3600405" y="4411110"/>
                              <a:pt x="3429088" y="4401205"/>
                            </a:cubicBezTo>
                            <a:cubicBezTo>
                              <a:pt x="3257771" y="4391300"/>
                              <a:pt x="3084151" y="4392128"/>
                              <a:pt x="2817700" y="4401205"/>
                            </a:cubicBezTo>
                            <a:cubicBezTo>
                              <a:pt x="2551249" y="4410282"/>
                              <a:pt x="2301563" y="4385284"/>
                              <a:pt x="2153148" y="4401205"/>
                            </a:cubicBezTo>
                            <a:cubicBezTo>
                              <a:pt x="2004733" y="4417126"/>
                              <a:pt x="1820718" y="4421710"/>
                              <a:pt x="1488596" y="4401205"/>
                            </a:cubicBezTo>
                            <a:cubicBezTo>
                              <a:pt x="1156474" y="4380700"/>
                              <a:pt x="967416" y="4407382"/>
                              <a:pt x="770880" y="4401205"/>
                            </a:cubicBezTo>
                            <a:cubicBezTo>
                              <a:pt x="574344" y="4395028"/>
                              <a:pt x="356848" y="4423331"/>
                              <a:pt x="0" y="4401205"/>
                            </a:cubicBezTo>
                            <a:cubicBezTo>
                              <a:pt x="27419" y="4126594"/>
                              <a:pt x="27577" y="4092468"/>
                              <a:pt x="0" y="3816473"/>
                            </a:cubicBezTo>
                            <a:cubicBezTo>
                              <a:pt x="-27577" y="3540478"/>
                              <a:pt x="-12640" y="3537902"/>
                              <a:pt x="0" y="3275754"/>
                            </a:cubicBezTo>
                            <a:cubicBezTo>
                              <a:pt x="12640" y="3013606"/>
                              <a:pt x="-24808" y="2949398"/>
                              <a:pt x="0" y="2691022"/>
                            </a:cubicBezTo>
                            <a:cubicBezTo>
                              <a:pt x="24808" y="2432646"/>
                              <a:pt x="27624" y="2232235"/>
                              <a:pt x="0" y="2018267"/>
                            </a:cubicBezTo>
                            <a:cubicBezTo>
                              <a:pt x="-27624" y="1804300"/>
                              <a:pt x="9907" y="1750778"/>
                              <a:pt x="0" y="1521559"/>
                            </a:cubicBezTo>
                            <a:cubicBezTo>
                              <a:pt x="-9907" y="1292340"/>
                              <a:pt x="-17499" y="1141264"/>
                              <a:pt x="0" y="848804"/>
                            </a:cubicBezTo>
                            <a:cubicBezTo>
                              <a:pt x="17499" y="556345"/>
                              <a:pt x="-39396" y="360157"/>
                              <a:pt x="0" y="0"/>
                            </a:cubicBezTo>
                            <a:close/>
                          </a:path>
                        </a:pathLst>
                      </a:custGeom>
                      <ask:type>
                        <ask:lineSketchFreehand/>
                      </ask:type>
                    </ask:lineSketchStyleProps>
                  </a:ext>
                </a:extLst>
              </a:ln>
            </p:spPr>
            <p:txBody>
              <a:bodyPr/>
              <a:lstStyle/>
              <a:p>
                <a:r>
                  <a:rPr lang="en-IN">
                    <a:noFill/>
                  </a:rPr>
                  <a:t> </a:t>
                </a:r>
              </a:p>
            </p:txBody>
          </p:sp>
        </mc:Fallback>
      </mc:AlternateContent>
    </p:spTree>
    <p:extLst>
      <p:ext uri="{BB962C8B-B14F-4D97-AF65-F5344CB8AC3E}">
        <p14:creationId xmlns:p14="http://schemas.microsoft.com/office/powerpoint/2010/main" val="1202139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08C6C50C-9405-44C3-8CA9-D7473CB8284E}"/>
              </a:ext>
            </a:extLst>
          </p:cNvPr>
          <p:cNvGraphicFramePr>
            <a:graphicFrameLocks noGrp="1"/>
          </p:cNvGraphicFramePr>
          <p:nvPr>
            <p:ph idx="1"/>
          </p:nvPr>
        </p:nvGraphicFramePr>
        <p:xfrm>
          <a:off x="896815" y="439615"/>
          <a:ext cx="10436472" cy="5737348"/>
        </p:xfrm>
        <a:graphic>
          <a:graphicData uri="http://schemas.openxmlformats.org/drawingml/2006/table">
            <a:tbl>
              <a:tblPr>
                <a:tableStyleId>{BDBED569-4797-4DF1-A0F4-6AAB3CD982D8}</a:tableStyleId>
              </a:tblPr>
              <a:tblGrid>
                <a:gridCol w="1739412">
                  <a:extLst>
                    <a:ext uri="{9D8B030D-6E8A-4147-A177-3AD203B41FA5}">
                      <a16:colId xmlns:a16="http://schemas.microsoft.com/office/drawing/2014/main" val="519381168"/>
                    </a:ext>
                  </a:extLst>
                </a:gridCol>
                <a:gridCol w="1739412">
                  <a:extLst>
                    <a:ext uri="{9D8B030D-6E8A-4147-A177-3AD203B41FA5}">
                      <a16:colId xmlns:a16="http://schemas.microsoft.com/office/drawing/2014/main" val="3009218831"/>
                    </a:ext>
                  </a:extLst>
                </a:gridCol>
                <a:gridCol w="1739412">
                  <a:extLst>
                    <a:ext uri="{9D8B030D-6E8A-4147-A177-3AD203B41FA5}">
                      <a16:colId xmlns:a16="http://schemas.microsoft.com/office/drawing/2014/main" val="4194736552"/>
                    </a:ext>
                  </a:extLst>
                </a:gridCol>
                <a:gridCol w="1739412">
                  <a:extLst>
                    <a:ext uri="{9D8B030D-6E8A-4147-A177-3AD203B41FA5}">
                      <a16:colId xmlns:a16="http://schemas.microsoft.com/office/drawing/2014/main" val="104313388"/>
                    </a:ext>
                  </a:extLst>
                </a:gridCol>
                <a:gridCol w="1739412">
                  <a:extLst>
                    <a:ext uri="{9D8B030D-6E8A-4147-A177-3AD203B41FA5}">
                      <a16:colId xmlns:a16="http://schemas.microsoft.com/office/drawing/2014/main" val="3240530472"/>
                    </a:ext>
                  </a:extLst>
                </a:gridCol>
                <a:gridCol w="1739412">
                  <a:extLst>
                    <a:ext uri="{9D8B030D-6E8A-4147-A177-3AD203B41FA5}">
                      <a16:colId xmlns:a16="http://schemas.microsoft.com/office/drawing/2014/main" val="1140550171"/>
                    </a:ext>
                  </a:extLst>
                </a:gridCol>
              </a:tblGrid>
              <a:tr h="565654">
                <a:tc>
                  <a:txBody>
                    <a:bodyPr/>
                    <a:lstStyle/>
                    <a:p>
                      <a:pPr algn="ctr"/>
                      <a:r>
                        <a:rPr lang="en-IN" sz="1600" b="1" dirty="0"/>
                        <a:t>Encoding Method</a:t>
                      </a:r>
                    </a:p>
                  </a:txBody>
                  <a:tcPr marL="61286" marR="61286" marT="30643" marB="30643" anchor="ctr"/>
                </a:tc>
                <a:tc>
                  <a:txBody>
                    <a:bodyPr/>
                    <a:lstStyle/>
                    <a:p>
                      <a:pPr algn="ctr"/>
                      <a:r>
                        <a:rPr lang="en-IN" sz="1600" b="1" dirty="0"/>
                        <a:t>Gates Used</a:t>
                      </a:r>
                    </a:p>
                  </a:txBody>
                  <a:tcPr marL="61286" marR="61286" marT="30643" marB="30643" anchor="ctr"/>
                </a:tc>
                <a:tc>
                  <a:txBody>
                    <a:bodyPr/>
                    <a:lstStyle/>
                    <a:p>
                      <a:pPr algn="ctr"/>
                      <a:r>
                        <a:rPr lang="en-IN" sz="1600" b="1" dirty="0"/>
                        <a:t>Data Stored In</a:t>
                      </a:r>
                    </a:p>
                  </a:txBody>
                  <a:tcPr marL="61286" marR="61286" marT="30643" marB="30643" anchor="ctr"/>
                </a:tc>
                <a:tc>
                  <a:txBody>
                    <a:bodyPr/>
                    <a:lstStyle/>
                    <a:p>
                      <a:pPr algn="ctr"/>
                      <a:r>
                        <a:rPr lang="en-IN" sz="1600" b="1" dirty="0"/>
                        <a:t>Entanglement</a:t>
                      </a:r>
                    </a:p>
                  </a:txBody>
                  <a:tcPr marL="61286" marR="61286" marT="30643" marB="30643" anchor="ctr"/>
                </a:tc>
                <a:tc>
                  <a:txBody>
                    <a:bodyPr/>
                    <a:lstStyle/>
                    <a:p>
                      <a:pPr algn="ctr"/>
                      <a:r>
                        <a:rPr lang="en-IN" sz="1600" b="1" dirty="0"/>
                        <a:t>Qubits Required</a:t>
                      </a:r>
                    </a:p>
                  </a:txBody>
                  <a:tcPr marL="61286" marR="61286" marT="30643" marB="30643" anchor="ctr"/>
                </a:tc>
                <a:tc>
                  <a:txBody>
                    <a:bodyPr/>
                    <a:lstStyle/>
                    <a:p>
                      <a:pPr algn="ctr"/>
                      <a:r>
                        <a:rPr lang="en-IN" sz="1600" b="1" dirty="0"/>
                        <a:t>Typical Use</a:t>
                      </a:r>
                    </a:p>
                  </a:txBody>
                  <a:tcPr marL="61286" marR="61286" marT="30643" marB="30643" anchor="ctr"/>
                </a:tc>
                <a:extLst>
                  <a:ext uri="{0D108BD9-81ED-4DB2-BD59-A6C34878D82A}">
                    <a16:rowId xmlns:a16="http://schemas.microsoft.com/office/drawing/2014/main" val="619348646"/>
                  </a:ext>
                </a:extLst>
              </a:tr>
              <a:tr h="565654">
                <a:tc>
                  <a:txBody>
                    <a:bodyPr/>
                    <a:lstStyle/>
                    <a:p>
                      <a:pPr algn="l"/>
                      <a:r>
                        <a:rPr lang="en-IN" sz="1600" dirty="0"/>
                        <a:t>Amplitude Encoding</a:t>
                      </a:r>
                    </a:p>
                  </a:txBody>
                  <a:tcPr marL="61286" marR="61286" marT="30643" marB="30643" anchor="ctr"/>
                </a:tc>
                <a:tc>
                  <a:txBody>
                    <a:bodyPr/>
                    <a:lstStyle/>
                    <a:p>
                      <a:pPr algn="ctr"/>
                      <a:r>
                        <a:rPr lang="en-IN" sz="1600" dirty="0"/>
                        <a:t>State initialization</a:t>
                      </a:r>
                    </a:p>
                  </a:txBody>
                  <a:tcPr marL="61286" marR="61286" marT="30643" marB="30643" anchor="ctr"/>
                </a:tc>
                <a:tc>
                  <a:txBody>
                    <a:bodyPr/>
                    <a:lstStyle/>
                    <a:p>
                      <a:pPr algn="ctr"/>
                      <a:r>
                        <a:rPr lang="en-IN" sz="1600"/>
                        <a:t>Probability amplitudes</a:t>
                      </a:r>
                    </a:p>
                  </a:txBody>
                  <a:tcPr marL="61286" marR="61286" marT="30643" marB="30643" anchor="ctr"/>
                </a:tc>
                <a:tc>
                  <a:txBody>
                    <a:bodyPr/>
                    <a:lstStyle/>
                    <a:p>
                      <a:pPr algn="ctr"/>
                      <a:r>
                        <a:rPr lang="en-IN" sz="1600"/>
                        <a:t>No</a:t>
                      </a:r>
                    </a:p>
                  </a:txBody>
                  <a:tcPr marL="61286" marR="61286" marT="30643" marB="30643" anchor="ctr"/>
                </a:tc>
                <a:tc>
                  <a:txBody>
                    <a:bodyPr/>
                    <a:lstStyle/>
                    <a:p>
                      <a:pPr algn="ctr"/>
                      <a:r>
                        <a:rPr lang="en-IN" sz="1600" dirty="0"/>
                        <a:t>log</a:t>
                      </a:r>
                      <a:r>
                        <a:rPr lang="en-IN" sz="1600" baseline="-25000" dirty="0"/>
                        <a:t>2</a:t>
                      </a:r>
                      <a:r>
                        <a:rPr lang="en-IN" sz="1600" dirty="0"/>
                        <a:t>N</a:t>
                      </a:r>
                    </a:p>
                  </a:txBody>
                  <a:tcPr marL="61286" marR="61286" marT="30643" marB="30643" anchor="ctr"/>
                </a:tc>
                <a:tc>
                  <a:txBody>
                    <a:bodyPr/>
                    <a:lstStyle/>
                    <a:p>
                      <a:pPr algn="ctr"/>
                      <a:r>
                        <a:rPr lang="en-IN" sz="1600"/>
                        <a:t>Large datasets</a:t>
                      </a:r>
                    </a:p>
                  </a:txBody>
                  <a:tcPr marL="61286" marR="61286" marT="30643" marB="30643" anchor="ctr"/>
                </a:tc>
                <a:extLst>
                  <a:ext uri="{0D108BD9-81ED-4DB2-BD59-A6C34878D82A}">
                    <a16:rowId xmlns:a16="http://schemas.microsoft.com/office/drawing/2014/main" val="3171116773"/>
                  </a:ext>
                </a:extLst>
              </a:tr>
              <a:tr h="565654">
                <a:tc>
                  <a:txBody>
                    <a:bodyPr/>
                    <a:lstStyle/>
                    <a:p>
                      <a:pPr algn="l"/>
                      <a:r>
                        <a:rPr lang="en-IN" sz="1600" dirty="0"/>
                        <a:t>Phase Encoding</a:t>
                      </a:r>
                    </a:p>
                  </a:txBody>
                  <a:tcPr marL="61286" marR="61286" marT="30643" marB="30643" anchor="ctr"/>
                </a:tc>
                <a:tc>
                  <a:txBody>
                    <a:bodyPr/>
                    <a:lstStyle/>
                    <a:p>
                      <a:pPr algn="ctr"/>
                      <a:r>
                        <a:rPr lang="en-IN" sz="1600" dirty="0"/>
                        <a:t>Phase rotations</a:t>
                      </a:r>
                    </a:p>
                  </a:txBody>
                  <a:tcPr marL="61286" marR="61286" marT="30643" marB="30643" anchor="ctr"/>
                </a:tc>
                <a:tc>
                  <a:txBody>
                    <a:bodyPr/>
                    <a:lstStyle/>
                    <a:p>
                      <a:pPr algn="ctr"/>
                      <a:r>
                        <a:rPr lang="en-IN" sz="1600" dirty="0"/>
                        <a:t>Relative phases</a:t>
                      </a:r>
                    </a:p>
                  </a:txBody>
                  <a:tcPr marL="61286" marR="61286" marT="30643" marB="30643" anchor="ctr"/>
                </a:tc>
                <a:tc>
                  <a:txBody>
                    <a:bodyPr/>
                    <a:lstStyle/>
                    <a:p>
                      <a:pPr algn="ctr"/>
                      <a:r>
                        <a:rPr lang="en-IN" sz="1600"/>
                        <a:t>No</a:t>
                      </a:r>
                    </a:p>
                  </a:txBody>
                  <a:tcPr marL="61286" marR="61286" marT="30643" marB="30643" anchor="ctr"/>
                </a:tc>
                <a:tc>
                  <a:txBody>
                    <a:bodyPr/>
                    <a:lstStyle/>
                    <a:p>
                      <a:pPr algn="ctr"/>
                      <a:r>
                        <a:rPr lang="en-IN" sz="1600"/>
                        <a:t>N</a:t>
                      </a:r>
                    </a:p>
                  </a:txBody>
                  <a:tcPr marL="61286" marR="61286" marT="30643" marB="30643" anchor="ctr"/>
                </a:tc>
                <a:tc>
                  <a:txBody>
                    <a:bodyPr/>
                    <a:lstStyle/>
                    <a:p>
                      <a:pPr algn="ctr"/>
                      <a:r>
                        <a:rPr lang="en-IN" sz="1600"/>
                        <a:t>Quantum algorithms</a:t>
                      </a:r>
                    </a:p>
                  </a:txBody>
                  <a:tcPr marL="61286" marR="61286" marT="30643" marB="30643" anchor="ctr"/>
                </a:tc>
                <a:extLst>
                  <a:ext uri="{0D108BD9-81ED-4DB2-BD59-A6C34878D82A}">
                    <a16:rowId xmlns:a16="http://schemas.microsoft.com/office/drawing/2014/main" val="842549443"/>
                  </a:ext>
                </a:extLst>
              </a:tr>
              <a:tr h="323231">
                <a:tc>
                  <a:txBody>
                    <a:bodyPr/>
                    <a:lstStyle/>
                    <a:p>
                      <a:pPr algn="l"/>
                      <a:r>
                        <a:rPr lang="en-IN" sz="1600" dirty="0"/>
                        <a:t>Angle Encoding</a:t>
                      </a:r>
                    </a:p>
                  </a:txBody>
                  <a:tcPr marL="61286" marR="61286" marT="30643" marB="30643" anchor="ctr"/>
                </a:tc>
                <a:tc>
                  <a:txBody>
                    <a:bodyPr/>
                    <a:lstStyle/>
                    <a:p>
                      <a:pPr algn="ctr"/>
                      <a:r>
                        <a:rPr lang="en-IN" sz="1600" dirty="0"/>
                        <a:t>Rotation gates</a:t>
                      </a:r>
                    </a:p>
                  </a:txBody>
                  <a:tcPr marL="61286" marR="61286" marT="30643" marB="30643" anchor="ctr"/>
                </a:tc>
                <a:tc>
                  <a:txBody>
                    <a:bodyPr/>
                    <a:lstStyle/>
                    <a:p>
                      <a:pPr algn="ctr"/>
                      <a:r>
                        <a:rPr lang="en-IN" sz="1600" dirty="0"/>
                        <a:t>Rotation angles</a:t>
                      </a:r>
                    </a:p>
                  </a:txBody>
                  <a:tcPr marL="61286" marR="61286" marT="30643" marB="30643" anchor="ctr"/>
                </a:tc>
                <a:tc>
                  <a:txBody>
                    <a:bodyPr/>
                    <a:lstStyle/>
                    <a:p>
                      <a:pPr algn="ctr"/>
                      <a:r>
                        <a:rPr lang="en-IN" sz="1600"/>
                        <a:t>No</a:t>
                      </a:r>
                    </a:p>
                  </a:txBody>
                  <a:tcPr marL="61286" marR="61286" marT="30643" marB="30643" anchor="ctr"/>
                </a:tc>
                <a:tc>
                  <a:txBody>
                    <a:bodyPr/>
                    <a:lstStyle/>
                    <a:p>
                      <a:pPr algn="ctr"/>
                      <a:r>
                        <a:rPr lang="en-IN" sz="1600"/>
                        <a:t>N</a:t>
                      </a:r>
                    </a:p>
                  </a:txBody>
                  <a:tcPr marL="61286" marR="61286" marT="30643" marB="30643" anchor="ctr"/>
                </a:tc>
                <a:tc>
                  <a:txBody>
                    <a:bodyPr/>
                    <a:lstStyle/>
                    <a:p>
                      <a:pPr algn="ctr"/>
                      <a:r>
                        <a:rPr lang="en-IN" sz="1600"/>
                        <a:t>General QML</a:t>
                      </a:r>
                    </a:p>
                  </a:txBody>
                  <a:tcPr marL="61286" marR="61286" marT="30643" marB="30643" anchor="ctr"/>
                </a:tc>
                <a:extLst>
                  <a:ext uri="{0D108BD9-81ED-4DB2-BD59-A6C34878D82A}">
                    <a16:rowId xmlns:a16="http://schemas.microsoft.com/office/drawing/2014/main" val="1705702296"/>
                  </a:ext>
                </a:extLst>
              </a:tr>
              <a:tr h="323231">
                <a:tc>
                  <a:txBody>
                    <a:bodyPr/>
                    <a:lstStyle/>
                    <a:p>
                      <a:pPr algn="l"/>
                      <a:r>
                        <a:rPr lang="en-IN" sz="1600"/>
                        <a:t>RX Encoding</a:t>
                      </a:r>
                    </a:p>
                  </a:txBody>
                  <a:tcPr marL="61286" marR="61286" marT="30643" marB="30643" anchor="ctr"/>
                </a:tc>
                <a:tc>
                  <a:txBody>
                    <a:bodyPr/>
                    <a:lstStyle/>
                    <a:p>
                      <a:pPr algn="ctr"/>
                      <a:r>
                        <a:rPr lang="en-IN" sz="1600"/>
                        <a:t>RX</a:t>
                      </a:r>
                    </a:p>
                  </a:txBody>
                  <a:tcPr marL="61286" marR="61286" marT="30643" marB="30643" anchor="ctr"/>
                </a:tc>
                <a:tc>
                  <a:txBody>
                    <a:bodyPr/>
                    <a:lstStyle/>
                    <a:p>
                      <a:pPr algn="ctr"/>
                      <a:r>
                        <a:rPr lang="en-IN" sz="1600" dirty="0"/>
                        <a:t>X-axis rotations</a:t>
                      </a:r>
                    </a:p>
                  </a:txBody>
                  <a:tcPr marL="61286" marR="61286" marT="30643" marB="30643" anchor="ctr"/>
                </a:tc>
                <a:tc>
                  <a:txBody>
                    <a:bodyPr/>
                    <a:lstStyle/>
                    <a:p>
                      <a:pPr algn="ctr"/>
                      <a:r>
                        <a:rPr lang="en-IN" sz="1600" dirty="0"/>
                        <a:t>No</a:t>
                      </a:r>
                    </a:p>
                  </a:txBody>
                  <a:tcPr marL="61286" marR="61286" marT="30643" marB="30643" anchor="ctr"/>
                </a:tc>
                <a:tc>
                  <a:txBody>
                    <a:bodyPr/>
                    <a:lstStyle/>
                    <a:p>
                      <a:pPr algn="ctr"/>
                      <a:r>
                        <a:rPr lang="en-IN" sz="1600"/>
                        <a:t>N</a:t>
                      </a:r>
                    </a:p>
                  </a:txBody>
                  <a:tcPr marL="61286" marR="61286" marT="30643" marB="30643" anchor="ctr"/>
                </a:tc>
                <a:tc>
                  <a:txBody>
                    <a:bodyPr/>
                    <a:lstStyle/>
                    <a:p>
                      <a:pPr algn="ctr"/>
                      <a:r>
                        <a:rPr lang="en-IN" sz="1600"/>
                        <a:t>VQC</a:t>
                      </a:r>
                    </a:p>
                  </a:txBody>
                  <a:tcPr marL="61286" marR="61286" marT="30643" marB="30643" anchor="ctr"/>
                </a:tc>
                <a:extLst>
                  <a:ext uri="{0D108BD9-81ED-4DB2-BD59-A6C34878D82A}">
                    <a16:rowId xmlns:a16="http://schemas.microsoft.com/office/drawing/2014/main" val="3322070319"/>
                  </a:ext>
                </a:extLst>
              </a:tr>
              <a:tr h="323231">
                <a:tc>
                  <a:txBody>
                    <a:bodyPr/>
                    <a:lstStyle/>
                    <a:p>
                      <a:pPr algn="l"/>
                      <a:r>
                        <a:rPr lang="en-IN" sz="1600" dirty="0"/>
                        <a:t>RY Encoding</a:t>
                      </a:r>
                    </a:p>
                  </a:txBody>
                  <a:tcPr marL="61286" marR="61286" marT="30643" marB="30643" anchor="ctr"/>
                </a:tc>
                <a:tc>
                  <a:txBody>
                    <a:bodyPr/>
                    <a:lstStyle/>
                    <a:p>
                      <a:pPr algn="ctr"/>
                      <a:r>
                        <a:rPr lang="en-IN" sz="1600" dirty="0"/>
                        <a:t>RY</a:t>
                      </a:r>
                    </a:p>
                  </a:txBody>
                  <a:tcPr marL="61286" marR="61286" marT="30643" marB="30643" anchor="ctr"/>
                </a:tc>
                <a:tc>
                  <a:txBody>
                    <a:bodyPr/>
                    <a:lstStyle/>
                    <a:p>
                      <a:pPr algn="ctr"/>
                      <a:r>
                        <a:rPr lang="en-IN" sz="1600" dirty="0"/>
                        <a:t>Y-axis rotations</a:t>
                      </a:r>
                    </a:p>
                  </a:txBody>
                  <a:tcPr marL="61286" marR="61286" marT="30643" marB="30643" anchor="ctr"/>
                </a:tc>
                <a:tc>
                  <a:txBody>
                    <a:bodyPr/>
                    <a:lstStyle/>
                    <a:p>
                      <a:pPr algn="ctr"/>
                      <a:r>
                        <a:rPr lang="en-IN" sz="1600" dirty="0"/>
                        <a:t>No</a:t>
                      </a:r>
                    </a:p>
                  </a:txBody>
                  <a:tcPr marL="61286" marR="61286" marT="30643" marB="30643" anchor="ctr"/>
                </a:tc>
                <a:tc>
                  <a:txBody>
                    <a:bodyPr/>
                    <a:lstStyle/>
                    <a:p>
                      <a:pPr algn="ctr"/>
                      <a:r>
                        <a:rPr lang="en-IN" sz="1600"/>
                        <a:t>N</a:t>
                      </a:r>
                    </a:p>
                  </a:txBody>
                  <a:tcPr marL="61286" marR="61286" marT="30643" marB="30643" anchor="ctr"/>
                </a:tc>
                <a:tc>
                  <a:txBody>
                    <a:bodyPr/>
                    <a:lstStyle/>
                    <a:p>
                      <a:pPr algn="ctr"/>
                      <a:r>
                        <a:rPr lang="en-IN" sz="1600"/>
                        <a:t>Most common</a:t>
                      </a:r>
                    </a:p>
                  </a:txBody>
                  <a:tcPr marL="61286" marR="61286" marT="30643" marB="30643" anchor="ctr"/>
                </a:tc>
                <a:extLst>
                  <a:ext uri="{0D108BD9-81ED-4DB2-BD59-A6C34878D82A}">
                    <a16:rowId xmlns:a16="http://schemas.microsoft.com/office/drawing/2014/main" val="3598865110"/>
                  </a:ext>
                </a:extLst>
              </a:tr>
              <a:tr h="565654">
                <a:tc>
                  <a:txBody>
                    <a:bodyPr/>
                    <a:lstStyle/>
                    <a:p>
                      <a:pPr algn="l"/>
                      <a:r>
                        <a:rPr lang="en-IN" sz="1600" dirty="0"/>
                        <a:t>RZ Encoding</a:t>
                      </a:r>
                    </a:p>
                  </a:txBody>
                  <a:tcPr marL="61286" marR="61286" marT="30643" marB="30643" anchor="ctr"/>
                </a:tc>
                <a:tc>
                  <a:txBody>
                    <a:bodyPr/>
                    <a:lstStyle/>
                    <a:p>
                      <a:pPr algn="ctr"/>
                      <a:r>
                        <a:rPr lang="en-IN" sz="1600" dirty="0"/>
                        <a:t>RZ</a:t>
                      </a:r>
                    </a:p>
                  </a:txBody>
                  <a:tcPr marL="61286" marR="61286" marT="30643" marB="30643" anchor="ctr"/>
                </a:tc>
                <a:tc>
                  <a:txBody>
                    <a:bodyPr/>
                    <a:lstStyle/>
                    <a:p>
                      <a:pPr algn="ctr"/>
                      <a:r>
                        <a:rPr lang="en-IN" sz="1600"/>
                        <a:t>Z-axis rotations</a:t>
                      </a:r>
                    </a:p>
                  </a:txBody>
                  <a:tcPr marL="61286" marR="61286" marT="30643" marB="30643" anchor="ctr"/>
                </a:tc>
                <a:tc>
                  <a:txBody>
                    <a:bodyPr/>
                    <a:lstStyle/>
                    <a:p>
                      <a:pPr algn="ctr"/>
                      <a:r>
                        <a:rPr lang="en-IN" sz="1600" dirty="0"/>
                        <a:t>No</a:t>
                      </a:r>
                    </a:p>
                  </a:txBody>
                  <a:tcPr marL="61286" marR="61286" marT="30643" marB="30643" anchor="ctr"/>
                </a:tc>
                <a:tc>
                  <a:txBody>
                    <a:bodyPr/>
                    <a:lstStyle/>
                    <a:p>
                      <a:pPr algn="ctr"/>
                      <a:r>
                        <a:rPr lang="en-IN" sz="1600" dirty="0"/>
                        <a:t>N</a:t>
                      </a:r>
                    </a:p>
                  </a:txBody>
                  <a:tcPr marL="61286" marR="61286" marT="30643" marB="30643" anchor="ctr"/>
                </a:tc>
                <a:tc>
                  <a:txBody>
                    <a:bodyPr/>
                    <a:lstStyle/>
                    <a:p>
                      <a:pPr algn="ctr"/>
                      <a:r>
                        <a:rPr lang="en-IN" sz="1600"/>
                        <a:t>Phase-sensitive models</a:t>
                      </a:r>
                    </a:p>
                  </a:txBody>
                  <a:tcPr marL="61286" marR="61286" marT="30643" marB="30643" anchor="ctr"/>
                </a:tc>
                <a:extLst>
                  <a:ext uri="{0D108BD9-81ED-4DB2-BD59-A6C34878D82A}">
                    <a16:rowId xmlns:a16="http://schemas.microsoft.com/office/drawing/2014/main" val="2373097078"/>
                  </a:ext>
                </a:extLst>
              </a:tr>
              <a:tr h="565654">
                <a:tc>
                  <a:txBody>
                    <a:bodyPr/>
                    <a:lstStyle/>
                    <a:p>
                      <a:pPr algn="l"/>
                      <a:r>
                        <a:rPr lang="en-IN" sz="1600" dirty="0" err="1"/>
                        <a:t>ZFeatureMap</a:t>
                      </a:r>
                      <a:endParaRPr lang="en-IN" sz="1600" dirty="0"/>
                    </a:p>
                  </a:txBody>
                  <a:tcPr marL="61286" marR="61286" marT="30643" marB="30643" anchor="ctr"/>
                </a:tc>
                <a:tc>
                  <a:txBody>
                    <a:bodyPr/>
                    <a:lstStyle/>
                    <a:p>
                      <a:pPr algn="ctr"/>
                      <a:r>
                        <a:rPr lang="en-IN" sz="1600"/>
                        <a:t>Hadamard + Phase</a:t>
                      </a:r>
                    </a:p>
                  </a:txBody>
                  <a:tcPr marL="61286" marR="61286" marT="30643" marB="30643" anchor="ctr"/>
                </a:tc>
                <a:tc>
                  <a:txBody>
                    <a:bodyPr/>
                    <a:lstStyle/>
                    <a:p>
                      <a:pPr algn="ctr"/>
                      <a:r>
                        <a:rPr lang="en-IN" sz="1600"/>
                        <a:t>Z rotations</a:t>
                      </a:r>
                    </a:p>
                  </a:txBody>
                  <a:tcPr marL="61286" marR="61286" marT="30643" marB="30643" anchor="ctr"/>
                </a:tc>
                <a:tc>
                  <a:txBody>
                    <a:bodyPr/>
                    <a:lstStyle/>
                    <a:p>
                      <a:pPr algn="ctr"/>
                      <a:r>
                        <a:rPr lang="en-IN" sz="1600"/>
                        <a:t>Optional</a:t>
                      </a:r>
                    </a:p>
                  </a:txBody>
                  <a:tcPr marL="61286" marR="61286" marT="30643" marB="30643" anchor="ctr"/>
                </a:tc>
                <a:tc>
                  <a:txBody>
                    <a:bodyPr/>
                    <a:lstStyle/>
                    <a:p>
                      <a:pPr algn="ctr"/>
                      <a:r>
                        <a:rPr lang="en-IN" sz="1600" dirty="0"/>
                        <a:t>N</a:t>
                      </a:r>
                    </a:p>
                  </a:txBody>
                  <a:tcPr marL="61286" marR="61286" marT="30643" marB="30643" anchor="ctr"/>
                </a:tc>
                <a:tc>
                  <a:txBody>
                    <a:bodyPr/>
                    <a:lstStyle/>
                    <a:p>
                      <a:pPr algn="ctr"/>
                      <a:r>
                        <a:rPr lang="en-IN" sz="1600"/>
                        <a:t>Qiskit VQC</a:t>
                      </a:r>
                    </a:p>
                  </a:txBody>
                  <a:tcPr marL="61286" marR="61286" marT="30643" marB="30643" anchor="ctr"/>
                </a:tc>
                <a:extLst>
                  <a:ext uri="{0D108BD9-81ED-4DB2-BD59-A6C34878D82A}">
                    <a16:rowId xmlns:a16="http://schemas.microsoft.com/office/drawing/2014/main" val="1409600770"/>
                  </a:ext>
                </a:extLst>
              </a:tr>
              <a:tr h="808077">
                <a:tc>
                  <a:txBody>
                    <a:bodyPr/>
                    <a:lstStyle/>
                    <a:p>
                      <a:pPr algn="l"/>
                      <a:r>
                        <a:rPr lang="en-IN" sz="1600" dirty="0" err="1"/>
                        <a:t>ZZFeatureMap</a:t>
                      </a:r>
                      <a:endParaRPr lang="en-IN" sz="1600" dirty="0"/>
                    </a:p>
                  </a:txBody>
                  <a:tcPr marL="61286" marR="61286" marT="30643" marB="30643" anchor="ctr"/>
                </a:tc>
                <a:tc>
                  <a:txBody>
                    <a:bodyPr/>
                    <a:lstStyle/>
                    <a:p>
                      <a:pPr algn="ctr"/>
                      <a:r>
                        <a:rPr lang="en-IN" sz="1600"/>
                        <a:t>Hadamard + ZZ</a:t>
                      </a:r>
                    </a:p>
                  </a:txBody>
                  <a:tcPr marL="61286" marR="61286" marT="30643" marB="30643" anchor="ctr"/>
                </a:tc>
                <a:tc>
                  <a:txBody>
                    <a:bodyPr/>
                    <a:lstStyle/>
                    <a:p>
                      <a:pPr algn="ctr"/>
                      <a:r>
                        <a:rPr lang="en-IN" sz="1600"/>
                        <a:t>Z rotations + pairwise interactions</a:t>
                      </a:r>
                    </a:p>
                  </a:txBody>
                  <a:tcPr marL="61286" marR="61286" marT="30643" marB="30643" anchor="ctr"/>
                </a:tc>
                <a:tc>
                  <a:txBody>
                    <a:bodyPr/>
                    <a:lstStyle/>
                    <a:p>
                      <a:pPr algn="ctr"/>
                      <a:r>
                        <a:rPr lang="en-IN" sz="1600"/>
                        <a:t>Yes</a:t>
                      </a:r>
                    </a:p>
                  </a:txBody>
                  <a:tcPr marL="61286" marR="61286" marT="30643" marB="30643" anchor="ctr"/>
                </a:tc>
                <a:tc>
                  <a:txBody>
                    <a:bodyPr/>
                    <a:lstStyle/>
                    <a:p>
                      <a:pPr algn="ctr"/>
                      <a:r>
                        <a:rPr lang="en-IN" sz="1600" dirty="0"/>
                        <a:t>N</a:t>
                      </a:r>
                    </a:p>
                  </a:txBody>
                  <a:tcPr marL="61286" marR="61286" marT="30643" marB="30643" anchor="ctr"/>
                </a:tc>
                <a:tc>
                  <a:txBody>
                    <a:bodyPr/>
                    <a:lstStyle/>
                    <a:p>
                      <a:pPr algn="ctr"/>
                      <a:r>
                        <a:rPr lang="en-IN" sz="1600" dirty="0"/>
                        <a:t>Highly recommended</a:t>
                      </a:r>
                    </a:p>
                  </a:txBody>
                  <a:tcPr marL="61286" marR="61286" marT="30643" marB="30643" anchor="ctr"/>
                </a:tc>
                <a:extLst>
                  <a:ext uri="{0D108BD9-81ED-4DB2-BD59-A6C34878D82A}">
                    <a16:rowId xmlns:a16="http://schemas.microsoft.com/office/drawing/2014/main" val="2545729848"/>
                  </a:ext>
                </a:extLst>
              </a:tr>
              <a:tr h="565654">
                <a:tc>
                  <a:txBody>
                    <a:bodyPr/>
                    <a:lstStyle/>
                    <a:p>
                      <a:pPr algn="l"/>
                      <a:r>
                        <a:rPr lang="en-IN" sz="1600" dirty="0"/>
                        <a:t>Pauli-Z Feature Map</a:t>
                      </a:r>
                    </a:p>
                  </a:txBody>
                  <a:tcPr marL="61286" marR="61286" marT="30643" marB="30643" anchor="ctr"/>
                </a:tc>
                <a:tc>
                  <a:txBody>
                    <a:bodyPr/>
                    <a:lstStyle/>
                    <a:p>
                      <a:pPr algn="ctr"/>
                      <a:r>
                        <a:rPr lang="en-IN" sz="1600"/>
                        <a:t>Pauli Evolution</a:t>
                      </a:r>
                    </a:p>
                  </a:txBody>
                  <a:tcPr marL="61286" marR="61286" marT="30643" marB="30643" anchor="ctr"/>
                </a:tc>
                <a:tc>
                  <a:txBody>
                    <a:bodyPr/>
                    <a:lstStyle/>
                    <a:p>
                      <a:pPr algn="ctr"/>
                      <a:r>
                        <a:rPr lang="en-IN" sz="1600"/>
                        <a:t>Z Hamiltonian</a:t>
                      </a:r>
                    </a:p>
                  </a:txBody>
                  <a:tcPr marL="61286" marR="61286" marT="30643" marB="30643" anchor="ctr"/>
                </a:tc>
                <a:tc>
                  <a:txBody>
                    <a:bodyPr/>
                    <a:lstStyle/>
                    <a:p>
                      <a:pPr algn="ctr"/>
                      <a:r>
                        <a:rPr lang="en-IN" sz="1600"/>
                        <a:t>Optional</a:t>
                      </a:r>
                    </a:p>
                  </a:txBody>
                  <a:tcPr marL="61286" marR="61286" marT="30643" marB="30643" anchor="ctr"/>
                </a:tc>
                <a:tc>
                  <a:txBody>
                    <a:bodyPr/>
                    <a:lstStyle/>
                    <a:p>
                      <a:pPr algn="ctr"/>
                      <a:r>
                        <a:rPr lang="en-IN" sz="1600"/>
                        <a:t>N</a:t>
                      </a:r>
                    </a:p>
                  </a:txBody>
                  <a:tcPr marL="61286" marR="61286" marT="30643" marB="30643" anchor="ctr"/>
                </a:tc>
                <a:tc>
                  <a:txBody>
                    <a:bodyPr/>
                    <a:lstStyle/>
                    <a:p>
                      <a:pPr algn="ctr"/>
                      <a:r>
                        <a:rPr lang="en-IN" sz="1600" dirty="0"/>
                        <a:t>Generalized encoding</a:t>
                      </a:r>
                    </a:p>
                  </a:txBody>
                  <a:tcPr marL="61286" marR="61286" marT="30643" marB="30643" anchor="ctr"/>
                </a:tc>
                <a:extLst>
                  <a:ext uri="{0D108BD9-81ED-4DB2-BD59-A6C34878D82A}">
                    <a16:rowId xmlns:a16="http://schemas.microsoft.com/office/drawing/2014/main" val="2499897993"/>
                  </a:ext>
                </a:extLst>
              </a:tr>
              <a:tr h="565654">
                <a:tc>
                  <a:txBody>
                    <a:bodyPr/>
                    <a:lstStyle/>
                    <a:p>
                      <a:pPr algn="l"/>
                      <a:r>
                        <a:rPr lang="en-IN" sz="1600" dirty="0"/>
                        <a:t>Pauli-ZZ Feature Map</a:t>
                      </a:r>
                    </a:p>
                  </a:txBody>
                  <a:tcPr marL="61286" marR="61286" marT="30643" marB="30643" anchor="ctr"/>
                </a:tc>
                <a:tc>
                  <a:txBody>
                    <a:bodyPr/>
                    <a:lstStyle/>
                    <a:p>
                      <a:pPr algn="ctr"/>
                      <a:r>
                        <a:rPr lang="en-IN" sz="1600"/>
                        <a:t>Pauli Evolution</a:t>
                      </a:r>
                    </a:p>
                  </a:txBody>
                  <a:tcPr marL="61286" marR="61286" marT="30643" marB="30643" anchor="ctr"/>
                </a:tc>
                <a:tc>
                  <a:txBody>
                    <a:bodyPr/>
                    <a:lstStyle/>
                    <a:p>
                      <a:pPr algn="ctr"/>
                      <a:r>
                        <a:rPr lang="en-IN" sz="1600"/>
                        <a:t>ZZ Hamiltonian</a:t>
                      </a:r>
                    </a:p>
                  </a:txBody>
                  <a:tcPr marL="61286" marR="61286" marT="30643" marB="30643" anchor="ctr"/>
                </a:tc>
                <a:tc>
                  <a:txBody>
                    <a:bodyPr/>
                    <a:lstStyle/>
                    <a:p>
                      <a:pPr algn="ctr"/>
                      <a:r>
                        <a:rPr lang="en-IN" sz="1600"/>
                        <a:t>Strong</a:t>
                      </a:r>
                    </a:p>
                  </a:txBody>
                  <a:tcPr marL="61286" marR="61286" marT="30643" marB="30643" anchor="ctr"/>
                </a:tc>
                <a:tc>
                  <a:txBody>
                    <a:bodyPr/>
                    <a:lstStyle/>
                    <a:p>
                      <a:pPr algn="ctr"/>
                      <a:r>
                        <a:rPr lang="en-IN" sz="1600"/>
                        <a:t>N</a:t>
                      </a:r>
                    </a:p>
                  </a:txBody>
                  <a:tcPr marL="61286" marR="61286" marT="30643" marB="30643" anchor="ctr"/>
                </a:tc>
                <a:tc>
                  <a:txBody>
                    <a:bodyPr/>
                    <a:lstStyle/>
                    <a:p>
                      <a:pPr algn="ctr"/>
                      <a:r>
                        <a:rPr lang="en-IN" sz="1600" dirty="0"/>
                        <a:t>Rich feature interactions</a:t>
                      </a:r>
                    </a:p>
                  </a:txBody>
                  <a:tcPr marL="61286" marR="61286" marT="30643" marB="30643" anchor="ctr"/>
                </a:tc>
                <a:extLst>
                  <a:ext uri="{0D108BD9-81ED-4DB2-BD59-A6C34878D82A}">
                    <a16:rowId xmlns:a16="http://schemas.microsoft.com/office/drawing/2014/main" val="3528527733"/>
                  </a:ext>
                </a:extLst>
              </a:tr>
            </a:tbl>
          </a:graphicData>
        </a:graphic>
      </p:graphicFrame>
    </p:spTree>
    <p:extLst>
      <p:ext uri="{BB962C8B-B14F-4D97-AF65-F5344CB8AC3E}">
        <p14:creationId xmlns:p14="http://schemas.microsoft.com/office/powerpoint/2010/main" val="1012955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AB73E7E-5BEA-4E91-BCDF-CA2CC77437FD}"/>
              </a:ext>
            </a:extLst>
          </p:cNvPr>
          <p:cNvSpPr>
            <a:spLocks noGrp="1"/>
          </p:cNvSpPr>
          <p:nvPr>
            <p:ph type="title"/>
          </p:nvPr>
        </p:nvSpPr>
        <p:spPr>
          <a:xfrm>
            <a:off x="838200" y="1"/>
            <a:ext cx="10515600" cy="791308"/>
          </a:xfrm>
        </p:spPr>
        <p:txBody>
          <a:bodyPr>
            <a:normAutofit/>
          </a:bodyPr>
          <a:lstStyle/>
          <a:p>
            <a:r>
              <a:rPr lang="en-IN" sz="4400" dirty="0"/>
              <a:t>Amplitude Encoding</a:t>
            </a:r>
            <a:endParaRPr lang="en-IN" dirty="0"/>
          </a:p>
        </p:txBody>
      </p:sp>
      <p:sp>
        <p:nvSpPr>
          <p:cNvPr id="8" name="Content Placeholder 7">
            <a:extLst>
              <a:ext uri="{FF2B5EF4-FFF2-40B4-BE49-F238E27FC236}">
                <a16:creationId xmlns:a16="http://schemas.microsoft.com/office/drawing/2014/main" id="{50BD3B50-11D4-428C-B573-63828C5E4A62}"/>
              </a:ext>
            </a:extLst>
          </p:cNvPr>
          <p:cNvSpPr>
            <a:spLocks noGrp="1"/>
          </p:cNvSpPr>
          <p:nvPr>
            <p:ph sz="half" idx="2"/>
          </p:nvPr>
        </p:nvSpPr>
        <p:spPr>
          <a:xfrm>
            <a:off x="7874851" y="1860793"/>
            <a:ext cx="3994639" cy="2491399"/>
          </a:xfrm>
          <a:custGeom>
            <a:avLst/>
            <a:gdLst>
              <a:gd name="connsiteX0" fmla="*/ 0 w 3994639"/>
              <a:gd name="connsiteY0" fmla="*/ 0 h 2491399"/>
              <a:gd name="connsiteX1" fmla="*/ 545934 w 3994639"/>
              <a:gd name="connsiteY1" fmla="*/ 0 h 2491399"/>
              <a:gd name="connsiteX2" fmla="*/ 1251654 w 3994639"/>
              <a:gd name="connsiteY2" fmla="*/ 0 h 2491399"/>
              <a:gd name="connsiteX3" fmla="*/ 1917427 w 3994639"/>
              <a:gd name="connsiteY3" fmla="*/ 0 h 2491399"/>
              <a:gd name="connsiteX4" fmla="*/ 2663093 w 3994639"/>
              <a:gd name="connsiteY4" fmla="*/ 0 h 2491399"/>
              <a:gd name="connsiteX5" fmla="*/ 3248973 w 3994639"/>
              <a:gd name="connsiteY5" fmla="*/ 0 h 2491399"/>
              <a:gd name="connsiteX6" fmla="*/ 3994639 w 3994639"/>
              <a:gd name="connsiteY6" fmla="*/ 0 h 2491399"/>
              <a:gd name="connsiteX7" fmla="*/ 3994639 w 3994639"/>
              <a:gd name="connsiteY7" fmla="*/ 573022 h 2491399"/>
              <a:gd name="connsiteX8" fmla="*/ 3994639 w 3994639"/>
              <a:gd name="connsiteY8" fmla="*/ 1146044 h 2491399"/>
              <a:gd name="connsiteX9" fmla="*/ 3994639 w 3994639"/>
              <a:gd name="connsiteY9" fmla="*/ 1768893 h 2491399"/>
              <a:gd name="connsiteX10" fmla="*/ 3994639 w 3994639"/>
              <a:gd name="connsiteY10" fmla="*/ 2491399 h 2491399"/>
              <a:gd name="connsiteX11" fmla="*/ 3408759 w 3994639"/>
              <a:gd name="connsiteY11" fmla="*/ 2491399 h 2491399"/>
              <a:gd name="connsiteX12" fmla="*/ 2822878 w 3994639"/>
              <a:gd name="connsiteY12" fmla="*/ 2491399 h 2491399"/>
              <a:gd name="connsiteX13" fmla="*/ 2157105 w 3994639"/>
              <a:gd name="connsiteY13" fmla="*/ 2491399 h 2491399"/>
              <a:gd name="connsiteX14" fmla="*/ 1411439 w 3994639"/>
              <a:gd name="connsiteY14" fmla="*/ 2491399 h 2491399"/>
              <a:gd name="connsiteX15" fmla="*/ 705720 w 3994639"/>
              <a:gd name="connsiteY15" fmla="*/ 2491399 h 2491399"/>
              <a:gd name="connsiteX16" fmla="*/ 0 w 3994639"/>
              <a:gd name="connsiteY16" fmla="*/ 2491399 h 2491399"/>
              <a:gd name="connsiteX17" fmla="*/ 0 w 3994639"/>
              <a:gd name="connsiteY17" fmla="*/ 1818721 h 2491399"/>
              <a:gd name="connsiteX18" fmla="*/ 0 w 3994639"/>
              <a:gd name="connsiteY18" fmla="*/ 1170958 h 2491399"/>
              <a:gd name="connsiteX19" fmla="*/ 0 w 3994639"/>
              <a:gd name="connsiteY19" fmla="*/ 573022 h 2491399"/>
              <a:gd name="connsiteX20" fmla="*/ 0 w 3994639"/>
              <a:gd name="connsiteY20" fmla="*/ 0 h 249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94639" h="2491399" fill="none" extrusionOk="0">
                <a:moveTo>
                  <a:pt x="0" y="0"/>
                </a:moveTo>
                <a:cubicBezTo>
                  <a:pt x="214301" y="14860"/>
                  <a:pt x="302136" y="10712"/>
                  <a:pt x="545934" y="0"/>
                </a:cubicBezTo>
                <a:cubicBezTo>
                  <a:pt x="789732" y="-10712"/>
                  <a:pt x="1061700" y="-22303"/>
                  <a:pt x="1251654" y="0"/>
                </a:cubicBezTo>
                <a:cubicBezTo>
                  <a:pt x="1441608" y="22303"/>
                  <a:pt x="1726770" y="31885"/>
                  <a:pt x="1917427" y="0"/>
                </a:cubicBezTo>
                <a:cubicBezTo>
                  <a:pt x="2108084" y="-31885"/>
                  <a:pt x="2473800" y="-31970"/>
                  <a:pt x="2663093" y="0"/>
                </a:cubicBezTo>
                <a:cubicBezTo>
                  <a:pt x="2852386" y="31970"/>
                  <a:pt x="3110429" y="28999"/>
                  <a:pt x="3248973" y="0"/>
                </a:cubicBezTo>
                <a:cubicBezTo>
                  <a:pt x="3387517" y="-28999"/>
                  <a:pt x="3627491" y="1999"/>
                  <a:pt x="3994639" y="0"/>
                </a:cubicBezTo>
                <a:cubicBezTo>
                  <a:pt x="3968497" y="233958"/>
                  <a:pt x="3999061" y="373416"/>
                  <a:pt x="3994639" y="573022"/>
                </a:cubicBezTo>
                <a:cubicBezTo>
                  <a:pt x="3990217" y="772628"/>
                  <a:pt x="3992136" y="999619"/>
                  <a:pt x="3994639" y="1146044"/>
                </a:cubicBezTo>
                <a:cubicBezTo>
                  <a:pt x="3997142" y="1292469"/>
                  <a:pt x="3982056" y="1631560"/>
                  <a:pt x="3994639" y="1768893"/>
                </a:cubicBezTo>
                <a:cubicBezTo>
                  <a:pt x="4007222" y="1906226"/>
                  <a:pt x="4010746" y="2188300"/>
                  <a:pt x="3994639" y="2491399"/>
                </a:cubicBezTo>
                <a:cubicBezTo>
                  <a:pt x="3845466" y="2467109"/>
                  <a:pt x="3548726" y="2474027"/>
                  <a:pt x="3408759" y="2491399"/>
                </a:cubicBezTo>
                <a:cubicBezTo>
                  <a:pt x="3268792" y="2508771"/>
                  <a:pt x="3092506" y="2503080"/>
                  <a:pt x="2822878" y="2491399"/>
                </a:cubicBezTo>
                <a:cubicBezTo>
                  <a:pt x="2553250" y="2479718"/>
                  <a:pt x="2485976" y="2486796"/>
                  <a:pt x="2157105" y="2491399"/>
                </a:cubicBezTo>
                <a:cubicBezTo>
                  <a:pt x="1828234" y="2496002"/>
                  <a:pt x="1606303" y="2490651"/>
                  <a:pt x="1411439" y="2491399"/>
                </a:cubicBezTo>
                <a:cubicBezTo>
                  <a:pt x="1216575" y="2492147"/>
                  <a:pt x="916495" y="2466789"/>
                  <a:pt x="705720" y="2491399"/>
                </a:cubicBezTo>
                <a:cubicBezTo>
                  <a:pt x="494945" y="2516009"/>
                  <a:pt x="204159" y="2474278"/>
                  <a:pt x="0" y="2491399"/>
                </a:cubicBezTo>
                <a:cubicBezTo>
                  <a:pt x="12929" y="2240089"/>
                  <a:pt x="14317" y="1977123"/>
                  <a:pt x="0" y="1818721"/>
                </a:cubicBezTo>
                <a:cubicBezTo>
                  <a:pt x="-14317" y="1660319"/>
                  <a:pt x="828" y="1306044"/>
                  <a:pt x="0" y="1170958"/>
                </a:cubicBezTo>
                <a:cubicBezTo>
                  <a:pt x="-828" y="1035872"/>
                  <a:pt x="-28815" y="828001"/>
                  <a:pt x="0" y="573022"/>
                </a:cubicBezTo>
                <a:cubicBezTo>
                  <a:pt x="28815" y="318043"/>
                  <a:pt x="14004" y="222243"/>
                  <a:pt x="0" y="0"/>
                </a:cubicBezTo>
                <a:close/>
              </a:path>
              <a:path w="3994639" h="2491399" stroke="0" extrusionOk="0">
                <a:moveTo>
                  <a:pt x="0" y="0"/>
                </a:moveTo>
                <a:cubicBezTo>
                  <a:pt x="157824" y="-16655"/>
                  <a:pt x="384518" y="-6565"/>
                  <a:pt x="545934" y="0"/>
                </a:cubicBezTo>
                <a:cubicBezTo>
                  <a:pt x="707350" y="6565"/>
                  <a:pt x="910571" y="156"/>
                  <a:pt x="1171761" y="0"/>
                </a:cubicBezTo>
                <a:cubicBezTo>
                  <a:pt x="1432951" y="-156"/>
                  <a:pt x="1709959" y="-6796"/>
                  <a:pt x="1917427" y="0"/>
                </a:cubicBezTo>
                <a:cubicBezTo>
                  <a:pt x="2124895" y="6796"/>
                  <a:pt x="2245849" y="-13757"/>
                  <a:pt x="2543253" y="0"/>
                </a:cubicBezTo>
                <a:cubicBezTo>
                  <a:pt x="2840657" y="13757"/>
                  <a:pt x="3065171" y="-10612"/>
                  <a:pt x="3288919" y="0"/>
                </a:cubicBezTo>
                <a:cubicBezTo>
                  <a:pt x="3512667" y="10612"/>
                  <a:pt x="3650010" y="-34999"/>
                  <a:pt x="3994639" y="0"/>
                </a:cubicBezTo>
                <a:cubicBezTo>
                  <a:pt x="3966308" y="168598"/>
                  <a:pt x="3979246" y="328307"/>
                  <a:pt x="3994639" y="622850"/>
                </a:cubicBezTo>
                <a:cubicBezTo>
                  <a:pt x="4010033" y="917393"/>
                  <a:pt x="3964027" y="1018887"/>
                  <a:pt x="3994639" y="1295527"/>
                </a:cubicBezTo>
                <a:cubicBezTo>
                  <a:pt x="4025251" y="1572167"/>
                  <a:pt x="4021032" y="1721083"/>
                  <a:pt x="3994639" y="1868549"/>
                </a:cubicBezTo>
                <a:cubicBezTo>
                  <a:pt x="3968246" y="2016015"/>
                  <a:pt x="3973031" y="2236078"/>
                  <a:pt x="3994639" y="2491399"/>
                </a:cubicBezTo>
                <a:cubicBezTo>
                  <a:pt x="3840025" y="2511297"/>
                  <a:pt x="3565652" y="2496772"/>
                  <a:pt x="3448705" y="2491399"/>
                </a:cubicBezTo>
                <a:cubicBezTo>
                  <a:pt x="3331758" y="2486026"/>
                  <a:pt x="2963813" y="2467501"/>
                  <a:pt x="2703039" y="2491399"/>
                </a:cubicBezTo>
                <a:cubicBezTo>
                  <a:pt x="2442265" y="2515297"/>
                  <a:pt x="2362404" y="2472306"/>
                  <a:pt x="2157105" y="2491399"/>
                </a:cubicBezTo>
                <a:cubicBezTo>
                  <a:pt x="1951806" y="2510492"/>
                  <a:pt x="1668659" y="2522613"/>
                  <a:pt x="1491332" y="2491399"/>
                </a:cubicBezTo>
                <a:cubicBezTo>
                  <a:pt x="1314005" y="2460185"/>
                  <a:pt x="1115183" y="2491518"/>
                  <a:pt x="825559" y="2491399"/>
                </a:cubicBezTo>
                <a:cubicBezTo>
                  <a:pt x="535935" y="2491280"/>
                  <a:pt x="217628" y="2469715"/>
                  <a:pt x="0" y="2491399"/>
                </a:cubicBezTo>
                <a:cubicBezTo>
                  <a:pt x="19688" y="2250561"/>
                  <a:pt x="-22921" y="2038208"/>
                  <a:pt x="0" y="1918377"/>
                </a:cubicBezTo>
                <a:cubicBezTo>
                  <a:pt x="22921" y="1798546"/>
                  <a:pt x="-10567" y="1457665"/>
                  <a:pt x="0" y="1320441"/>
                </a:cubicBezTo>
                <a:cubicBezTo>
                  <a:pt x="10567" y="1183217"/>
                  <a:pt x="26806" y="830556"/>
                  <a:pt x="0" y="647764"/>
                </a:cubicBezTo>
                <a:cubicBezTo>
                  <a:pt x="-26806" y="464972"/>
                  <a:pt x="1630" y="197185"/>
                  <a:pt x="0" y="0"/>
                </a:cubicBezTo>
                <a:close/>
              </a:path>
            </a:pathLst>
          </a:custGeom>
          <a:ln>
            <a:solidFill>
              <a:schemeClr val="tx1"/>
            </a:solidFill>
            <a:extLst>
              <a:ext uri="{C807C97D-BFC1-408E-A445-0C87EB9F89A2}">
                <ask:lineSketchStyleProps xmlns:ask="http://schemas.microsoft.com/office/drawing/2018/sketchyshapes" sd="3492299027">
                  <ask:type>
                    <ask:lineSketchFreehand/>
                  </ask:type>
                </ask:lineSketchStyleProps>
              </a:ext>
            </a:extLst>
          </a:ln>
        </p:spPr>
        <p:txBody>
          <a:bodyPr vert="horz" lIns="91440" tIns="45720" rIns="91440" bIns="45720" rtlCol="0">
            <a:normAutofit fontScale="70000" lnSpcReduction="20000"/>
          </a:bodyPr>
          <a:lstStyle/>
          <a:p>
            <a:r>
              <a:rPr lang="en-IN" sz="2400" dirty="0"/>
              <a:t>Advantages</a:t>
            </a:r>
          </a:p>
          <a:p>
            <a:pPr lvl="1"/>
            <a:r>
              <a:rPr lang="en-IN" sz="2000" dirty="0"/>
              <a:t>Uses exponentially fewer qubits  n=log2(N)</a:t>
            </a:r>
          </a:p>
          <a:p>
            <a:r>
              <a:rPr lang="en-IN" sz="2400" dirty="0"/>
              <a:t>Disadvantages</a:t>
            </a:r>
          </a:p>
          <a:p>
            <a:pPr lvl="1"/>
            <a:r>
              <a:rPr lang="en-IN" sz="2000" dirty="0"/>
              <a:t>Preparing this state is extremely difficult.</a:t>
            </a:r>
          </a:p>
          <a:p>
            <a:pPr lvl="1"/>
            <a:r>
              <a:rPr lang="en-IN" sz="2000" dirty="0"/>
              <a:t>Circuit depth is large.</a:t>
            </a:r>
          </a:p>
          <a:p>
            <a:pPr lvl="1"/>
            <a:r>
              <a:rPr lang="en-IN" sz="2000" dirty="0"/>
              <a:t>State preparation becomes expensive.</a:t>
            </a:r>
          </a:p>
          <a:p>
            <a:r>
              <a:rPr lang="en-IN" sz="2400" dirty="0"/>
              <a:t>Typical Applications</a:t>
            </a:r>
          </a:p>
          <a:p>
            <a:pPr lvl="1"/>
            <a:r>
              <a:rPr lang="en-IN" sz="2000" dirty="0"/>
              <a:t>Quantum PCA </a:t>
            </a:r>
          </a:p>
          <a:p>
            <a:pPr lvl="1"/>
            <a:r>
              <a:rPr lang="en-IN" sz="2000" dirty="0"/>
              <a:t>Quantum recommendation systems</a:t>
            </a:r>
          </a:p>
          <a:p>
            <a:pPr lvl="1"/>
            <a:r>
              <a:rPr lang="en-IN" sz="2000" dirty="0"/>
              <a:t>Quantum kernels</a:t>
            </a:r>
          </a:p>
        </p:txBody>
      </p:sp>
      <p:pic>
        <p:nvPicPr>
          <p:cNvPr id="9" name="Content Placeholder 8">
            <a:extLst>
              <a:ext uri="{FF2B5EF4-FFF2-40B4-BE49-F238E27FC236}">
                <a16:creationId xmlns:a16="http://schemas.microsoft.com/office/drawing/2014/main" id="{CFF6BCEC-1F1C-40AB-926A-AE65B8088411}"/>
              </a:ext>
            </a:extLst>
          </p:cNvPr>
          <p:cNvPicPr>
            <a:picLocks noGrp="1" noChangeAspect="1"/>
          </p:cNvPicPr>
          <p:nvPr>
            <p:ph sz="half" idx="1"/>
          </p:nvPr>
        </p:nvPicPr>
        <p:blipFill>
          <a:blip r:embed="rId2"/>
          <a:stretch>
            <a:fillRect/>
          </a:stretch>
        </p:blipFill>
        <p:spPr>
          <a:xfrm>
            <a:off x="249603" y="1232968"/>
            <a:ext cx="7625248" cy="4392064"/>
          </a:xfrm>
          <a:custGeom>
            <a:avLst/>
            <a:gdLst>
              <a:gd name="csX0" fmla="*/ 0 w 7625248"/>
              <a:gd name="csY0" fmla="*/ 0 h 4392064"/>
              <a:gd name="csX1" fmla="*/ 7625248 w 7625248"/>
              <a:gd name="csY1" fmla="*/ 0 h 4392064"/>
              <a:gd name="csX2" fmla="*/ 7625248 w 7625248"/>
              <a:gd name="csY2" fmla="*/ 4392064 h 4392064"/>
              <a:gd name="csX3" fmla="*/ 0 w 7625248"/>
              <a:gd name="csY3" fmla="*/ 4392064 h 4392064"/>
              <a:gd name="csX4" fmla="*/ 0 w 7625248"/>
              <a:gd name="csY4" fmla="*/ 0 h 4392064"/>
            </a:gdLst>
            <a:ahLst/>
            <a:cxnLst>
              <a:cxn ang="0">
                <a:pos x="csX0" y="csY0"/>
              </a:cxn>
              <a:cxn ang="0">
                <a:pos x="csX1" y="csY1"/>
              </a:cxn>
              <a:cxn ang="0">
                <a:pos x="csX2" y="csY2"/>
              </a:cxn>
              <a:cxn ang="0">
                <a:pos x="csX3" y="csY3"/>
              </a:cxn>
              <a:cxn ang="0">
                <a:pos x="csX4" y="csY4"/>
              </a:cxn>
            </a:cxnLst>
            <a:rect l="l" t="t" r="r" b="b"/>
            <a:pathLst>
              <a:path w="7625248" h="4392064" fill="none" extrusionOk="0">
                <a:moveTo>
                  <a:pt x="0" y="0"/>
                </a:moveTo>
                <a:cubicBezTo>
                  <a:pt x="1393290" y="1298"/>
                  <a:pt x="5424328" y="-42645"/>
                  <a:pt x="7625248" y="0"/>
                </a:cubicBezTo>
                <a:cubicBezTo>
                  <a:pt x="7785085" y="1663441"/>
                  <a:pt x="7486129" y="3652862"/>
                  <a:pt x="7625248" y="4392064"/>
                </a:cubicBezTo>
                <a:cubicBezTo>
                  <a:pt x="4786926" y="4363461"/>
                  <a:pt x="1867774" y="4299387"/>
                  <a:pt x="0" y="4392064"/>
                </a:cubicBezTo>
                <a:cubicBezTo>
                  <a:pt x="51652" y="3343863"/>
                  <a:pt x="-4798" y="642046"/>
                  <a:pt x="0" y="0"/>
                </a:cubicBezTo>
                <a:close/>
              </a:path>
              <a:path w="7625248" h="4392064" stroke="0" extrusionOk="0">
                <a:moveTo>
                  <a:pt x="0" y="0"/>
                </a:moveTo>
                <a:cubicBezTo>
                  <a:pt x="3423382" y="139834"/>
                  <a:pt x="5577378" y="161460"/>
                  <a:pt x="7625248" y="0"/>
                </a:cubicBezTo>
                <a:cubicBezTo>
                  <a:pt x="7554231" y="1185012"/>
                  <a:pt x="7582760" y="2744471"/>
                  <a:pt x="7625248" y="4392064"/>
                </a:cubicBezTo>
                <a:cubicBezTo>
                  <a:pt x="5121958" y="4513268"/>
                  <a:pt x="2434951" y="4283331"/>
                  <a:pt x="0" y="4392064"/>
                </a:cubicBezTo>
                <a:cubicBezTo>
                  <a:pt x="11934" y="2711756"/>
                  <a:pt x="30126" y="1953236"/>
                  <a:pt x="0" y="0"/>
                </a:cubicBezTo>
                <a:close/>
              </a:path>
            </a:pathLst>
          </a:custGeom>
          <a:ln>
            <a:solidFill>
              <a:schemeClr val="tx1"/>
            </a:solidFill>
            <a:extLst>
              <a:ext uri="{C807C97D-BFC1-408E-A445-0C87EB9F89A2}">
                <ask:lineSketchStyleProps xmlns:ask="http://schemas.microsoft.com/office/drawing/2018/sketchyshapes" sd="340507817">
                  <a:prstGeom prst="rect">
                    <a:avLst/>
                  </a:prstGeom>
                  <ask:type>
                    <ask:lineSketchCurved/>
                  </ask:type>
                </ask:lineSketchStyleProps>
              </a:ext>
            </a:extLst>
          </a:ln>
        </p:spPr>
      </p:pic>
    </p:spTree>
    <p:extLst>
      <p:ext uri="{BB962C8B-B14F-4D97-AF65-F5344CB8AC3E}">
        <p14:creationId xmlns:p14="http://schemas.microsoft.com/office/powerpoint/2010/main" val="444571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C7C0-1B33-495D-AC3B-03C6FE3D02FE}"/>
              </a:ext>
            </a:extLst>
          </p:cNvPr>
          <p:cNvSpPr>
            <a:spLocks noGrp="1"/>
          </p:cNvSpPr>
          <p:nvPr>
            <p:ph type="title"/>
          </p:nvPr>
        </p:nvSpPr>
        <p:spPr>
          <a:xfrm>
            <a:off x="838199" y="202223"/>
            <a:ext cx="10515600" cy="673006"/>
          </a:xfrm>
        </p:spPr>
        <p:txBody>
          <a:bodyPr>
            <a:normAutofit fontScale="90000"/>
          </a:bodyPr>
          <a:lstStyle/>
          <a:p>
            <a:r>
              <a:rPr lang="en-IN" dirty="0"/>
              <a:t>Phase Encoding</a:t>
            </a:r>
          </a:p>
        </p:txBody>
      </p:sp>
      <p:pic>
        <p:nvPicPr>
          <p:cNvPr id="6" name="Content Placeholder 5">
            <a:extLst>
              <a:ext uri="{FF2B5EF4-FFF2-40B4-BE49-F238E27FC236}">
                <a16:creationId xmlns:a16="http://schemas.microsoft.com/office/drawing/2014/main" id="{669C5594-60E8-461B-9326-E3D471A9E5B0}"/>
              </a:ext>
            </a:extLst>
          </p:cNvPr>
          <p:cNvPicPr>
            <a:picLocks noGrp="1" noChangeAspect="1"/>
          </p:cNvPicPr>
          <p:nvPr>
            <p:ph sz="half" idx="1"/>
          </p:nvPr>
        </p:nvPicPr>
        <p:blipFill>
          <a:blip r:embed="rId2"/>
          <a:stretch>
            <a:fillRect/>
          </a:stretch>
        </p:blipFill>
        <p:spPr>
          <a:xfrm>
            <a:off x="430823" y="873270"/>
            <a:ext cx="6893169" cy="5535826"/>
          </a:xfrm>
          <a:custGeom>
            <a:avLst/>
            <a:gdLst>
              <a:gd name="csX0" fmla="*/ 0 w 6893169"/>
              <a:gd name="csY0" fmla="*/ 0 h 5535826"/>
              <a:gd name="csX1" fmla="*/ 6893169 w 6893169"/>
              <a:gd name="csY1" fmla="*/ 0 h 5535826"/>
              <a:gd name="csX2" fmla="*/ 6893169 w 6893169"/>
              <a:gd name="csY2" fmla="*/ 5535826 h 5535826"/>
              <a:gd name="csX3" fmla="*/ 0 w 6893169"/>
              <a:gd name="csY3" fmla="*/ 5535826 h 5535826"/>
              <a:gd name="csX4" fmla="*/ 0 w 6893169"/>
              <a:gd name="csY4" fmla="*/ 0 h 5535826"/>
            </a:gdLst>
            <a:ahLst/>
            <a:cxnLst>
              <a:cxn ang="0">
                <a:pos x="csX0" y="csY0"/>
              </a:cxn>
              <a:cxn ang="0">
                <a:pos x="csX1" y="csY1"/>
              </a:cxn>
              <a:cxn ang="0">
                <a:pos x="csX2" y="csY2"/>
              </a:cxn>
              <a:cxn ang="0">
                <a:pos x="csX3" y="csY3"/>
              </a:cxn>
              <a:cxn ang="0">
                <a:pos x="csX4" y="csY4"/>
              </a:cxn>
            </a:cxnLst>
            <a:rect l="l" t="t" r="r" b="b"/>
            <a:pathLst>
              <a:path w="6893169" h="5535826" fill="none" extrusionOk="0">
                <a:moveTo>
                  <a:pt x="0" y="0"/>
                </a:moveTo>
                <a:cubicBezTo>
                  <a:pt x="3084037" y="1298"/>
                  <a:pt x="5213043" y="-42645"/>
                  <a:pt x="6893169" y="0"/>
                </a:cubicBezTo>
                <a:cubicBezTo>
                  <a:pt x="7053006" y="2420040"/>
                  <a:pt x="6754050" y="3788446"/>
                  <a:pt x="6893169" y="5535826"/>
                </a:cubicBezTo>
                <a:cubicBezTo>
                  <a:pt x="5200855" y="5507223"/>
                  <a:pt x="1778081" y="5443149"/>
                  <a:pt x="0" y="5535826"/>
                </a:cubicBezTo>
                <a:cubicBezTo>
                  <a:pt x="51652" y="2795830"/>
                  <a:pt x="-4798" y="2018841"/>
                  <a:pt x="0" y="0"/>
                </a:cubicBezTo>
                <a:close/>
              </a:path>
              <a:path w="6893169" h="5535826" stroke="0" extrusionOk="0">
                <a:moveTo>
                  <a:pt x="0" y="0"/>
                </a:moveTo>
                <a:cubicBezTo>
                  <a:pt x="1694458" y="139834"/>
                  <a:pt x="4309586" y="161460"/>
                  <a:pt x="6893169" y="0"/>
                </a:cubicBezTo>
                <a:cubicBezTo>
                  <a:pt x="6822152" y="2125919"/>
                  <a:pt x="6850681" y="3483537"/>
                  <a:pt x="6893169" y="5535826"/>
                </a:cubicBezTo>
                <a:cubicBezTo>
                  <a:pt x="4252297" y="5657030"/>
                  <a:pt x="1145178" y="5427093"/>
                  <a:pt x="0" y="5535826"/>
                </a:cubicBezTo>
                <a:cubicBezTo>
                  <a:pt x="11934" y="3246326"/>
                  <a:pt x="30126" y="1314478"/>
                  <a:pt x="0" y="0"/>
                </a:cubicBezTo>
                <a:close/>
              </a:path>
            </a:pathLst>
          </a:custGeom>
          <a:ln>
            <a:solidFill>
              <a:schemeClr val="tx1"/>
            </a:solidFill>
            <a:extLst>
              <a:ext uri="{C807C97D-BFC1-408E-A445-0C87EB9F89A2}">
                <ask:lineSketchStyleProps xmlns:ask="http://schemas.microsoft.com/office/drawing/2018/sketchyshapes" sd="340507817">
                  <a:prstGeom prst="rect">
                    <a:avLst/>
                  </a:prstGeom>
                  <ask:type>
                    <ask:lineSketchCurved/>
                  </ask:type>
                </ask:lineSketchStyleProps>
              </a:ext>
            </a:extLst>
          </a:ln>
        </p:spPr>
      </p:pic>
      <p:sp>
        <p:nvSpPr>
          <p:cNvPr id="4" name="Content Placeholder 3">
            <a:extLst>
              <a:ext uri="{FF2B5EF4-FFF2-40B4-BE49-F238E27FC236}">
                <a16:creationId xmlns:a16="http://schemas.microsoft.com/office/drawing/2014/main" id="{09967424-5361-439D-AA84-4DAA26C78BCF}"/>
              </a:ext>
            </a:extLst>
          </p:cNvPr>
          <p:cNvSpPr>
            <a:spLocks noGrp="1"/>
          </p:cNvSpPr>
          <p:nvPr>
            <p:ph sz="half" idx="2"/>
          </p:nvPr>
        </p:nvSpPr>
        <p:spPr>
          <a:xfrm>
            <a:off x="7631722" y="1825625"/>
            <a:ext cx="3722077" cy="3045313"/>
          </a:xfrm>
          <a:custGeom>
            <a:avLst/>
            <a:gdLst>
              <a:gd name="connsiteX0" fmla="*/ 0 w 3722077"/>
              <a:gd name="connsiteY0" fmla="*/ 0 h 3045313"/>
              <a:gd name="connsiteX1" fmla="*/ 583125 w 3722077"/>
              <a:gd name="connsiteY1" fmla="*/ 0 h 3045313"/>
              <a:gd name="connsiteX2" fmla="*/ 1166251 w 3722077"/>
              <a:gd name="connsiteY2" fmla="*/ 0 h 3045313"/>
              <a:gd name="connsiteX3" fmla="*/ 1786597 w 3722077"/>
              <a:gd name="connsiteY3" fmla="*/ 0 h 3045313"/>
              <a:gd name="connsiteX4" fmla="*/ 2444164 w 3722077"/>
              <a:gd name="connsiteY4" fmla="*/ 0 h 3045313"/>
              <a:gd name="connsiteX5" fmla="*/ 3027289 w 3722077"/>
              <a:gd name="connsiteY5" fmla="*/ 0 h 3045313"/>
              <a:gd name="connsiteX6" fmla="*/ 3722077 w 3722077"/>
              <a:gd name="connsiteY6" fmla="*/ 0 h 3045313"/>
              <a:gd name="connsiteX7" fmla="*/ 3722077 w 3722077"/>
              <a:gd name="connsiteY7" fmla="*/ 639516 h 3045313"/>
              <a:gd name="connsiteX8" fmla="*/ 3722077 w 3722077"/>
              <a:gd name="connsiteY8" fmla="*/ 1218125 h 3045313"/>
              <a:gd name="connsiteX9" fmla="*/ 3722077 w 3722077"/>
              <a:gd name="connsiteY9" fmla="*/ 1827188 h 3045313"/>
              <a:gd name="connsiteX10" fmla="*/ 3722077 w 3722077"/>
              <a:gd name="connsiteY10" fmla="*/ 2497157 h 3045313"/>
              <a:gd name="connsiteX11" fmla="*/ 3722077 w 3722077"/>
              <a:gd name="connsiteY11" fmla="*/ 3045313 h 3045313"/>
              <a:gd name="connsiteX12" fmla="*/ 3101731 w 3722077"/>
              <a:gd name="connsiteY12" fmla="*/ 3045313 h 3045313"/>
              <a:gd name="connsiteX13" fmla="*/ 2481385 w 3722077"/>
              <a:gd name="connsiteY13" fmla="*/ 3045313 h 3045313"/>
              <a:gd name="connsiteX14" fmla="*/ 1786597 w 3722077"/>
              <a:gd name="connsiteY14" fmla="*/ 3045313 h 3045313"/>
              <a:gd name="connsiteX15" fmla="*/ 1240692 w 3722077"/>
              <a:gd name="connsiteY15" fmla="*/ 3045313 h 3045313"/>
              <a:gd name="connsiteX16" fmla="*/ 732008 w 3722077"/>
              <a:gd name="connsiteY16" fmla="*/ 3045313 h 3045313"/>
              <a:gd name="connsiteX17" fmla="*/ 0 w 3722077"/>
              <a:gd name="connsiteY17" fmla="*/ 3045313 h 3045313"/>
              <a:gd name="connsiteX18" fmla="*/ 0 w 3722077"/>
              <a:gd name="connsiteY18" fmla="*/ 2436250 h 3045313"/>
              <a:gd name="connsiteX19" fmla="*/ 0 w 3722077"/>
              <a:gd name="connsiteY19" fmla="*/ 1888094 h 3045313"/>
              <a:gd name="connsiteX20" fmla="*/ 0 w 3722077"/>
              <a:gd name="connsiteY20" fmla="*/ 1248578 h 3045313"/>
              <a:gd name="connsiteX21" fmla="*/ 0 w 3722077"/>
              <a:gd name="connsiteY21" fmla="*/ 639516 h 3045313"/>
              <a:gd name="connsiteX22" fmla="*/ 0 w 3722077"/>
              <a:gd name="connsiteY22" fmla="*/ 0 h 304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722077" h="3045313" fill="none" extrusionOk="0">
                <a:moveTo>
                  <a:pt x="0" y="0"/>
                </a:moveTo>
                <a:cubicBezTo>
                  <a:pt x="262136" y="-18781"/>
                  <a:pt x="368263" y="-20678"/>
                  <a:pt x="583125" y="0"/>
                </a:cubicBezTo>
                <a:cubicBezTo>
                  <a:pt x="797987" y="20678"/>
                  <a:pt x="1032013" y="5215"/>
                  <a:pt x="1166251" y="0"/>
                </a:cubicBezTo>
                <a:cubicBezTo>
                  <a:pt x="1300489" y="-5215"/>
                  <a:pt x="1641145" y="-13335"/>
                  <a:pt x="1786597" y="0"/>
                </a:cubicBezTo>
                <a:cubicBezTo>
                  <a:pt x="1932049" y="13335"/>
                  <a:pt x="2138714" y="32018"/>
                  <a:pt x="2444164" y="0"/>
                </a:cubicBezTo>
                <a:cubicBezTo>
                  <a:pt x="2749614" y="-32018"/>
                  <a:pt x="2874892" y="-7661"/>
                  <a:pt x="3027289" y="0"/>
                </a:cubicBezTo>
                <a:cubicBezTo>
                  <a:pt x="3179686" y="7661"/>
                  <a:pt x="3409426" y="10585"/>
                  <a:pt x="3722077" y="0"/>
                </a:cubicBezTo>
                <a:cubicBezTo>
                  <a:pt x="3724242" y="264059"/>
                  <a:pt x="3697058" y="421638"/>
                  <a:pt x="3722077" y="639516"/>
                </a:cubicBezTo>
                <a:cubicBezTo>
                  <a:pt x="3747096" y="857394"/>
                  <a:pt x="3737338" y="1013928"/>
                  <a:pt x="3722077" y="1218125"/>
                </a:cubicBezTo>
                <a:cubicBezTo>
                  <a:pt x="3706816" y="1422322"/>
                  <a:pt x="3741110" y="1693059"/>
                  <a:pt x="3722077" y="1827188"/>
                </a:cubicBezTo>
                <a:cubicBezTo>
                  <a:pt x="3703044" y="1961317"/>
                  <a:pt x="3698788" y="2314142"/>
                  <a:pt x="3722077" y="2497157"/>
                </a:cubicBezTo>
                <a:cubicBezTo>
                  <a:pt x="3745366" y="2680172"/>
                  <a:pt x="3723580" y="2844759"/>
                  <a:pt x="3722077" y="3045313"/>
                </a:cubicBezTo>
                <a:cubicBezTo>
                  <a:pt x="3559293" y="3021233"/>
                  <a:pt x="3296539" y="3061745"/>
                  <a:pt x="3101731" y="3045313"/>
                </a:cubicBezTo>
                <a:cubicBezTo>
                  <a:pt x="2906923" y="3028881"/>
                  <a:pt x="2683948" y="3018678"/>
                  <a:pt x="2481385" y="3045313"/>
                </a:cubicBezTo>
                <a:cubicBezTo>
                  <a:pt x="2278822" y="3071948"/>
                  <a:pt x="1940524" y="3071957"/>
                  <a:pt x="1786597" y="3045313"/>
                </a:cubicBezTo>
                <a:cubicBezTo>
                  <a:pt x="1632670" y="3018669"/>
                  <a:pt x="1468031" y="3022461"/>
                  <a:pt x="1240692" y="3045313"/>
                </a:cubicBezTo>
                <a:cubicBezTo>
                  <a:pt x="1013353" y="3068165"/>
                  <a:pt x="863382" y="3057178"/>
                  <a:pt x="732008" y="3045313"/>
                </a:cubicBezTo>
                <a:cubicBezTo>
                  <a:pt x="600634" y="3033448"/>
                  <a:pt x="215668" y="3078293"/>
                  <a:pt x="0" y="3045313"/>
                </a:cubicBezTo>
                <a:cubicBezTo>
                  <a:pt x="139" y="2773946"/>
                  <a:pt x="4453" y="2624006"/>
                  <a:pt x="0" y="2436250"/>
                </a:cubicBezTo>
                <a:cubicBezTo>
                  <a:pt x="-4453" y="2248494"/>
                  <a:pt x="1088" y="2059119"/>
                  <a:pt x="0" y="1888094"/>
                </a:cubicBezTo>
                <a:cubicBezTo>
                  <a:pt x="-1088" y="1717069"/>
                  <a:pt x="6529" y="1528544"/>
                  <a:pt x="0" y="1248578"/>
                </a:cubicBezTo>
                <a:cubicBezTo>
                  <a:pt x="-6529" y="968612"/>
                  <a:pt x="23356" y="882979"/>
                  <a:pt x="0" y="639516"/>
                </a:cubicBezTo>
                <a:cubicBezTo>
                  <a:pt x="-23356" y="396053"/>
                  <a:pt x="18134" y="198784"/>
                  <a:pt x="0" y="0"/>
                </a:cubicBezTo>
                <a:close/>
              </a:path>
              <a:path w="3722077" h="3045313" stroke="0" extrusionOk="0">
                <a:moveTo>
                  <a:pt x="0" y="0"/>
                </a:moveTo>
                <a:cubicBezTo>
                  <a:pt x="102302" y="-15721"/>
                  <a:pt x="365867" y="23259"/>
                  <a:pt x="508684" y="0"/>
                </a:cubicBezTo>
                <a:cubicBezTo>
                  <a:pt x="651501" y="-23259"/>
                  <a:pt x="990754" y="889"/>
                  <a:pt x="1129030" y="0"/>
                </a:cubicBezTo>
                <a:cubicBezTo>
                  <a:pt x="1267306" y="-889"/>
                  <a:pt x="1485522" y="-14488"/>
                  <a:pt x="1749376" y="0"/>
                </a:cubicBezTo>
                <a:cubicBezTo>
                  <a:pt x="2013230" y="14488"/>
                  <a:pt x="2133199" y="24684"/>
                  <a:pt x="2295281" y="0"/>
                </a:cubicBezTo>
                <a:cubicBezTo>
                  <a:pt x="2457364" y="-24684"/>
                  <a:pt x="2596847" y="-3888"/>
                  <a:pt x="2841185" y="0"/>
                </a:cubicBezTo>
                <a:cubicBezTo>
                  <a:pt x="3085523" y="3888"/>
                  <a:pt x="3483076" y="19229"/>
                  <a:pt x="3722077" y="0"/>
                </a:cubicBezTo>
                <a:cubicBezTo>
                  <a:pt x="3697781" y="259814"/>
                  <a:pt x="3741595" y="350931"/>
                  <a:pt x="3722077" y="548156"/>
                </a:cubicBezTo>
                <a:cubicBezTo>
                  <a:pt x="3702559" y="745381"/>
                  <a:pt x="3727122" y="811010"/>
                  <a:pt x="3722077" y="1065860"/>
                </a:cubicBezTo>
                <a:cubicBezTo>
                  <a:pt x="3717032" y="1320710"/>
                  <a:pt x="3729615" y="1376514"/>
                  <a:pt x="3722077" y="1674922"/>
                </a:cubicBezTo>
                <a:cubicBezTo>
                  <a:pt x="3714539" y="1973330"/>
                  <a:pt x="3710595" y="1999513"/>
                  <a:pt x="3722077" y="2314438"/>
                </a:cubicBezTo>
                <a:cubicBezTo>
                  <a:pt x="3733559" y="2629363"/>
                  <a:pt x="3696905" y="2892236"/>
                  <a:pt x="3722077" y="3045313"/>
                </a:cubicBezTo>
                <a:cubicBezTo>
                  <a:pt x="3451756" y="3050518"/>
                  <a:pt x="3361638" y="3048151"/>
                  <a:pt x="3138952" y="3045313"/>
                </a:cubicBezTo>
                <a:cubicBezTo>
                  <a:pt x="2916266" y="3042475"/>
                  <a:pt x="2731423" y="3040929"/>
                  <a:pt x="2555826" y="3045313"/>
                </a:cubicBezTo>
                <a:cubicBezTo>
                  <a:pt x="2380229" y="3049697"/>
                  <a:pt x="2219053" y="3042869"/>
                  <a:pt x="2009922" y="3045313"/>
                </a:cubicBezTo>
                <a:cubicBezTo>
                  <a:pt x="1800791" y="3047757"/>
                  <a:pt x="1577467" y="3033117"/>
                  <a:pt x="1464017" y="3045313"/>
                </a:cubicBezTo>
                <a:cubicBezTo>
                  <a:pt x="1350567" y="3057509"/>
                  <a:pt x="1047391" y="3029981"/>
                  <a:pt x="806450" y="3045313"/>
                </a:cubicBezTo>
                <a:cubicBezTo>
                  <a:pt x="565509" y="3060645"/>
                  <a:pt x="294877" y="3057340"/>
                  <a:pt x="0" y="3045313"/>
                </a:cubicBezTo>
                <a:cubicBezTo>
                  <a:pt x="13136" y="2745640"/>
                  <a:pt x="-22701" y="2611339"/>
                  <a:pt x="0" y="2405797"/>
                </a:cubicBezTo>
                <a:cubicBezTo>
                  <a:pt x="22701" y="2200255"/>
                  <a:pt x="5926" y="2039016"/>
                  <a:pt x="0" y="1857641"/>
                </a:cubicBezTo>
                <a:cubicBezTo>
                  <a:pt x="-5926" y="1676266"/>
                  <a:pt x="-2029" y="1511300"/>
                  <a:pt x="0" y="1248578"/>
                </a:cubicBezTo>
                <a:cubicBezTo>
                  <a:pt x="2029" y="985856"/>
                  <a:pt x="7154" y="891218"/>
                  <a:pt x="0" y="669969"/>
                </a:cubicBezTo>
                <a:cubicBezTo>
                  <a:pt x="-7154" y="448720"/>
                  <a:pt x="-24372" y="290499"/>
                  <a:pt x="0" y="0"/>
                </a:cubicBezTo>
                <a:close/>
              </a:path>
            </a:pathLst>
          </a:custGeom>
          <a:ln>
            <a:solidFill>
              <a:schemeClr val="tx1"/>
            </a:solidFill>
            <a:extLst>
              <a:ext uri="{C807C97D-BFC1-408E-A445-0C87EB9F89A2}">
                <ask:lineSketchStyleProps xmlns:ask="http://schemas.microsoft.com/office/drawing/2018/sketchyshapes" sd="3267886291">
                  <ask:type>
                    <ask:lineSketchFreehand/>
                  </ask:type>
                </ask:lineSketchStyleProps>
              </a:ext>
            </a:extLst>
          </a:ln>
        </p:spPr>
        <p:txBody>
          <a:bodyPr>
            <a:normAutofit/>
          </a:bodyPr>
          <a:lstStyle/>
          <a:p>
            <a:r>
              <a:rPr lang="en-US" sz="2400" dirty="0"/>
              <a:t>Advantages</a:t>
            </a:r>
          </a:p>
          <a:p>
            <a:pPr lvl="1"/>
            <a:r>
              <a:rPr lang="en-US" sz="2000" dirty="0"/>
              <a:t>Small </a:t>
            </a:r>
            <a:r>
              <a:rPr lang="en-US" sz="2000" dirty="0" err="1"/>
              <a:t>circuitsGood</a:t>
            </a:r>
            <a:r>
              <a:rPr lang="en-US" sz="2000" dirty="0"/>
              <a:t> for interference-based algorithms</a:t>
            </a:r>
          </a:p>
          <a:p>
            <a:r>
              <a:rPr lang="en-US" sz="2400" dirty="0"/>
              <a:t>Disadvantages</a:t>
            </a:r>
          </a:p>
          <a:p>
            <a:pPr lvl="1"/>
            <a:r>
              <a:rPr lang="en-US" sz="2000" dirty="0"/>
              <a:t>Amplitude never changes.</a:t>
            </a:r>
          </a:p>
          <a:p>
            <a:pPr lvl="1"/>
            <a:r>
              <a:rPr lang="en-US" sz="2000" dirty="0"/>
              <a:t>Information is hidden in phase.</a:t>
            </a:r>
            <a:endParaRPr lang="en-IN" sz="2000" dirty="0"/>
          </a:p>
        </p:txBody>
      </p:sp>
    </p:spTree>
    <p:extLst>
      <p:ext uri="{BB962C8B-B14F-4D97-AF65-F5344CB8AC3E}">
        <p14:creationId xmlns:p14="http://schemas.microsoft.com/office/powerpoint/2010/main" val="4002135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1D466-8CAA-45C7-8FC9-3BE154CD1E09}"/>
              </a:ext>
            </a:extLst>
          </p:cNvPr>
          <p:cNvSpPr>
            <a:spLocks noGrp="1"/>
          </p:cNvSpPr>
          <p:nvPr>
            <p:ph type="title"/>
          </p:nvPr>
        </p:nvSpPr>
        <p:spPr/>
        <p:txBody>
          <a:bodyPr/>
          <a:lstStyle/>
          <a:p>
            <a:r>
              <a:rPr lang="en-IN" dirty="0"/>
              <a:t>Angle Encoding</a:t>
            </a:r>
          </a:p>
        </p:txBody>
      </p:sp>
      <p:pic>
        <p:nvPicPr>
          <p:cNvPr id="6" name="Content Placeholder 5">
            <a:extLst>
              <a:ext uri="{FF2B5EF4-FFF2-40B4-BE49-F238E27FC236}">
                <a16:creationId xmlns:a16="http://schemas.microsoft.com/office/drawing/2014/main" id="{3D755729-4960-4757-AE35-A0646627D821}"/>
              </a:ext>
            </a:extLst>
          </p:cNvPr>
          <p:cNvPicPr>
            <a:picLocks noGrp="1" noChangeAspect="1"/>
          </p:cNvPicPr>
          <p:nvPr>
            <p:ph sz="half" idx="1"/>
          </p:nvPr>
        </p:nvPicPr>
        <p:blipFill>
          <a:blip r:embed="rId2"/>
          <a:stretch>
            <a:fillRect/>
          </a:stretch>
        </p:blipFill>
        <p:spPr>
          <a:xfrm>
            <a:off x="501545" y="1690688"/>
            <a:ext cx="6318300" cy="3483474"/>
          </a:xfrm>
        </p:spPr>
      </p:pic>
      <p:sp>
        <p:nvSpPr>
          <p:cNvPr id="4" name="Content Placeholder 3">
            <a:extLst>
              <a:ext uri="{FF2B5EF4-FFF2-40B4-BE49-F238E27FC236}">
                <a16:creationId xmlns:a16="http://schemas.microsoft.com/office/drawing/2014/main" id="{D33B2115-F086-4DB9-9C6D-A8AFFD6082F5}"/>
              </a:ext>
            </a:extLst>
          </p:cNvPr>
          <p:cNvSpPr>
            <a:spLocks noGrp="1"/>
          </p:cNvSpPr>
          <p:nvPr>
            <p:ph sz="half" idx="2"/>
          </p:nvPr>
        </p:nvSpPr>
        <p:spPr>
          <a:xfrm>
            <a:off x="6717323" y="1690688"/>
            <a:ext cx="5181600" cy="2306760"/>
          </a:xfrm>
          <a:ln>
            <a:solidFill>
              <a:schemeClr val="tx1"/>
            </a:solidFill>
            <a:extLst>
              <a:ext uri="{C807C97D-BFC1-408E-A445-0C87EB9F89A2}">
                <ask:lineSketchStyleProps xmlns:ask="http://schemas.microsoft.com/office/drawing/2018/sketchyshapes">
                  <ask:type>
                    <ask:lineSketchFreehand/>
                  </ask:type>
                </ask:lineSketchStyleProps>
              </a:ext>
            </a:extLst>
          </a:ln>
        </p:spPr>
        <p:txBody>
          <a:bodyPr vert="horz" lIns="91440" tIns="45720" rIns="91440" bIns="45720" rtlCol="0">
            <a:normAutofit/>
          </a:bodyPr>
          <a:lstStyle/>
          <a:p>
            <a:r>
              <a:rPr lang="en-US" sz="2400" dirty="0"/>
              <a:t>Advantages</a:t>
            </a:r>
          </a:p>
          <a:p>
            <a:r>
              <a:rPr lang="en-US" sz="2400" dirty="0"/>
              <a:t>Simple </a:t>
            </a:r>
          </a:p>
          <a:p>
            <a:r>
              <a:rPr lang="en-US" sz="2400" dirty="0"/>
              <a:t>Efficient </a:t>
            </a:r>
          </a:p>
          <a:p>
            <a:r>
              <a:rPr lang="en-US" sz="2400" dirty="0"/>
              <a:t>Used by almost all VQC models</a:t>
            </a:r>
          </a:p>
        </p:txBody>
      </p:sp>
    </p:spTree>
    <p:extLst>
      <p:ext uri="{BB962C8B-B14F-4D97-AF65-F5344CB8AC3E}">
        <p14:creationId xmlns:p14="http://schemas.microsoft.com/office/powerpoint/2010/main" val="3779453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B72EA-F58C-41E3-B4EF-B2E675051028}"/>
              </a:ext>
            </a:extLst>
          </p:cNvPr>
          <p:cNvSpPr>
            <a:spLocks noGrp="1"/>
          </p:cNvSpPr>
          <p:nvPr>
            <p:ph type="title"/>
          </p:nvPr>
        </p:nvSpPr>
        <p:spPr/>
        <p:txBody>
          <a:bodyPr/>
          <a:lstStyle/>
          <a:p>
            <a:r>
              <a:rPr lang="en-IN" dirty="0"/>
              <a:t>Ansatz</a:t>
            </a:r>
          </a:p>
        </p:txBody>
      </p:sp>
      <p:sp>
        <p:nvSpPr>
          <p:cNvPr id="3" name="Content Placeholder 2">
            <a:extLst>
              <a:ext uri="{FF2B5EF4-FFF2-40B4-BE49-F238E27FC236}">
                <a16:creationId xmlns:a16="http://schemas.microsoft.com/office/drawing/2014/main" id="{D39CA7C6-AF11-41BE-A4F1-4CE39EEC6B37}"/>
              </a:ext>
            </a:extLst>
          </p:cNvPr>
          <p:cNvSpPr>
            <a:spLocks noGrp="1"/>
          </p:cNvSpPr>
          <p:nvPr>
            <p:ph idx="1"/>
          </p:nvPr>
        </p:nvSpPr>
        <p:spPr>
          <a:xfrm>
            <a:off x="961291" y="3128829"/>
            <a:ext cx="4463562" cy="3318980"/>
          </a:xfrm>
          <a:ln>
            <a:solidFill>
              <a:schemeClr val="tx1"/>
            </a:solidFill>
            <a:extLst>
              <a:ext uri="{C807C97D-BFC1-408E-A445-0C87EB9F89A2}">
                <ask:lineSketchStyleProps xmlns:ask="http://schemas.microsoft.com/office/drawing/2018/sketchyshapes">
                  <ask:type>
                    <ask:lineSketchFreehand/>
                  </ask:type>
                </ask:lineSketchStyleProps>
              </a:ext>
            </a:extLst>
          </a:ln>
        </p:spPr>
        <p:txBody>
          <a:bodyPr vert="horz" lIns="91440" tIns="45720" rIns="91440" bIns="45720" rtlCol="0">
            <a:normAutofit fontScale="92500" lnSpcReduction="10000"/>
          </a:bodyPr>
          <a:lstStyle/>
          <a:p>
            <a:r>
              <a:rPr lang="en-IN" sz="2400" dirty="0" err="1"/>
              <a:t>RealAmplitudes</a:t>
            </a:r>
            <a:endParaRPr lang="en-IN" sz="2400" dirty="0"/>
          </a:p>
          <a:p>
            <a:r>
              <a:rPr lang="en-IN" sz="2400" dirty="0"/>
              <a:t>EfficientSU2.</a:t>
            </a:r>
          </a:p>
          <a:p>
            <a:r>
              <a:rPr lang="en-IN" sz="2400" dirty="0" err="1"/>
              <a:t>TwoLocal</a:t>
            </a:r>
            <a:endParaRPr lang="en-IN" sz="2400" dirty="0"/>
          </a:p>
          <a:p>
            <a:r>
              <a:rPr lang="en-IN" sz="2400" dirty="0"/>
              <a:t>Hardware-Efficient Ansatz</a:t>
            </a:r>
          </a:p>
          <a:p>
            <a:r>
              <a:rPr lang="en-IN" sz="2400" dirty="0"/>
              <a:t>Strongly Entangling Layers</a:t>
            </a:r>
          </a:p>
          <a:p>
            <a:r>
              <a:rPr lang="en-IN" sz="2400" dirty="0"/>
              <a:t>Alternating Layered Ansatz</a:t>
            </a:r>
          </a:p>
          <a:p>
            <a:pPr>
              <a:lnSpc>
                <a:spcPct val="100000"/>
              </a:lnSpc>
            </a:pPr>
            <a:r>
              <a:rPr lang="en-IN" sz="2400" dirty="0"/>
              <a:t>Circular Entanglement Ansatz</a:t>
            </a:r>
          </a:p>
          <a:p>
            <a:pPr>
              <a:lnSpc>
                <a:spcPct val="100000"/>
              </a:lnSpc>
            </a:pPr>
            <a:r>
              <a:rPr lang="en-IN" sz="2400" dirty="0"/>
              <a:t>Full Entanglement Ansatz</a:t>
            </a:r>
          </a:p>
          <a:p>
            <a:endParaRPr lang="en-IN" sz="2400" dirty="0"/>
          </a:p>
        </p:txBody>
      </p:sp>
      <p:pic>
        <p:nvPicPr>
          <p:cNvPr id="4" name="Content Placeholder 4">
            <a:extLst>
              <a:ext uri="{FF2B5EF4-FFF2-40B4-BE49-F238E27FC236}">
                <a16:creationId xmlns:a16="http://schemas.microsoft.com/office/drawing/2014/main" id="{1F5ED49E-C450-4918-B575-76DC437353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992" y="229455"/>
            <a:ext cx="8077808" cy="2346691"/>
          </a:xfrm>
          <a:prstGeom prst="rect">
            <a:avLst/>
          </a:prstGeom>
        </p:spPr>
      </p:pic>
      <p:sp>
        <p:nvSpPr>
          <p:cNvPr id="5" name="Content Placeholder 2">
            <a:extLst>
              <a:ext uri="{FF2B5EF4-FFF2-40B4-BE49-F238E27FC236}">
                <a16:creationId xmlns:a16="http://schemas.microsoft.com/office/drawing/2014/main" id="{7C4CC2B6-41BE-408F-A9A3-580C9A019B17}"/>
              </a:ext>
            </a:extLst>
          </p:cNvPr>
          <p:cNvSpPr txBox="1">
            <a:spLocks/>
          </p:cNvSpPr>
          <p:nvPr/>
        </p:nvSpPr>
        <p:spPr>
          <a:xfrm>
            <a:off x="7085136" y="3340506"/>
            <a:ext cx="4758104" cy="3122503"/>
          </a:xfrm>
          <a:custGeom>
            <a:avLst/>
            <a:gdLst>
              <a:gd name="csX0" fmla="*/ 0 w 4758104"/>
              <a:gd name="csY0" fmla="*/ 0 h 3122503"/>
              <a:gd name="csX1" fmla="*/ 679729 w 4758104"/>
              <a:gd name="csY1" fmla="*/ 0 h 3122503"/>
              <a:gd name="csX2" fmla="*/ 1264296 w 4758104"/>
              <a:gd name="csY2" fmla="*/ 0 h 3122503"/>
              <a:gd name="csX3" fmla="*/ 1801282 w 4758104"/>
              <a:gd name="csY3" fmla="*/ 0 h 3122503"/>
              <a:gd name="csX4" fmla="*/ 2528592 w 4758104"/>
              <a:gd name="csY4" fmla="*/ 0 h 3122503"/>
              <a:gd name="csX5" fmla="*/ 3208322 w 4758104"/>
              <a:gd name="csY5" fmla="*/ 0 h 3122503"/>
              <a:gd name="csX6" fmla="*/ 3792889 w 4758104"/>
              <a:gd name="csY6" fmla="*/ 0 h 3122503"/>
              <a:gd name="csX7" fmla="*/ 4758104 w 4758104"/>
              <a:gd name="csY7" fmla="*/ 0 h 3122503"/>
              <a:gd name="csX8" fmla="*/ 4758104 w 4758104"/>
              <a:gd name="csY8" fmla="*/ 593276 h 3122503"/>
              <a:gd name="csX9" fmla="*/ 4758104 w 4758104"/>
              <a:gd name="csY9" fmla="*/ 1217776 h 3122503"/>
              <a:gd name="csX10" fmla="*/ 4758104 w 4758104"/>
              <a:gd name="csY10" fmla="*/ 1842277 h 3122503"/>
              <a:gd name="csX11" fmla="*/ 4758104 w 4758104"/>
              <a:gd name="csY11" fmla="*/ 2498002 h 3122503"/>
              <a:gd name="csX12" fmla="*/ 4758104 w 4758104"/>
              <a:gd name="csY12" fmla="*/ 3122503 h 3122503"/>
              <a:gd name="csX13" fmla="*/ 4030794 w 4758104"/>
              <a:gd name="csY13" fmla="*/ 3122503 h 3122503"/>
              <a:gd name="csX14" fmla="*/ 3446227 w 4758104"/>
              <a:gd name="csY14" fmla="*/ 3122503 h 3122503"/>
              <a:gd name="csX15" fmla="*/ 2671336 w 4758104"/>
              <a:gd name="csY15" fmla="*/ 3122503 h 3122503"/>
              <a:gd name="csX16" fmla="*/ 2134350 w 4758104"/>
              <a:gd name="csY16" fmla="*/ 3122503 h 3122503"/>
              <a:gd name="csX17" fmla="*/ 1597363 w 4758104"/>
              <a:gd name="csY17" fmla="*/ 3122503 h 3122503"/>
              <a:gd name="csX18" fmla="*/ 870053 w 4758104"/>
              <a:gd name="csY18" fmla="*/ 3122503 h 3122503"/>
              <a:gd name="csX19" fmla="*/ 0 w 4758104"/>
              <a:gd name="csY19" fmla="*/ 3122503 h 3122503"/>
              <a:gd name="csX20" fmla="*/ 0 w 4758104"/>
              <a:gd name="csY20" fmla="*/ 2466777 h 3122503"/>
              <a:gd name="csX21" fmla="*/ 0 w 4758104"/>
              <a:gd name="csY21" fmla="*/ 1842277 h 3122503"/>
              <a:gd name="csX22" fmla="*/ 0 w 4758104"/>
              <a:gd name="csY22" fmla="*/ 1280226 h 3122503"/>
              <a:gd name="csX23" fmla="*/ 0 w 4758104"/>
              <a:gd name="csY23" fmla="*/ 655726 h 3122503"/>
              <a:gd name="csX24" fmla="*/ 0 w 4758104"/>
              <a:gd name="csY24" fmla="*/ 0 h 31225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4758104" h="3122503" fill="none" extrusionOk="0">
                <a:moveTo>
                  <a:pt x="0" y="0"/>
                </a:moveTo>
                <a:cubicBezTo>
                  <a:pt x="195782" y="-16301"/>
                  <a:pt x="523120" y="-2285"/>
                  <a:pt x="679729" y="0"/>
                </a:cubicBezTo>
                <a:cubicBezTo>
                  <a:pt x="836338" y="2285"/>
                  <a:pt x="1122366" y="4818"/>
                  <a:pt x="1264296" y="0"/>
                </a:cubicBezTo>
                <a:cubicBezTo>
                  <a:pt x="1406226" y="-4818"/>
                  <a:pt x="1689314" y="20745"/>
                  <a:pt x="1801282" y="0"/>
                </a:cubicBezTo>
                <a:cubicBezTo>
                  <a:pt x="1913250" y="-20745"/>
                  <a:pt x="2289124" y="-22798"/>
                  <a:pt x="2528592" y="0"/>
                </a:cubicBezTo>
                <a:cubicBezTo>
                  <a:pt x="2768060" y="22798"/>
                  <a:pt x="3065660" y="-3252"/>
                  <a:pt x="3208322" y="0"/>
                </a:cubicBezTo>
                <a:cubicBezTo>
                  <a:pt x="3350984" y="3252"/>
                  <a:pt x="3661245" y="-17153"/>
                  <a:pt x="3792889" y="0"/>
                </a:cubicBezTo>
                <a:cubicBezTo>
                  <a:pt x="3924533" y="17153"/>
                  <a:pt x="4534359" y="-15018"/>
                  <a:pt x="4758104" y="0"/>
                </a:cubicBezTo>
                <a:cubicBezTo>
                  <a:pt x="4787324" y="226092"/>
                  <a:pt x="4750407" y="394492"/>
                  <a:pt x="4758104" y="593276"/>
                </a:cubicBezTo>
                <a:cubicBezTo>
                  <a:pt x="4765801" y="792060"/>
                  <a:pt x="4771852" y="1069954"/>
                  <a:pt x="4758104" y="1217776"/>
                </a:cubicBezTo>
                <a:cubicBezTo>
                  <a:pt x="4744356" y="1365598"/>
                  <a:pt x="4786659" y="1589251"/>
                  <a:pt x="4758104" y="1842277"/>
                </a:cubicBezTo>
                <a:cubicBezTo>
                  <a:pt x="4729549" y="2095303"/>
                  <a:pt x="4725342" y="2195631"/>
                  <a:pt x="4758104" y="2498002"/>
                </a:cubicBezTo>
                <a:cubicBezTo>
                  <a:pt x="4790866" y="2800373"/>
                  <a:pt x="4784310" y="2987666"/>
                  <a:pt x="4758104" y="3122503"/>
                </a:cubicBezTo>
                <a:cubicBezTo>
                  <a:pt x="4502354" y="3096450"/>
                  <a:pt x="4231260" y="3132349"/>
                  <a:pt x="4030794" y="3122503"/>
                </a:cubicBezTo>
                <a:cubicBezTo>
                  <a:pt x="3830328" y="3112658"/>
                  <a:pt x="3651006" y="3129064"/>
                  <a:pt x="3446227" y="3122503"/>
                </a:cubicBezTo>
                <a:cubicBezTo>
                  <a:pt x="3241448" y="3115942"/>
                  <a:pt x="2861064" y="3128901"/>
                  <a:pt x="2671336" y="3122503"/>
                </a:cubicBezTo>
                <a:cubicBezTo>
                  <a:pt x="2481608" y="3116105"/>
                  <a:pt x="2359087" y="3127300"/>
                  <a:pt x="2134350" y="3122503"/>
                </a:cubicBezTo>
                <a:cubicBezTo>
                  <a:pt x="1909613" y="3117706"/>
                  <a:pt x="1779401" y="3144247"/>
                  <a:pt x="1597363" y="3122503"/>
                </a:cubicBezTo>
                <a:cubicBezTo>
                  <a:pt x="1415325" y="3100759"/>
                  <a:pt x="1065765" y="3087559"/>
                  <a:pt x="870053" y="3122503"/>
                </a:cubicBezTo>
                <a:cubicBezTo>
                  <a:pt x="674341" y="3157448"/>
                  <a:pt x="354485" y="3138058"/>
                  <a:pt x="0" y="3122503"/>
                </a:cubicBezTo>
                <a:cubicBezTo>
                  <a:pt x="5821" y="2980264"/>
                  <a:pt x="-17372" y="2648556"/>
                  <a:pt x="0" y="2466777"/>
                </a:cubicBezTo>
                <a:cubicBezTo>
                  <a:pt x="17372" y="2284998"/>
                  <a:pt x="-6800" y="2079845"/>
                  <a:pt x="0" y="1842277"/>
                </a:cubicBezTo>
                <a:cubicBezTo>
                  <a:pt x="6800" y="1604709"/>
                  <a:pt x="-3405" y="1437670"/>
                  <a:pt x="0" y="1280226"/>
                </a:cubicBezTo>
                <a:cubicBezTo>
                  <a:pt x="3405" y="1122782"/>
                  <a:pt x="-16027" y="872486"/>
                  <a:pt x="0" y="655726"/>
                </a:cubicBezTo>
                <a:cubicBezTo>
                  <a:pt x="16027" y="438966"/>
                  <a:pt x="26246" y="153442"/>
                  <a:pt x="0" y="0"/>
                </a:cubicBezTo>
                <a:close/>
              </a:path>
              <a:path w="4758104" h="3122503" stroke="0" extrusionOk="0">
                <a:moveTo>
                  <a:pt x="0" y="0"/>
                </a:moveTo>
                <a:cubicBezTo>
                  <a:pt x="196518" y="-33936"/>
                  <a:pt x="467779" y="-8767"/>
                  <a:pt x="679729" y="0"/>
                </a:cubicBezTo>
                <a:cubicBezTo>
                  <a:pt x="891679" y="8767"/>
                  <a:pt x="1135066" y="32149"/>
                  <a:pt x="1407039" y="0"/>
                </a:cubicBezTo>
                <a:cubicBezTo>
                  <a:pt x="1679012" y="-32149"/>
                  <a:pt x="1964279" y="-15806"/>
                  <a:pt x="2134350" y="0"/>
                </a:cubicBezTo>
                <a:cubicBezTo>
                  <a:pt x="2304421" y="15806"/>
                  <a:pt x="2568406" y="24558"/>
                  <a:pt x="2814079" y="0"/>
                </a:cubicBezTo>
                <a:cubicBezTo>
                  <a:pt x="3059752" y="-24558"/>
                  <a:pt x="3203440" y="-19282"/>
                  <a:pt x="3351065" y="0"/>
                </a:cubicBezTo>
                <a:cubicBezTo>
                  <a:pt x="3498690" y="19282"/>
                  <a:pt x="3766017" y="-19134"/>
                  <a:pt x="4078375" y="0"/>
                </a:cubicBezTo>
                <a:cubicBezTo>
                  <a:pt x="4390733" y="19134"/>
                  <a:pt x="4458063" y="-18778"/>
                  <a:pt x="4758104" y="0"/>
                </a:cubicBezTo>
                <a:cubicBezTo>
                  <a:pt x="4785261" y="228121"/>
                  <a:pt x="4737806" y="436568"/>
                  <a:pt x="4758104" y="593276"/>
                </a:cubicBezTo>
                <a:cubicBezTo>
                  <a:pt x="4778402" y="749984"/>
                  <a:pt x="4764965" y="957400"/>
                  <a:pt x="4758104" y="1155326"/>
                </a:cubicBezTo>
                <a:cubicBezTo>
                  <a:pt x="4751244" y="1353252"/>
                  <a:pt x="4758430" y="1473140"/>
                  <a:pt x="4758104" y="1717377"/>
                </a:cubicBezTo>
                <a:cubicBezTo>
                  <a:pt x="4757778" y="1961614"/>
                  <a:pt x="4751597" y="2201590"/>
                  <a:pt x="4758104" y="2373102"/>
                </a:cubicBezTo>
                <a:cubicBezTo>
                  <a:pt x="4764611" y="2544614"/>
                  <a:pt x="4774194" y="2829388"/>
                  <a:pt x="4758104" y="3122503"/>
                </a:cubicBezTo>
                <a:cubicBezTo>
                  <a:pt x="4526534" y="3119832"/>
                  <a:pt x="4332883" y="3106841"/>
                  <a:pt x="4173537" y="3122503"/>
                </a:cubicBezTo>
                <a:cubicBezTo>
                  <a:pt x="4014191" y="3138165"/>
                  <a:pt x="3777864" y="3147504"/>
                  <a:pt x="3636551" y="3122503"/>
                </a:cubicBezTo>
                <a:cubicBezTo>
                  <a:pt x="3495238" y="3097502"/>
                  <a:pt x="3337279" y="3126412"/>
                  <a:pt x="3099565" y="3122503"/>
                </a:cubicBezTo>
                <a:cubicBezTo>
                  <a:pt x="2861851" y="3118594"/>
                  <a:pt x="2570244" y="3100767"/>
                  <a:pt x="2419836" y="3122503"/>
                </a:cubicBezTo>
                <a:cubicBezTo>
                  <a:pt x="2269428" y="3144239"/>
                  <a:pt x="1895645" y="3090627"/>
                  <a:pt x="1644945" y="3122503"/>
                </a:cubicBezTo>
                <a:cubicBezTo>
                  <a:pt x="1394245" y="3154379"/>
                  <a:pt x="1104733" y="3137694"/>
                  <a:pt x="870053" y="3122503"/>
                </a:cubicBezTo>
                <a:cubicBezTo>
                  <a:pt x="635373" y="3107312"/>
                  <a:pt x="256590" y="3094045"/>
                  <a:pt x="0" y="3122503"/>
                </a:cubicBezTo>
                <a:cubicBezTo>
                  <a:pt x="-28963" y="2955760"/>
                  <a:pt x="20399" y="2615888"/>
                  <a:pt x="0" y="2466777"/>
                </a:cubicBezTo>
                <a:cubicBezTo>
                  <a:pt x="-20399" y="2317666"/>
                  <a:pt x="-25962" y="1955471"/>
                  <a:pt x="0" y="1811052"/>
                </a:cubicBezTo>
                <a:cubicBezTo>
                  <a:pt x="25962" y="1666634"/>
                  <a:pt x="-3016" y="1497480"/>
                  <a:pt x="0" y="1186551"/>
                </a:cubicBezTo>
                <a:cubicBezTo>
                  <a:pt x="3016" y="875622"/>
                  <a:pt x="-42057" y="530110"/>
                  <a:pt x="0" y="0"/>
                </a:cubicBezTo>
                <a:close/>
              </a:path>
            </a:pathLst>
          </a:custGeom>
          <a:ln>
            <a:solidFill>
              <a:schemeClr val="tx1"/>
            </a:solidFill>
            <a:extLst>
              <a:ext uri="{C807C97D-BFC1-408E-A445-0C87EB9F89A2}">
                <ask:lineSketchStyleProps xmlns:ask="http://schemas.microsoft.com/office/drawing/2018/sketchyshapes" sd="764839341">
                  <a:prstGeom prst="rect">
                    <a:avLst/>
                  </a:prstGeom>
                  <ask:type>
                    <ask:lineSketchFreehand/>
                  </ask:type>
                </ask:lineSketchStyleProps>
              </a:ext>
            </a:extLst>
          </a:ln>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400"/>
            </a:lvl1pPr>
            <a:lvl2pPr marL="685800" lvl="1" indent="-228600">
              <a:lnSpc>
                <a:spcPct val="90000"/>
              </a:lnSpc>
              <a:spcBef>
                <a:spcPts val="500"/>
              </a:spcBef>
              <a:buFont typeface="Arial" panose="020B0604020202020204" pitchFamily="34" charset="0"/>
              <a:buChar char="•"/>
              <a:defRPr sz="20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IN" dirty="0"/>
              <a:t>Ry-CNOT Ansatz</a:t>
            </a:r>
          </a:p>
          <a:p>
            <a:r>
              <a:rPr lang="en-IN" dirty="0"/>
              <a:t>Ry-CZ Ansatz</a:t>
            </a:r>
          </a:p>
          <a:p>
            <a:r>
              <a:rPr lang="en-IN" dirty="0"/>
              <a:t>Rx-Rz Ansatz</a:t>
            </a:r>
          </a:p>
          <a:p>
            <a:r>
              <a:rPr lang="en-IN" dirty="0"/>
              <a:t>Ry-Rz Ansatz</a:t>
            </a:r>
          </a:p>
          <a:p>
            <a:r>
              <a:rPr lang="en-IN" dirty="0"/>
              <a:t>Rx-Ry-Rz Ansatz</a:t>
            </a:r>
          </a:p>
          <a:p>
            <a:r>
              <a:rPr lang="en-IN" dirty="0"/>
              <a:t>Tree Entanglement Ansatz</a:t>
            </a:r>
          </a:p>
        </p:txBody>
      </p:sp>
    </p:spTree>
    <p:extLst>
      <p:ext uri="{BB962C8B-B14F-4D97-AF65-F5344CB8AC3E}">
        <p14:creationId xmlns:p14="http://schemas.microsoft.com/office/powerpoint/2010/main" val="346184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8D7B68-DAB2-7F0A-71A0-627D7B0658B2}"/>
              </a:ext>
            </a:extLst>
          </p:cNvPr>
          <p:cNvSpPr>
            <a:spLocks noGrp="1"/>
          </p:cNvSpPr>
          <p:nvPr>
            <p:ph type="title"/>
          </p:nvPr>
        </p:nvSpPr>
        <p:spPr>
          <a:xfrm>
            <a:off x="714375" y="2565400"/>
            <a:ext cx="10515600" cy="1325563"/>
          </a:xfrm>
        </p:spPr>
        <p:txBody>
          <a:bodyPr/>
          <a:lstStyle/>
          <a:p>
            <a:r>
              <a:rPr lang="en-US"/>
              <a:t>Thank you !!</a:t>
            </a:r>
            <a:endParaRPr lang="en-IN"/>
          </a:p>
        </p:txBody>
      </p:sp>
      <p:sp>
        <p:nvSpPr>
          <p:cNvPr id="4" name="Date Placeholder 3">
            <a:extLst>
              <a:ext uri="{FF2B5EF4-FFF2-40B4-BE49-F238E27FC236}">
                <a16:creationId xmlns:a16="http://schemas.microsoft.com/office/drawing/2014/main" id="{C43FC3E5-DBA4-3095-E2D3-318201666420}"/>
              </a:ext>
            </a:extLst>
          </p:cNvPr>
          <p:cNvSpPr>
            <a:spLocks noGrp="1"/>
          </p:cNvSpPr>
          <p:nvPr>
            <p:ph type="dt" sz="half" idx="10"/>
          </p:nvPr>
        </p:nvSpPr>
        <p:spPr/>
        <p:txBody>
          <a:bodyPr/>
          <a:lstStyle/>
          <a:p>
            <a:fld id="{D483FBC6-53EE-4DE5-A33F-3BD918AF4038}" type="datetime1">
              <a:rPr lang="en-IN" smtClean="0"/>
              <a:t>27-10-2026</a:t>
            </a:fld>
            <a:endParaRPr lang="en-IN"/>
          </a:p>
        </p:txBody>
      </p:sp>
      <p:sp>
        <p:nvSpPr>
          <p:cNvPr id="5" name="Slide Number Placeholder 4">
            <a:extLst>
              <a:ext uri="{FF2B5EF4-FFF2-40B4-BE49-F238E27FC236}">
                <a16:creationId xmlns:a16="http://schemas.microsoft.com/office/drawing/2014/main" id="{0C964486-9BB1-7BF0-0764-C49F2004DF6F}"/>
              </a:ext>
            </a:extLst>
          </p:cNvPr>
          <p:cNvSpPr>
            <a:spLocks noGrp="1"/>
          </p:cNvSpPr>
          <p:nvPr>
            <p:ph type="sldNum" sz="quarter" idx="12"/>
          </p:nvPr>
        </p:nvSpPr>
        <p:spPr/>
        <p:txBody>
          <a:bodyPr/>
          <a:lstStyle/>
          <a:p>
            <a:fld id="{6B099C0A-8617-4058-9F88-1F31CC4D8927}" type="slidenum">
              <a:rPr lang="en-IN" smtClean="0"/>
              <a:t>42</a:t>
            </a:fld>
            <a:endParaRPr lang="en-IN"/>
          </a:p>
        </p:txBody>
      </p:sp>
    </p:spTree>
    <p:extLst>
      <p:ext uri="{BB962C8B-B14F-4D97-AF65-F5344CB8AC3E}">
        <p14:creationId xmlns:p14="http://schemas.microsoft.com/office/powerpoint/2010/main" val="2500219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1982</Words>
  <Application>Microsoft Office PowerPoint</Application>
  <PresentationFormat>Widescreen</PresentationFormat>
  <Paragraphs>324</Paragraphs>
  <Slides>42</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42</vt:i4>
      </vt:variant>
    </vt:vector>
  </HeadingPairs>
  <TitlesOfParts>
    <vt:vector size="56" baseType="lpstr">
      <vt:lpstr>Arial</vt:lpstr>
      <vt:lpstr>Calibri</vt:lpstr>
      <vt:lpstr>Calibri Light</vt:lpstr>
      <vt:lpstr>Cambria Math</vt:lpstr>
      <vt:lpstr>CMMI10</vt:lpstr>
      <vt:lpstr>CMMI7</vt:lpstr>
      <vt:lpstr>CMSY10</vt:lpstr>
      <vt:lpstr>IBM Plex Sans Light</vt:lpstr>
      <vt:lpstr>Symbol</vt:lpstr>
      <vt:lpstr>Times New Roman</vt:lpstr>
      <vt:lpstr>xmetr</vt:lpstr>
      <vt:lpstr>xmets</vt:lpstr>
      <vt:lpstr>xmiiri</vt:lpstr>
      <vt:lpstr>Office Theme</vt:lpstr>
      <vt:lpstr>Quantum Legos –  Bits to Teleportation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Tensor Product</vt:lpstr>
      <vt:lpstr>PowerPoint Presentation</vt:lpstr>
      <vt:lpstr>Common Gates</vt:lpstr>
      <vt:lpstr>The CNOT Gate</vt:lpstr>
      <vt:lpstr>PowerPoint Presentation</vt:lpstr>
      <vt:lpstr>PowerPoint Presentation</vt:lpstr>
      <vt:lpstr>PowerPoint Presentation</vt:lpstr>
      <vt:lpstr>Quantum teleportation</vt:lpstr>
      <vt:lpstr>Quantum teleportation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Colab Notebook</vt:lpstr>
      <vt:lpstr>The Quantum Mechanics Visualisation Project</vt:lpstr>
      <vt:lpstr>Hybrid Classical–Quantum Loop</vt:lpstr>
      <vt:lpstr>QML Circuit</vt:lpstr>
      <vt:lpstr>Feature encoding approaches</vt:lpstr>
      <vt:lpstr>PowerPoint Presentation</vt:lpstr>
      <vt:lpstr>Amplitude Encoding</vt:lpstr>
      <vt:lpstr>Phase Encoding</vt:lpstr>
      <vt:lpstr>Angle Encoding</vt:lpstr>
      <vt:lpstr>Ansatz</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Bhavna Bose</dc:creator>
  <cp:lastModifiedBy>Bhavna Bose</cp:lastModifiedBy>
  <cp:revision>22</cp:revision>
  <dcterms:created xsi:type="dcterms:W3CDTF">2026-10-26T12:22:47Z</dcterms:created>
  <dcterms:modified xsi:type="dcterms:W3CDTF">2026-10-27T08:23:31Z</dcterms:modified>
</cp:coreProperties>
</file>